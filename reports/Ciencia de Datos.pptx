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10287000" cx="18288000"/>
  <p:notesSz cx="6858000" cy="9144000"/>
  <p:embeddedFontLst>
    <p:embeddedFont>
      <p:font typeface="Poppins"/>
      <p:regular r:id="rId42"/>
      <p:bold r:id="rId43"/>
      <p:italic r:id="rId44"/>
      <p:boldItalic r:id="rId45"/>
    </p:embeddedFont>
    <p:embeddedFont>
      <p:font typeface="Poppins SemiBold"/>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0" roundtripDataSignature="AMtx7mig0z15U6ykhEGP6IziO4mOUxLo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58B7EC8-99AB-4F0E-984D-B307BBA72E6C}">
  <a:tblStyle styleId="{C58B7EC8-99AB-4F0E-984D-B307BBA72E6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Poppins-regular.fntdata"/><Relationship Id="rId41" Type="http://schemas.openxmlformats.org/officeDocument/2006/relationships/slide" Target="slides/slide35.xml"/><Relationship Id="rId44" Type="http://schemas.openxmlformats.org/officeDocument/2006/relationships/font" Target="fonts/Poppins-italic.fntdata"/><Relationship Id="rId43" Type="http://schemas.openxmlformats.org/officeDocument/2006/relationships/font" Target="fonts/Poppins-bold.fntdata"/><Relationship Id="rId46" Type="http://schemas.openxmlformats.org/officeDocument/2006/relationships/font" Target="fonts/PoppinsSemiBold-regular.fntdata"/><Relationship Id="rId45" Type="http://schemas.openxmlformats.org/officeDocument/2006/relationships/font" Target="fonts/Poppi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oppinsSemiBold-italic.fntdata"/><Relationship Id="rId47" Type="http://schemas.openxmlformats.org/officeDocument/2006/relationships/font" Target="fonts/PoppinsSemiBold-bold.fntdata"/><Relationship Id="rId49" Type="http://schemas.openxmlformats.org/officeDocument/2006/relationships/font" Target="fonts/PoppinsSemiBold-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44c00b686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g3d44c00b686_0_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d44c00b68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g3d44c00b686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86ebc568c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386ebc568c0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86ebc568c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86ebc568c0_0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44c00b686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g3d44c00b686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44c00b686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g3d44c00b686_0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44c00b686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d44c00b686_0_1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d44c00b68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3d44c00b686_0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d44c00b686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3d44c00b686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d44c00b686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3d44c00b686_0_1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d44c00b686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3d44c00b686_0_2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d44c00b686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g3d44c00b686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86ebc568c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g386ebc568c0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d44c00b686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g3d44c00b686_0_1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86ebc568c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g386ebc568c0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86ebc568c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386ebc568c0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d44c00b6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g3d44c00b68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d24565a1a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g3d24565a1a3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d24565a1a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g3d24565a1a3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d24565a1a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g3d24565a1a3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da4ae630d1_5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da4ae630d1_5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da4ae630d1_5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da4ae630d1_5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da4ae630d1_5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da4ae630d1_5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d24565a1a3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g3d24565a1a3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d24565a1a3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g3d24565a1a3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d24565a1a3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g3d24565a1a3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d24565a1a3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d24565a1a3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da4ae630d1_5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da4ae630d1_5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7"/>
          <p:cNvSpPr/>
          <p:nvPr>
            <p:ph idx="2" type="pic"/>
          </p:nvPr>
        </p:nvSpPr>
        <p:spPr>
          <a:xfrm>
            <a:off x="1792288" y="612775"/>
            <a:ext cx="5486400" cy="4114800"/>
          </a:xfrm>
          <a:prstGeom prst="rect">
            <a:avLst/>
          </a:prstGeom>
          <a:noFill/>
          <a:ln>
            <a:noFill/>
          </a:ln>
        </p:spPr>
      </p:sp>
      <p:sp>
        <p:nvSpPr>
          <p:cNvPr id="64" name="Google Shape;64;p1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4.png"/><Relationship Id="rId5"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10.png"/><Relationship Id="rId5"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1.png"/><Relationship Id="rId5"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0.pn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6.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5.png"/><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062FF"/>
            </a:gs>
            <a:gs pos="100000">
              <a:srgbClr val="013388"/>
            </a:gs>
          </a:gsLst>
          <a:lin ang="0" scaled="0"/>
        </a:gradFill>
      </p:bgPr>
    </p:bg>
    <p:spTree>
      <p:nvGrpSpPr>
        <p:cNvPr id="83" name="Shape 83"/>
        <p:cNvGrpSpPr/>
        <p:nvPr/>
      </p:nvGrpSpPr>
      <p:grpSpPr>
        <a:xfrm>
          <a:off x="0" y="0"/>
          <a:ext cx="0" cy="0"/>
          <a:chOff x="0" y="0"/>
          <a:chExt cx="0" cy="0"/>
        </a:xfrm>
      </p:grpSpPr>
      <p:grpSp>
        <p:nvGrpSpPr>
          <p:cNvPr id="84" name="Google Shape;84;p1"/>
          <p:cNvGrpSpPr/>
          <p:nvPr/>
        </p:nvGrpSpPr>
        <p:grpSpPr>
          <a:xfrm rot="-5130093">
            <a:off x="-3383151" y="3714261"/>
            <a:ext cx="14697852" cy="14697852"/>
            <a:chOff x="0" y="0"/>
            <a:chExt cx="812800" cy="812800"/>
          </a:xfrm>
        </p:grpSpPr>
        <p:sp>
          <p:nvSpPr>
            <p:cNvPr id="85" name="Google Shape;85;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3062FF"/>
                </a:gs>
                <a:gs pos="100000">
                  <a:srgbClr val="01338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1"/>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997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7" name="Google Shape;87;p1"/>
          <p:cNvSpPr/>
          <p:nvPr/>
        </p:nvSpPr>
        <p:spPr>
          <a:xfrm>
            <a:off x="-191477" y="6439171"/>
            <a:ext cx="3928515" cy="3928515"/>
          </a:xfrm>
          <a:custGeom>
            <a:rect b="b" l="l" r="r" t="t"/>
            <a:pathLst>
              <a:path extrusionOk="0" h="3928515" w="3928515">
                <a:moveTo>
                  <a:pt x="0" y="0"/>
                </a:moveTo>
                <a:lnTo>
                  <a:pt x="3928515" y="0"/>
                </a:lnTo>
                <a:lnTo>
                  <a:pt x="3928515" y="3928515"/>
                </a:lnTo>
                <a:lnTo>
                  <a:pt x="0" y="3928515"/>
                </a:lnTo>
                <a:lnTo>
                  <a:pt x="0" y="0"/>
                </a:lnTo>
                <a:close/>
              </a:path>
            </a:pathLst>
          </a:custGeom>
          <a:blipFill rotWithShape="1">
            <a:blip r:embed="rId3">
              <a:alphaModFix amt="23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1"/>
          <p:cNvSpPr/>
          <p:nvPr/>
        </p:nvSpPr>
        <p:spPr>
          <a:xfrm rot="10800000">
            <a:off x="14393319" y="-53958"/>
            <a:ext cx="3928515" cy="3928515"/>
          </a:xfrm>
          <a:custGeom>
            <a:rect b="b" l="l" r="r" t="t"/>
            <a:pathLst>
              <a:path extrusionOk="0" h="3928515" w="3928515">
                <a:moveTo>
                  <a:pt x="3928515" y="3928515"/>
                </a:moveTo>
                <a:lnTo>
                  <a:pt x="0" y="3928515"/>
                </a:lnTo>
                <a:lnTo>
                  <a:pt x="0" y="0"/>
                </a:lnTo>
                <a:lnTo>
                  <a:pt x="3928515" y="0"/>
                </a:lnTo>
                <a:lnTo>
                  <a:pt x="3928515" y="3928515"/>
                </a:lnTo>
                <a:close/>
              </a:path>
            </a:pathLst>
          </a:custGeom>
          <a:blipFill rotWithShape="1">
            <a:blip r:embed="rId3">
              <a:alphaModFix amt="23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1"/>
          <p:cNvSpPr/>
          <p:nvPr/>
        </p:nvSpPr>
        <p:spPr>
          <a:xfrm>
            <a:off x="366974" y="550353"/>
            <a:ext cx="4193358" cy="956694"/>
          </a:xfrm>
          <a:custGeom>
            <a:rect b="b" l="l" r="r" t="t"/>
            <a:pathLst>
              <a:path extrusionOk="0" h="956694" w="4193358">
                <a:moveTo>
                  <a:pt x="0" y="0"/>
                </a:moveTo>
                <a:lnTo>
                  <a:pt x="4193358" y="0"/>
                </a:lnTo>
                <a:lnTo>
                  <a:pt x="4193358" y="956694"/>
                </a:lnTo>
                <a:lnTo>
                  <a:pt x="0" y="95669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1"/>
          <p:cNvSpPr txBox="1"/>
          <p:nvPr/>
        </p:nvSpPr>
        <p:spPr>
          <a:xfrm>
            <a:off x="7272536" y="2972110"/>
            <a:ext cx="9986700" cy="4313400"/>
          </a:xfrm>
          <a:prstGeom prst="rect">
            <a:avLst/>
          </a:prstGeom>
          <a:noFill/>
          <a:ln>
            <a:noFill/>
          </a:ln>
        </p:spPr>
        <p:txBody>
          <a:bodyPr anchorCtr="0" anchor="t" bIns="0" lIns="0" spcFirstLastPara="1" rIns="0" wrap="square" tIns="0">
            <a:spAutoFit/>
          </a:bodyPr>
          <a:lstStyle/>
          <a:p>
            <a:pPr indent="0" lvl="0" marL="0" marR="0" rtl="0" algn="r">
              <a:lnSpc>
                <a:spcPct val="108012"/>
              </a:lnSpc>
              <a:spcBef>
                <a:spcPts val="0"/>
              </a:spcBef>
              <a:spcAft>
                <a:spcPts val="0"/>
              </a:spcAft>
              <a:buNone/>
            </a:pPr>
            <a:r>
              <a:rPr b="1" lang="en-US" sz="5267">
                <a:solidFill>
                  <a:srgbClr val="F0EFEF"/>
                </a:solidFill>
                <a:latin typeface="Poppins SemiBold"/>
                <a:ea typeface="Poppins SemiBold"/>
                <a:cs typeface="Poppins SemiBold"/>
                <a:sym typeface="Poppins SemiBold"/>
              </a:rPr>
              <a:t>PREDICCIÓN DE LA CAPACIDAD DE APRENDIZAJE EN ADOLESCENTES EN MÉXICO</a:t>
            </a:r>
            <a:endParaRPr/>
          </a:p>
          <a:p>
            <a:pPr indent="0" lvl="0" marL="0" marR="0" rtl="0" algn="r">
              <a:lnSpc>
                <a:spcPct val="108012"/>
              </a:lnSpc>
              <a:spcBef>
                <a:spcPts val="0"/>
              </a:spcBef>
              <a:spcAft>
                <a:spcPts val="0"/>
              </a:spcAft>
              <a:buNone/>
            </a:pPr>
            <a:r>
              <a:t/>
            </a:r>
            <a:endParaRPr b="1" sz="5267">
              <a:solidFill>
                <a:srgbClr val="F0EFEF"/>
              </a:solidFill>
              <a:latin typeface="Poppins SemiBold"/>
              <a:ea typeface="Poppins SemiBold"/>
              <a:cs typeface="Poppins SemiBold"/>
              <a:sym typeface="Poppins SemiBold"/>
            </a:endParaRPr>
          </a:p>
          <a:p>
            <a:pPr indent="0" lvl="0" marL="0" marR="0" rtl="0" algn="r">
              <a:lnSpc>
                <a:spcPct val="108012"/>
              </a:lnSpc>
              <a:spcBef>
                <a:spcPts val="0"/>
              </a:spcBef>
              <a:spcAft>
                <a:spcPts val="0"/>
              </a:spcAft>
              <a:buNone/>
            </a:pPr>
            <a:r>
              <a:t/>
            </a:r>
            <a:endParaRPr b="1" sz="5267">
              <a:solidFill>
                <a:srgbClr val="F0EFEF"/>
              </a:solidFill>
              <a:latin typeface="Poppins SemiBold"/>
              <a:ea typeface="Poppins SemiBold"/>
              <a:cs typeface="Poppins SemiBold"/>
              <a:sym typeface="Poppins SemiBold"/>
            </a:endParaRPr>
          </a:p>
        </p:txBody>
      </p:sp>
      <p:sp>
        <p:nvSpPr>
          <p:cNvPr id="91" name="Google Shape;91;p1"/>
          <p:cNvSpPr/>
          <p:nvPr/>
        </p:nvSpPr>
        <p:spPr>
          <a:xfrm>
            <a:off x="2377415" y="4381771"/>
            <a:ext cx="4365836" cy="4114800"/>
          </a:xfrm>
          <a:custGeom>
            <a:rect b="b" l="l" r="r" t="t"/>
            <a:pathLst>
              <a:path extrusionOk="0" h="4114800" w="4365836">
                <a:moveTo>
                  <a:pt x="0" y="0"/>
                </a:moveTo>
                <a:lnTo>
                  <a:pt x="4365835" y="0"/>
                </a:lnTo>
                <a:lnTo>
                  <a:pt x="4365835" y="4114800"/>
                </a:lnTo>
                <a:lnTo>
                  <a:pt x="0" y="41148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1"/>
          <p:cNvSpPr txBox="1"/>
          <p:nvPr/>
        </p:nvSpPr>
        <p:spPr>
          <a:xfrm>
            <a:off x="8378780" y="5756600"/>
            <a:ext cx="8880600" cy="1820700"/>
          </a:xfrm>
          <a:prstGeom prst="rect">
            <a:avLst/>
          </a:prstGeom>
          <a:noFill/>
          <a:ln>
            <a:noFill/>
          </a:ln>
        </p:spPr>
        <p:txBody>
          <a:bodyPr anchorCtr="0" anchor="t" bIns="0" lIns="0" spcFirstLastPara="1" rIns="0" wrap="square" tIns="0">
            <a:spAutoFit/>
          </a:bodyPr>
          <a:lstStyle/>
          <a:p>
            <a:pPr indent="0" lvl="0" marL="0" marR="0" rtl="0" algn="r">
              <a:lnSpc>
                <a:spcPct val="124007"/>
              </a:lnSpc>
              <a:spcBef>
                <a:spcPts val="0"/>
              </a:spcBef>
              <a:spcAft>
                <a:spcPts val="0"/>
              </a:spcAft>
              <a:buNone/>
            </a:pPr>
            <a:r>
              <a:rPr lang="en-US" sz="3399">
                <a:solidFill>
                  <a:srgbClr val="F0EFEF"/>
                </a:solidFill>
                <a:latin typeface="Poppins"/>
                <a:ea typeface="Poppins"/>
                <a:cs typeface="Poppins"/>
                <a:sym typeface="Poppins"/>
              </a:rPr>
              <a:t>Modelo basado en factores ambientales y conductuales</a:t>
            </a:r>
            <a:endParaRPr/>
          </a:p>
          <a:p>
            <a:pPr indent="0" lvl="0" marL="0" marR="0" rtl="0" algn="ctr">
              <a:lnSpc>
                <a:spcPct val="124007"/>
              </a:lnSpc>
              <a:spcBef>
                <a:spcPts val="0"/>
              </a:spcBef>
              <a:spcAft>
                <a:spcPts val="0"/>
              </a:spcAft>
              <a:buNone/>
            </a:pPr>
            <a:r>
              <a:t/>
            </a:r>
            <a:endParaRPr sz="3399">
              <a:solidFill>
                <a:srgbClr val="F0EFE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nvSpPr>
        <p:spPr>
          <a:xfrm>
            <a:off x="840346" y="646414"/>
            <a:ext cx="9150900" cy="769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5000">
                <a:solidFill>
                  <a:srgbClr val="2758E6"/>
                </a:solidFill>
                <a:latin typeface="Poppins"/>
                <a:ea typeface="Poppins"/>
                <a:cs typeface="Poppins"/>
                <a:sym typeface="Poppins"/>
              </a:rPr>
              <a:t>PROBLEMA</a:t>
            </a:r>
            <a:endParaRPr b="1" sz="5000">
              <a:solidFill>
                <a:srgbClr val="2758E6"/>
              </a:solidFill>
              <a:latin typeface="Poppins"/>
              <a:ea typeface="Poppins"/>
              <a:cs typeface="Poppins"/>
              <a:sym typeface="Poppins"/>
            </a:endParaRPr>
          </a:p>
        </p:txBody>
      </p:sp>
      <p:sp>
        <p:nvSpPr>
          <p:cNvPr id="98" name="Google Shape;98;p2"/>
          <p:cNvSpPr txBox="1"/>
          <p:nvPr/>
        </p:nvSpPr>
        <p:spPr>
          <a:xfrm>
            <a:off x="840350" y="1738825"/>
            <a:ext cx="10615200" cy="7646100"/>
          </a:xfrm>
          <a:prstGeom prst="rect">
            <a:avLst/>
          </a:prstGeom>
          <a:noFill/>
          <a:ln>
            <a:noFill/>
          </a:ln>
        </p:spPr>
        <p:txBody>
          <a:bodyPr anchorCtr="0" anchor="t" bIns="0" lIns="0" spcFirstLastPara="1" rIns="0" wrap="square" tIns="0">
            <a:spAutoFit/>
          </a:bodyPr>
          <a:lstStyle/>
          <a:p>
            <a:pPr indent="0" lvl="0" marL="0" marR="0" rtl="0" algn="just">
              <a:lnSpc>
                <a:spcPct val="145000"/>
              </a:lnSpc>
              <a:spcBef>
                <a:spcPts val="0"/>
              </a:spcBef>
              <a:spcAft>
                <a:spcPts val="0"/>
              </a:spcAft>
              <a:buNone/>
            </a:pPr>
            <a:r>
              <a:rPr b="1" lang="en-US" sz="2500">
                <a:latin typeface="Poppins"/>
                <a:ea typeface="Poppins"/>
                <a:cs typeface="Poppins"/>
                <a:sym typeface="Poppins"/>
              </a:rPr>
              <a:t>DEFINICIÓN DEL PROBLEMA</a:t>
            </a:r>
            <a:endParaRPr b="1" sz="2500">
              <a:latin typeface="Poppins"/>
              <a:ea typeface="Poppins"/>
              <a:cs typeface="Poppins"/>
              <a:sym typeface="Poppins"/>
            </a:endParaRPr>
          </a:p>
          <a:p>
            <a:pPr indent="0" lvl="0" marL="0" rtl="0" algn="just">
              <a:lnSpc>
                <a:spcPct val="150000"/>
              </a:lnSpc>
              <a:spcBef>
                <a:spcPts val="0"/>
              </a:spcBef>
              <a:spcAft>
                <a:spcPts val="0"/>
              </a:spcAft>
              <a:buNone/>
            </a:pPr>
            <a:r>
              <a:rPr lang="en-US" sz="2200">
                <a:solidFill>
                  <a:schemeClr val="dk1"/>
                </a:solidFill>
                <a:latin typeface="Poppins"/>
                <a:ea typeface="Poppins"/>
                <a:cs typeface="Poppins"/>
                <a:sym typeface="Poppins"/>
              </a:rPr>
              <a:t>La falta de entendimiento de cómo las características ambientales y conductuales influyen en la capacidad de aprender y recordar información, dificulta y limita las posibles intervenciones futuras que se puedan diseñar desde el ámbito público, escolar y familiar, que contribuyan a mejorar el desarrollo académico y bienestar futuro de los adolescentes en México.</a:t>
            </a:r>
            <a:endParaRPr sz="2500">
              <a:latin typeface="Poppins"/>
              <a:ea typeface="Poppins"/>
              <a:cs typeface="Poppins"/>
              <a:sym typeface="Poppins"/>
            </a:endParaRPr>
          </a:p>
          <a:p>
            <a:pPr indent="0" lvl="0" marL="0" marR="0" rtl="0" algn="just">
              <a:lnSpc>
                <a:spcPct val="145000"/>
              </a:lnSpc>
              <a:spcBef>
                <a:spcPts val="0"/>
              </a:spcBef>
              <a:spcAft>
                <a:spcPts val="0"/>
              </a:spcAft>
              <a:buNone/>
            </a:pPr>
            <a:r>
              <a:t/>
            </a:r>
            <a:endParaRPr sz="2500">
              <a:latin typeface="Poppins"/>
              <a:ea typeface="Poppins"/>
              <a:cs typeface="Poppins"/>
              <a:sym typeface="Poppins"/>
            </a:endParaRPr>
          </a:p>
          <a:p>
            <a:pPr indent="0" lvl="0" marL="0" marR="0" rtl="0" algn="just">
              <a:lnSpc>
                <a:spcPct val="145000"/>
              </a:lnSpc>
              <a:spcBef>
                <a:spcPts val="0"/>
              </a:spcBef>
              <a:spcAft>
                <a:spcPts val="0"/>
              </a:spcAft>
              <a:buNone/>
            </a:pPr>
            <a:r>
              <a:rPr b="1" lang="en-US" sz="2500">
                <a:latin typeface="Poppins"/>
                <a:ea typeface="Poppins"/>
                <a:cs typeface="Poppins"/>
                <a:sym typeface="Poppins"/>
              </a:rPr>
              <a:t>OBJETIVO</a:t>
            </a:r>
            <a:endParaRPr b="1" sz="2500">
              <a:latin typeface="Poppins"/>
              <a:ea typeface="Poppins"/>
              <a:cs typeface="Poppins"/>
              <a:sym typeface="Poppins"/>
            </a:endParaRPr>
          </a:p>
          <a:p>
            <a:pPr indent="0" lvl="0" marL="0" rtl="0" algn="just">
              <a:lnSpc>
                <a:spcPct val="150000"/>
              </a:lnSpc>
              <a:spcBef>
                <a:spcPts val="0"/>
              </a:spcBef>
              <a:spcAft>
                <a:spcPts val="0"/>
              </a:spcAft>
              <a:buNone/>
            </a:pPr>
            <a:r>
              <a:rPr lang="en-US" sz="2200">
                <a:solidFill>
                  <a:schemeClr val="dk1"/>
                </a:solidFill>
                <a:latin typeface="Poppins"/>
                <a:ea typeface="Poppins"/>
                <a:cs typeface="Poppins"/>
                <a:sym typeface="Poppins"/>
              </a:rPr>
              <a:t>Desarrollar un modelo predictivo que estime la capacidad de aprender y recordar información en adolescentes de 10 a 17 años en México, a partir de características ambientales y conductuales, con el fin de identificar factores de riesgo y generar evidencia que apoye la toma de decisiones en educación, salud y políticas públicas.</a:t>
            </a:r>
            <a:endParaRPr sz="2200">
              <a:solidFill>
                <a:schemeClr val="dk1"/>
              </a:solidFill>
              <a:latin typeface="Poppins"/>
              <a:ea typeface="Poppins"/>
              <a:cs typeface="Poppins"/>
              <a:sym typeface="Poppins"/>
            </a:endParaRPr>
          </a:p>
          <a:p>
            <a:pPr indent="0" lvl="0" marL="457200" marR="0" rtl="0" algn="just">
              <a:lnSpc>
                <a:spcPct val="145000"/>
              </a:lnSpc>
              <a:spcBef>
                <a:spcPts val="0"/>
              </a:spcBef>
              <a:spcAft>
                <a:spcPts val="0"/>
              </a:spcAft>
              <a:buNone/>
            </a:pPr>
            <a:r>
              <a:t/>
            </a:r>
            <a:endParaRPr sz="2500">
              <a:latin typeface="Poppins"/>
              <a:ea typeface="Poppins"/>
              <a:cs typeface="Poppins"/>
              <a:sym typeface="Poppins"/>
            </a:endParaRPr>
          </a:p>
        </p:txBody>
      </p:sp>
      <p:grpSp>
        <p:nvGrpSpPr>
          <p:cNvPr id="99" name="Google Shape;99;p2"/>
          <p:cNvGrpSpPr/>
          <p:nvPr/>
        </p:nvGrpSpPr>
        <p:grpSpPr>
          <a:xfrm rot="4029767">
            <a:off x="11793107" y="-1069639"/>
            <a:ext cx="12346102" cy="12346102"/>
            <a:chOff x="0" y="0"/>
            <a:chExt cx="812800" cy="812800"/>
          </a:xfrm>
        </p:grpSpPr>
        <p:sp>
          <p:nvSpPr>
            <p:cNvPr id="100" name="Google Shape;100;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3062FF"/>
                </a:gs>
                <a:gs pos="100000">
                  <a:srgbClr val="01338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2"/>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997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2" name="Google Shape;102;p2"/>
          <p:cNvSpPr/>
          <p:nvPr/>
        </p:nvSpPr>
        <p:spPr>
          <a:xfrm>
            <a:off x="13241748" y="302272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d44c00b686_0_94"/>
          <p:cNvSpPr txBox="1"/>
          <p:nvPr/>
        </p:nvSpPr>
        <p:spPr>
          <a:xfrm>
            <a:off x="800100" y="1647800"/>
            <a:ext cx="16687800" cy="8926200"/>
          </a:xfrm>
          <a:prstGeom prst="rect">
            <a:avLst/>
          </a:prstGeom>
          <a:noFill/>
          <a:ln>
            <a:noFill/>
          </a:ln>
        </p:spPr>
        <p:txBody>
          <a:bodyPr anchorCtr="0" anchor="t" bIns="0" lIns="0" spcFirstLastPara="1" rIns="0" wrap="square" tIns="0">
            <a:spAutoFit/>
          </a:bodyPr>
          <a:lstStyle/>
          <a:p>
            <a:pPr indent="0" lvl="0" marL="0" marR="0" rtl="0" algn="just">
              <a:lnSpc>
                <a:spcPct val="145000"/>
              </a:lnSpc>
              <a:spcBef>
                <a:spcPts val="0"/>
              </a:spcBef>
              <a:spcAft>
                <a:spcPts val="0"/>
              </a:spcAft>
              <a:buNone/>
            </a:pPr>
            <a:r>
              <a:rPr b="1" lang="en-US" sz="2500">
                <a:latin typeface="Poppins"/>
                <a:ea typeface="Poppins"/>
                <a:cs typeface="Poppins"/>
                <a:sym typeface="Poppins"/>
              </a:rPr>
              <a:t>¿CADA CUÁNDO SE TOMA ACCIÓN / DECISIÓN?</a:t>
            </a:r>
            <a:endParaRPr b="1" sz="2500">
              <a:latin typeface="Poppins"/>
              <a:ea typeface="Poppins"/>
              <a:cs typeface="Poppins"/>
              <a:sym typeface="Poppins"/>
            </a:endParaRPr>
          </a:p>
          <a:p>
            <a:pPr indent="0" lvl="0" marL="0" rtl="0" algn="just">
              <a:lnSpc>
                <a:spcPct val="150000"/>
              </a:lnSpc>
              <a:spcBef>
                <a:spcPts val="0"/>
              </a:spcBef>
              <a:spcAft>
                <a:spcPts val="0"/>
              </a:spcAft>
              <a:buNone/>
            </a:pPr>
            <a:r>
              <a:rPr lang="en-US" sz="2100">
                <a:solidFill>
                  <a:schemeClr val="dk1"/>
                </a:solidFill>
                <a:latin typeface="Poppins"/>
                <a:ea typeface="Poppins"/>
                <a:cs typeface="Poppins"/>
                <a:sym typeface="Poppins"/>
              </a:rPr>
              <a:t>De manera anual, conforme se actualicen los datos de la ENSANUT o fuentes similares.</a:t>
            </a:r>
            <a:endParaRPr sz="2100">
              <a:latin typeface="Poppins"/>
              <a:ea typeface="Poppins"/>
              <a:cs typeface="Poppins"/>
              <a:sym typeface="Poppins"/>
            </a:endParaRPr>
          </a:p>
          <a:p>
            <a:pPr indent="0" lvl="0" marL="0" marR="0" rtl="0" algn="just">
              <a:lnSpc>
                <a:spcPct val="115000"/>
              </a:lnSpc>
              <a:spcBef>
                <a:spcPts val="0"/>
              </a:spcBef>
              <a:spcAft>
                <a:spcPts val="0"/>
              </a:spcAft>
              <a:buNone/>
            </a:pPr>
            <a:r>
              <a:t/>
            </a:r>
            <a:endParaRPr sz="2500">
              <a:latin typeface="Poppins"/>
              <a:ea typeface="Poppins"/>
              <a:cs typeface="Poppins"/>
              <a:sym typeface="Poppins"/>
            </a:endParaRPr>
          </a:p>
          <a:p>
            <a:pPr indent="0" lvl="0" marL="0" marR="0" rtl="0" algn="just">
              <a:lnSpc>
                <a:spcPct val="145000"/>
              </a:lnSpc>
              <a:spcBef>
                <a:spcPts val="0"/>
              </a:spcBef>
              <a:spcAft>
                <a:spcPts val="0"/>
              </a:spcAft>
              <a:buNone/>
            </a:pPr>
            <a:r>
              <a:rPr b="1" lang="en-US" sz="2500">
                <a:latin typeface="Poppins"/>
                <a:ea typeface="Poppins"/>
                <a:cs typeface="Poppins"/>
                <a:sym typeface="Poppins"/>
              </a:rPr>
              <a:t>¿QUIÉNES ESTÁN INCLUIDOS EN EL ANÁLISIS?</a:t>
            </a:r>
            <a:endParaRPr b="1" sz="2500">
              <a:latin typeface="Poppins"/>
              <a:ea typeface="Poppins"/>
              <a:cs typeface="Poppins"/>
              <a:sym typeface="Poppins"/>
            </a:endParaRPr>
          </a:p>
          <a:p>
            <a:pPr indent="0" lvl="0" marL="0" rtl="0" algn="just">
              <a:lnSpc>
                <a:spcPct val="150000"/>
              </a:lnSpc>
              <a:spcBef>
                <a:spcPts val="0"/>
              </a:spcBef>
              <a:spcAft>
                <a:spcPts val="0"/>
              </a:spcAft>
              <a:buNone/>
            </a:pPr>
            <a:r>
              <a:rPr lang="en-US" sz="2100">
                <a:solidFill>
                  <a:schemeClr val="dk1"/>
                </a:solidFill>
                <a:latin typeface="Poppins"/>
                <a:ea typeface="Poppins"/>
                <a:cs typeface="Poppins"/>
                <a:sym typeface="Poppins"/>
              </a:rPr>
              <a:t>A</a:t>
            </a:r>
            <a:r>
              <a:rPr lang="en-US" sz="2100">
                <a:solidFill>
                  <a:schemeClr val="dk1"/>
                </a:solidFill>
                <a:latin typeface="Poppins"/>
                <a:ea typeface="Poppins"/>
                <a:cs typeface="Poppins"/>
                <a:sym typeface="Poppins"/>
              </a:rPr>
              <a:t>dolescentes de 10 a 17 años que viven en México.</a:t>
            </a:r>
            <a:endParaRPr sz="2100">
              <a:solidFill>
                <a:schemeClr val="dk1"/>
              </a:solidFill>
              <a:latin typeface="Poppins"/>
              <a:ea typeface="Poppins"/>
              <a:cs typeface="Poppins"/>
              <a:sym typeface="Poppins"/>
            </a:endParaRPr>
          </a:p>
          <a:p>
            <a:pPr indent="0" lvl="0" marL="0" rtl="0" algn="just">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just">
              <a:lnSpc>
                <a:spcPct val="145000"/>
              </a:lnSpc>
              <a:spcBef>
                <a:spcPts val="0"/>
              </a:spcBef>
              <a:spcAft>
                <a:spcPts val="0"/>
              </a:spcAft>
              <a:buNone/>
            </a:pPr>
            <a:r>
              <a:rPr b="1" lang="en-US" sz="2500">
                <a:latin typeface="Poppins"/>
                <a:ea typeface="Poppins"/>
                <a:cs typeface="Poppins"/>
                <a:sym typeface="Poppins"/>
              </a:rPr>
              <a:t>¿CUÁL ES LA SALIDA? </a:t>
            </a:r>
            <a:r>
              <a:rPr lang="en-US" sz="2100">
                <a:latin typeface="Poppins"/>
                <a:ea typeface="Poppins"/>
                <a:cs typeface="Poppins"/>
                <a:sym typeface="Poppins"/>
              </a:rPr>
              <a:t>Score de riesgo (0–1)</a:t>
            </a:r>
            <a:endParaRPr sz="1800">
              <a:solidFill>
                <a:schemeClr val="dk1"/>
              </a:solidFill>
              <a:latin typeface="Poppins"/>
              <a:ea typeface="Poppins"/>
              <a:cs typeface="Poppins"/>
              <a:sym typeface="Poppins"/>
            </a:endParaRPr>
          </a:p>
          <a:p>
            <a:pPr indent="0" lvl="0" marL="1371600" marR="0" rtl="0" algn="just">
              <a:lnSpc>
                <a:spcPct val="115000"/>
              </a:lnSpc>
              <a:spcBef>
                <a:spcPts val="0"/>
              </a:spcBef>
              <a:spcAft>
                <a:spcPts val="0"/>
              </a:spcAft>
              <a:buNone/>
            </a:pPr>
            <a:r>
              <a:rPr lang="en-US" sz="2100">
                <a:solidFill>
                  <a:schemeClr val="dk1"/>
                </a:solidFill>
                <a:latin typeface="Poppins"/>
                <a:ea typeface="Poppins"/>
                <a:cs typeface="Poppins"/>
                <a:sym typeface="Poppins"/>
              </a:rPr>
              <a:t>0 → Sin dificultad</a:t>
            </a:r>
            <a:endParaRPr sz="2100">
              <a:solidFill>
                <a:schemeClr val="dk1"/>
              </a:solidFill>
              <a:latin typeface="Poppins"/>
              <a:ea typeface="Poppins"/>
              <a:cs typeface="Poppins"/>
              <a:sym typeface="Poppins"/>
            </a:endParaRPr>
          </a:p>
          <a:p>
            <a:pPr indent="0" lvl="0" marL="1371600" marR="0" rtl="0" algn="just">
              <a:lnSpc>
                <a:spcPct val="115000"/>
              </a:lnSpc>
              <a:spcBef>
                <a:spcPts val="0"/>
              </a:spcBef>
              <a:spcAft>
                <a:spcPts val="0"/>
              </a:spcAft>
              <a:buNone/>
            </a:pPr>
            <a:r>
              <a:rPr lang="en-US" sz="2100">
                <a:solidFill>
                  <a:schemeClr val="dk1"/>
                </a:solidFill>
                <a:latin typeface="Poppins"/>
                <a:ea typeface="Poppins"/>
                <a:cs typeface="Poppins"/>
                <a:sym typeface="Poppins"/>
              </a:rPr>
              <a:t>1 → Con dificultad</a:t>
            </a:r>
            <a:endParaRPr sz="2100">
              <a:solidFill>
                <a:schemeClr val="dk1"/>
              </a:solidFill>
              <a:latin typeface="Poppins"/>
              <a:ea typeface="Poppins"/>
              <a:cs typeface="Poppins"/>
              <a:sym typeface="Poppins"/>
            </a:endParaRPr>
          </a:p>
          <a:p>
            <a:pPr indent="0" lvl="0" marL="1371600" marR="0" rtl="0" algn="just">
              <a:lnSpc>
                <a:spcPct val="115000"/>
              </a:lnSpc>
              <a:spcBef>
                <a:spcPts val="0"/>
              </a:spcBef>
              <a:spcAft>
                <a:spcPts val="0"/>
              </a:spcAft>
              <a:buNone/>
            </a:pPr>
            <a:r>
              <a:t/>
            </a:r>
            <a:endParaRPr sz="2200">
              <a:solidFill>
                <a:schemeClr val="dk1"/>
              </a:solidFill>
              <a:latin typeface="Poppins"/>
              <a:ea typeface="Poppins"/>
              <a:cs typeface="Poppins"/>
              <a:sym typeface="Poppins"/>
            </a:endParaRPr>
          </a:p>
          <a:p>
            <a:pPr indent="0" lvl="0" marL="0" marR="0" rtl="0" algn="just">
              <a:lnSpc>
                <a:spcPct val="145000"/>
              </a:lnSpc>
              <a:spcBef>
                <a:spcPts val="0"/>
              </a:spcBef>
              <a:spcAft>
                <a:spcPts val="0"/>
              </a:spcAft>
              <a:buNone/>
            </a:pPr>
            <a:r>
              <a:rPr b="1" lang="en-US" sz="2500">
                <a:latin typeface="Poppins"/>
                <a:ea typeface="Poppins"/>
                <a:cs typeface="Poppins"/>
                <a:sym typeface="Poppins"/>
              </a:rPr>
              <a:t>¿QUÉ RESULTADO SE ESTÁ PREDICIENDO?</a:t>
            </a:r>
            <a:endParaRPr sz="2500">
              <a:latin typeface="Poppins"/>
              <a:ea typeface="Poppins"/>
              <a:cs typeface="Poppins"/>
              <a:sym typeface="Poppins"/>
            </a:endParaRPr>
          </a:p>
          <a:p>
            <a:pPr indent="0" lvl="0" marL="0" marR="0" rtl="0" algn="just">
              <a:lnSpc>
                <a:spcPct val="145000"/>
              </a:lnSpc>
              <a:spcBef>
                <a:spcPts val="0"/>
              </a:spcBef>
              <a:spcAft>
                <a:spcPts val="0"/>
              </a:spcAft>
              <a:buNone/>
            </a:pPr>
            <a:r>
              <a:rPr lang="en-US" sz="2100">
                <a:solidFill>
                  <a:schemeClr val="dk1"/>
                </a:solidFill>
                <a:latin typeface="Poppins"/>
                <a:ea typeface="Poppins"/>
                <a:cs typeface="Poppins"/>
                <a:sym typeface="Poppins"/>
              </a:rPr>
              <a:t>La presencia o ausencia de dificultad para aprender y recordar información, a partir de características ambientales, conductuales y de salud del adolescente.</a:t>
            </a:r>
            <a:endParaRPr sz="2100">
              <a:latin typeface="Poppins"/>
              <a:ea typeface="Poppins"/>
              <a:cs typeface="Poppins"/>
              <a:sym typeface="Poppins"/>
            </a:endParaRPr>
          </a:p>
          <a:p>
            <a:pPr indent="0" lvl="0" marL="0" marR="0" rtl="0" algn="just">
              <a:lnSpc>
                <a:spcPct val="115000"/>
              </a:lnSpc>
              <a:spcBef>
                <a:spcPts val="0"/>
              </a:spcBef>
              <a:spcAft>
                <a:spcPts val="0"/>
              </a:spcAft>
              <a:buNone/>
            </a:pPr>
            <a:r>
              <a:t/>
            </a:r>
            <a:endParaRPr sz="2500">
              <a:latin typeface="Poppins"/>
              <a:ea typeface="Poppins"/>
              <a:cs typeface="Poppins"/>
              <a:sym typeface="Poppins"/>
            </a:endParaRPr>
          </a:p>
          <a:p>
            <a:pPr indent="0" lvl="0" marL="0" marR="0" rtl="0" algn="just">
              <a:lnSpc>
                <a:spcPct val="145000"/>
              </a:lnSpc>
              <a:spcBef>
                <a:spcPts val="0"/>
              </a:spcBef>
              <a:spcAft>
                <a:spcPts val="0"/>
              </a:spcAft>
              <a:buNone/>
            </a:pPr>
            <a:r>
              <a:rPr b="1" lang="en-US" sz="2500">
                <a:latin typeface="Poppins"/>
                <a:ea typeface="Poppins"/>
                <a:cs typeface="Poppins"/>
                <a:sym typeface="Poppins"/>
              </a:rPr>
              <a:t>¿PARA QUÉ PROPÓSITO?</a:t>
            </a:r>
            <a:endParaRPr sz="2500">
              <a:latin typeface="Poppins"/>
              <a:ea typeface="Poppins"/>
              <a:cs typeface="Poppins"/>
              <a:sym typeface="Poppins"/>
            </a:endParaRPr>
          </a:p>
          <a:p>
            <a:pPr indent="-361950" lvl="0" marL="457200" rtl="0" algn="just">
              <a:lnSpc>
                <a:spcPct val="150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Diseñar intervenciones de salud preventiva (nutrición, sueño, consumo de sustancias).</a:t>
            </a:r>
            <a:endParaRPr sz="2100">
              <a:solidFill>
                <a:schemeClr val="dk1"/>
              </a:solidFill>
              <a:latin typeface="Poppins"/>
              <a:ea typeface="Poppins"/>
              <a:cs typeface="Poppins"/>
              <a:sym typeface="Poppins"/>
            </a:endParaRPr>
          </a:p>
          <a:p>
            <a:pPr indent="-361950" lvl="0" marL="457200" rtl="0" algn="just">
              <a:lnSpc>
                <a:spcPct val="150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Implementar programas de prevención de violencia en entornos con alto impacto cognitivo.</a:t>
            </a:r>
            <a:endParaRPr sz="2100">
              <a:solidFill>
                <a:schemeClr val="dk1"/>
              </a:solidFill>
              <a:latin typeface="Poppins"/>
              <a:ea typeface="Poppins"/>
              <a:cs typeface="Poppins"/>
              <a:sym typeface="Poppins"/>
            </a:endParaRPr>
          </a:p>
          <a:p>
            <a:pPr indent="-361950" lvl="0" marL="457200" rtl="0" algn="just">
              <a:lnSpc>
                <a:spcPct val="150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Priorizar recursos públicos en zonas con mayor vulnerabilidad cognitiva.</a:t>
            </a:r>
            <a:endParaRPr sz="2100">
              <a:solidFill>
                <a:schemeClr val="dk1"/>
              </a:solidFill>
              <a:latin typeface="Poppins"/>
              <a:ea typeface="Poppins"/>
              <a:cs typeface="Poppins"/>
              <a:sym typeface="Poppins"/>
            </a:endParaRPr>
          </a:p>
          <a:p>
            <a:pPr indent="0" lvl="0" marL="457200" marR="0" rtl="0" algn="just">
              <a:lnSpc>
                <a:spcPct val="145000"/>
              </a:lnSpc>
              <a:spcBef>
                <a:spcPts val="0"/>
              </a:spcBef>
              <a:spcAft>
                <a:spcPts val="0"/>
              </a:spcAft>
              <a:buNone/>
            </a:pPr>
            <a:r>
              <a:t/>
            </a:r>
            <a:endParaRPr sz="2500">
              <a:latin typeface="Poppins"/>
              <a:ea typeface="Poppins"/>
              <a:cs typeface="Poppins"/>
              <a:sym typeface="Poppins"/>
            </a:endParaRPr>
          </a:p>
        </p:txBody>
      </p:sp>
      <p:sp>
        <p:nvSpPr>
          <p:cNvPr id="108" name="Google Shape;108;g3d44c00b686_0_94"/>
          <p:cNvSpPr txBox="1"/>
          <p:nvPr/>
        </p:nvSpPr>
        <p:spPr>
          <a:xfrm>
            <a:off x="800103" y="457894"/>
            <a:ext cx="16687800" cy="769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5000">
                <a:solidFill>
                  <a:srgbClr val="2758E6"/>
                </a:solidFill>
                <a:latin typeface="Poppins"/>
                <a:ea typeface="Poppins"/>
                <a:cs typeface="Poppins"/>
                <a:sym typeface="Poppins"/>
              </a:rPr>
              <a:t>PROBLEMA - DETALLE</a:t>
            </a:r>
            <a:endParaRPr b="1" sz="5000">
              <a:solidFill>
                <a:srgbClr val="2758E6"/>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d44c00b686_0_41"/>
          <p:cNvSpPr/>
          <p:nvPr/>
        </p:nvSpPr>
        <p:spPr>
          <a:xfrm>
            <a:off x="-4727740" y="762000"/>
            <a:ext cx="9515405" cy="8968269"/>
          </a:xfrm>
          <a:custGeom>
            <a:rect b="b" l="l" r="r" t="t"/>
            <a:pathLst>
              <a:path extrusionOk="0" h="8968269" w="9515405">
                <a:moveTo>
                  <a:pt x="0" y="0"/>
                </a:moveTo>
                <a:lnTo>
                  <a:pt x="9515405" y="0"/>
                </a:lnTo>
                <a:lnTo>
                  <a:pt x="9515405" y="8968269"/>
                </a:lnTo>
                <a:lnTo>
                  <a:pt x="0" y="896826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14" name="Google Shape;114;g3d44c00b686_0_41"/>
          <p:cNvGrpSpPr/>
          <p:nvPr/>
        </p:nvGrpSpPr>
        <p:grpSpPr>
          <a:xfrm>
            <a:off x="5184379" y="1866880"/>
            <a:ext cx="12666757" cy="5885469"/>
            <a:chOff x="6370563" y="6062908"/>
            <a:chExt cx="12211276" cy="4477685"/>
          </a:xfrm>
        </p:grpSpPr>
        <p:sp>
          <p:nvSpPr>
            <p:cNvPr id="115" name="Google Shape;115;g3d44c00b686_0_41"/>
            <p:cNvSpPr/>
            <p:nvPr/>
          </p:nvSpPr>
          <p:spPr>
            <a:xfrm>
              <a:off x="6370563" y="6062908"/>
              <a:ext cx="12211276" cy="4477685"/>
            </a:xfrm>
            <a:custGeom>
              <a:rect b="b" l="l" r="r" t="t"/>
              <a:pathLst>
                <a:path extrusionOk="0" h="1104238" w="3015130">
                  <a:moveTo>
                    <a:pt x="20288" y="0"/>
                  </a:moveTo>
                  <a:lnTo>
                    <a:pt x="2994842" y="0"/>
                  </a:lnTo>
                  <a:cubicBezTo>
                    <a:pt x="3000222" y="0"/>
                    <a:pt x="3005383" y="2137"/>
                    <a:pt x="3009187" y="5942"/>
                  </a:cubicBezTo>
                  <a:cubicBezTo>
                    <a:pt x="3012992" y="9747"/>
                    <a:pt x="3015130" y="14907"/>
                    <a:pt x="3015130" y="20288"/>
                  </a:cubicBezTo>
                  <a:lnTo>
                    <a:pt x="3015130" y="1083951"/>
                  </a:lnTo>
                  <a:cubicBezTo>
                    <a:pt x="3015130" y="1089331"/>
                    <a:pt x="3012992" y="1094492"/>
                    <a:pt x="3009187" y="1098296"/>
                  </a:cubicBezTo>
                  <a:cubicBezTo>
                    <a:pt x="3005383" y="1102101"/>
                    <a:pt x="3000222" y="1104238"/>
                    <a:pt x="2994842" y="1104238"/>
                  </a:cubicBezTo>
                  <a:lnTo>
                    <a:pt x="20288" y="1104238"/>
                  </a:lnTo>
                  <a:cubicBezTo>
                    <a:pt x="14907" y="1104238"/>
                    <a:pt x="9747" y="1102101"/>
                    <a:pt x="5942" y="1098296"/>
                  </a:cubicBezTo>
                  <a:cubicBezTo>
                    <a:pt x="2137" y="1094492"/>
                    <a:pt x="0" y="1089331"/>
                    <a:pt x="0" y="1083951"/>
                  </a:cubicBezTo>
                  <a:lnTo>
                    <a:pt x="0" y="20288"/>
                  </a:lnTo>
                  <a:cubicBezTo>
                    <a:pt x="0" y="14907"/>
                    <a:pt x="2137" y="9747"/>
                    <a:pt x="5942" y="5942"/>
                  </a:cubicBezTo>
                  <a:cubicBezTo>
                    <a:pt x="9747" y="2137"/>
                    <a:pt x="14907" y="0"/>
                    <a:pt x="20288" y="0"/>
                  </a:cubicBezTo>
                  <a:close/>
                </a:path>
              </a:pathLst>
            </a:custGeom>
            <a:gradFill>
              <a:gsLst>
                <a:gs pos="0">
                  <a:srgbClr val="3062FF"/>
                </a:gs>
                <a:gs pos="100000">
                  <a:srgbClr val="013388"/>
                </a:gs>
              </a:gsLst>
              <a:lin ang="2700006"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g3d44c00b686_0_41"/>
            <p:cNvSpPr txBox="1"/>
            <p:nvPr/>
          </p:nvSpPr>
          <p:spPr>
            <a:xfrm>
              <a:off x="6737380" y="6247636"/>
              <a:ext cx="11600700" cy="4078500"/>
            </a:xfrm>
            <a:prstGeom prst="rect">
              <a:avLst/>
            </a:prstGeom>
            <a:noFill/>
            <a:ln>
              <a:noFill/>
            </a:ln>
          </p:spPr>
          <p:txBody>
            <a:bodyPr anchorCtr="0" anchor="t" bIns="0" lIns="0" spcFirstLastPara="1" rIns="0" wrap="square" tIns="0">
              <a:spAutoFit/>
            </a:bodyPr>
            <a:lstStyle/>
            <a:p>
              <a:pPr indent="0" lvl="0" marL="0" marR="0" rtl="0" algn="l">
                <a:lnSpc>
                  <a:spcPct val="158019"/>
                </a:lnSpc>
                <a:spcBef>
                  <a:spcPts val="0"/>
                </a:spcBef>
                <a:spcAft>
                  <a:spcPts val="0"/>
                </a:spcAft>
                <a:buNone/>
              </a:pPr>
              <a:r>
                <a:rPr b="1" lang="en-US" sz="2500">
                  <a:solidFill>
                    <a:srgbClr val="FFFFFF"/>
                  </a:solidFill>
                  <a:latin typeface="Poppins"/>
                  <a:ea typeface="Poppins"/>
                  <a:cs typeface="Poppins"/>
                  <a:sym typeface="Poppins"/>
                </a:rPr>
                <a:t>TIPO DE PROBLEMA</a:t>
              </a:r>
              <a:endParaRPr b="1" sz="2500">
                <a:solidFill>
                  <a:srgbClr val="FFFFFF"/>
                </a:solidFill>
                <a:latin typeface="Poppins"/>
                <a:ea typeface="Poppins"/>
                <a:cs typeface="Poppins"/>
                <a:sym typeface="Poppins"/>
              </a:endParaRPr>
            </a:p>
            <a:p>
              <a:pPr indent="-387350" lvl="0" marL="457200" rtl="0" algn="l">
                <a:lnSpc>
                  <a:spcPct val="158019"/>
                </a:lnSpc>
                <a:spcBef>
                  <a:spcPts val="0"/>
                </a:spcBef>
                <a:spcAft>
                  <a:spcPts val="0"/>
                </a:spcAft>
                <a:buClr>
                  <a:srgbClr val="FFFFFF"/>
                </a:buClr>
                <a:buSzPts val="2500"/>
                <a:buFont typeface="Poppins"/>
                <a:buChar char="●"/>
              </a:pPr>
              <a:r>
                <a:rPr lang="en-US" sz="2500">
                  <a:solidFill>
                    <a:srgbClr val="FFFFFF"/>
                  </a:solidFill>
                  <a:latin typeface="Poppins"/>
                  <a:ea typeface="Poppins"/>
                  <a:cs typeface="Poppins"/>
                  <a:sym typeface="Poppins"/>
                </a:rPr>
                <a:t>Problema de clasificación binaria supervisada</a:t>
              </a:r>
              <a:endParaRPr sz="2500">
                <a:solidFill>
                  <a:srgbClr val="FFFFFF"/>
                </a:solidFill>
                <a:latin typeface="Poppins"/>
                <a:ea typeface="Poppins"/>
                <a:cs typeface="Poppins"/>
                <a:sym typeface="Poppins"/>
              </a:endParaRPr>
            </a:p>
            <a:p>
              <a:pPr indent="-387350" lvl="0" marL="457200" rtl="0" algn="l">
                <a:lnSpc>
                  <a:spcPct val="158019"/>
                </a:lnSpc>
                <a:spcBef>
                  <a:spcPts val="0"/>
                </a:spcBef>
                <a:spcAft>
                  <a:spcPts val="0"/>
                </a:spcAft>
                <a:buClr>
                  <a:srgbClr val="FFFFFF"/>
                </a:buClr>
                <a:buSzPts val="2500"/>
                <a:buFont typeface="Poppins"/>
                <a:buChar char="●"/>
              </a:pPr>
              <a:r>
                <a:rPr lang="en-US" sz="2500">
                  <a:solidFill>
                    <a:srgbClr val="FFFFFF"/>
                  </a:solidFill>
                  <a:latin typeface="Poppins"/>
                  <a:ea typeface="Poppins"/>
                  <a:cs typeface="Poppins"/>
                  <a:sym typeface="Poppins"/>
                </a:rPr>
                <a:t>Variable objetivo:</a:t>
              </a:r>
              <a:endParaRPr sz="2500">
                <a:solidFill>
                  <a:srgbClr val="FFFFFF"/>
                </a:solidFill>
                <a:latin typeface="Poppins"/>
                <a:ea typeface="Poppins"/>
                <a:cs typeface="Poppins"/>
                <a:sym typeface="Poppins"/>
              </a:endParaRPr>
            </a:p>
            <a:p>
              <a:pPr indent="-387350" lvl="1" marL="914400" rtl="0" algn="l">
                <a:lnSpc>
                  <a:spcPct val="158019"/>
                </a:lnSpc>
                <a:spcBef>
                  <a:spcPts val="0"/>
                </a:spcBef>
                <a:spcAft>
                  <a:spcPts val="0"/>
                </a:spcAft>
                <a:buClr>
                  <a:srgbClr val="FFFFFF"/>
                </a:buClr>
                <a:buSzPts val="2500"/>
                <a:buFont typeface="Poppins"/>
                <a:buChar char="○"/>
              </a:pPr>
              <a:r>
                <a:rPr lang="en-US" sz="2500">
                  <a:solidFill>
                    <a:srgbClr val="FFFFFF"/>
                  </a:solidFill>
                  <a:latin typeface="Poppins"/>
                  <a:ea typeface="Poppins"/>
                  <a:cs typeface="Poppins"/>
                  <a:sym typeface="Poppins"/>
                </a:rPr>
                <a:t>0 = Sin dificultad para aprender</a:t>
              </a:r>
              <a:endParaRPr sz="2500">
                <a:solidFill>
                  <a:srgbClr val="FFFFFF"/>
                </a:solidFill>
                <a:latin typeface="Poppins"/>
                <a:ea typeface="Poppins"/>
                <a:cs typeface="Poppins"/>
                <a:sym typeface="Poppins"/>
              </a:endParaRPr>
            </a:p>
            <a:p>
              <a:pPr indent="-387350" lvl="1" marL="914400" rtl="0" algn="l">
                <a:lnSpc>
                  <a:spcPct val="158019"/>
                </a:lnSpc>
                <a:spcBef>
                  <a:spcPts val="0"/>
                </a:spcBef>
                <a:spcAft>
                  <a:spcPts val="0"/>
                </a:spcAft>
                <a:buClr>
                  <a:srgbClr val="FFFFFF"/>
                </a:buClr>
                <a:buSzPts val="2500"/>
                <a:buFont typeface="Poppins"/>
                <a:buChar char="○"/>
              </a:pPr>
              <a:r>
                <a:rPr lang="en-US" sz="2500">
                  <a:solidFill>
                    <a:srgbClr val="FFFFFF"/>
                  </a:solidFill>
                  <a:latin typeface="Poppins"/>
                  <a:ea typeface="Poppins"/>
                  <a:cs typeface="Poppins"/>
                  <a:sym typeface="Poppins"/>
                </a:rPr>
                <a:t>1 = Con dificultad para aprender</a:t>
              </a:r>
              <a:endParaRPr sz="2500">
                <a:solidFill>
                  <a:srgbClr val="FFFFFF"/>
                </a:solidFill>
                <a:latin typeface="Poppins"/>
                <a:ea typeface="Poppins"/>
                <a:cs typeface="Poppins"/>
                <a:sym typeface="Poppins"/>
              </a:endParaRPr>
            </a:p>
            <a:p>
              <a:pPr indent="-387350" lvl="0" marL="457200" rtl="0" algn="l">
                <a:lnSpc>
                  <a:spcPct val="158019"/>
                </a:lnSpc>
                <a:spcBef>
                  <a:spcPts val="0"/>
                </a:spcBef>
                <a:spcAft>
                  <a:spcPts val="0"/>
                </a:spcAft>
                <a:buClr>
                  <a:srgbClr val="FFFFFF"/>
                </a:buClr>
                <a:buSzPts val="2500"/>
                <a:buFont typeface="Poppins"/>
                <a:buChar char="●"/>
              </a:pPr>
              <a:r>
                <a:rPr lang="en-US" sz="2500">
                  <a:solidFill>
                    <a:srgbClr val="FFFFFF"/>
                  </a:solidFill>
                  <a:latin typeface="Poppins"/>
                  <a:ea typeface="Poppins"/>
                  <a:cs typeface="Poppins"/>
                  <a:sym typeface="Poppins"/>
                </a:rPr>
                <a:t>La salida del modelo es un score entre 0 y 1</a:t>
              </a:r>
              <a:endParaRPr sz="2500">
                <a:solidFill>
                  <a:srgbClr val="FFFFFF"/>
                </a:solidFill>
                <a:latin typeface="Poppins"/>
                <a:ea typeface="Poppins"/>
                <a:cs typeface="Poppins"/>
                <a:sym typeface="Poppins"/>
              </a:endParaRPr>
            </a:p>
            <a:p>
              <a:pPr indent="-387350" lvl="0" marL="457200" rtl="0" algn="l">
                <a:lnSpc>
                  <a:spcPct val="115000"/>
                </a:lnSpc>
                <a:spcBef>
                  <a:spcPts val="0"/>
                </a:spcBef>
                <a:spcAft>
                  <a:spcPts val="0"/>
                </a:spcAft>
                <a:buClr>
                  <a:srgbClr val="FFFFFF"/>
                </a:buClr>
                <a:buSzPts val="2500"/>
                <a:buFont typeface="Poppins"/>
                <a:buChar char="●"/>
              </a:pPr>
              <a:r>
                <a:rPr lang="en-US" sz="2500">
                  <a:solidFill>
                    <a:srgbClr val="FFFFFF"/>
                  </a:solidFill>
                  <a:latin typeface="Poppins"/>
                  <a:ea typeface="Poppins"/>
                  <a:cs typeface="Poppins"/>
                  <a:sym typeface="Poppins"/>
                </a:rPr>
                <a:t>El objetivo es estimar la probabilidad de que un adolescente reporte dificultad para aprender / si un adolescente va a reportar dificultad para aprender, a partir de variables de salud, conducta y entorno</a:t>
              </a:r>
              <a:endParaRPr sz="1100">
                <a:solidFill>
                  <a:schemeClr val="dk1"/>
                </a:solidFill>
              </a:endParaRPr>
            </a:p>
            <a:p>
              <a:pPr indent="0" lvl="0" marL="457200" marR="0" rtl="0" algn="l">
                <a:lnSpc>
                  <a:spcPct val="158019"/>
                </a:lnSpc>
                <a:spcBef>
                  <a:spcPts val="0"/>
                </a:spcBef>
                <a:spcAft>
                  <a:spcPts val="0"/>
                </a:spcAft>
                <a:buNone/>
              </a:pPr>
              <a:r>
                <a:t/>
              </a:r>
              <a:endParaRPr sz="2500">
                <a:solidFill>
                  <a:srgbClr val="FFFFFF"/>
                </a:solidFill>
                <a:latin typeface="Poppins"/>
                <a:ea typeface="Poppins"/>
                <a:cs typeface="Poppins"/>
                <a:sym typeface="Poppins"/>
              </a:endParaRPr>
            </a:p>
          </p:txBody>
        </p:sp>
      </p:grpSp>
      <p:sp>
        <p:nvSpPr>
          <p:cNvPr id="117" name="Google Shape;117;g3d44c00b686_0_41"/>
          <p:cNvSpPr txBox="1"/>
          <p:nvPr/>
        </p:nvSpPr>
        <p:spPr>
          <a:xfrm>
            <a:off x="5975425" y="706700"/>
            <a:ext cx="11875200" cy="769500"/>
          </a:xfrm>
          <a:prstGeom prst="rect">
            <a:avLst/>
          </a:prstGeom>
          <a:noFill/>
          <a:ln>
            <a:noFill/>
          </a:ln>
        </p:spPr>
        <p:txBody>
          <a:bodyPr anchorCtr="0" anchor="t" bIns="0" lIns="0" spcFirstLastPara="1" rIns="0" wrap="square" tIns="0">
            <a:spAutoFit/>
          </a:bodyPr>
          <a:lstStyle/>
          <a:p>
            <a:pPr indent="0" lvl="0" marL="0" marR="0" rtl="0" algn="l">
              <a:lnSpc>
                <a:spcPct val="108001"/>
              </a:lnSpc>
              <a:spcBef>
                <a:spcPts val="0"/>
              </a:spcBef>
              <a:spcAft>
                <a:spcPts val="0"/>
              </a:spcAft>
              <a:buNone/>
            </a:pPr>
            <a:r>
              <a:rPr b="1" lang="en-US" sz="5000">
                <a:solidFill>
                  <a:srgbClr val="2758E6"/>
                </a:solidFill>
                <a:latin typeface="Poppins"/>
                <a:ea typeface="Poppins"/>
                <a:cs typeface="Poppins"/>
                <a:sym typeface="Poppins"/>
              </a:rPr>
              <a:t>ESTRUCTURA TÉCNICA</a:t>
            </a:r>
            <a:endParaRPr sz="5000">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86ebc568c0_0_38"/>
          <p:cNvSpPr/>
          <p:nvPr/>
        </p:nvSpPr>
        <p:spPr>
          <a:xfrm>
            <a:off x="-4727740" y="762000"/>
            <a:ext cx="9515405" cy="8968269"/>
          </a:xfrm>
          <a:custGeom>
            <a:rect b="b" l="l" r="r" t="t"/>
            <a:pathLst>
              <a:path extrusionOk="0" h="8968269" w="9515405">
                <a:moveTo>
                  <a:pt x="0" y="0"/>
                </a:moveTo>
                <a:lnTo>
                  <a:pt x="9515405" y="0"/>
                </a:lnTo>
                <a:lnTo>
                  <a:pt x="9515405" y="8968269"/>
                </a:lnTo>
                <a:lnTo>
                  <a:pt x="0" y="896826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23" name="Google Shape;123;g386ebc568c0_0_38"/>
          <p:cNvGrpSpPr/>
          <p:nvPr/>
        </p:nvGrpSpPr>
        <p:grpSpPr>
          <a:xfrm>
            <a:off x="5184379" y="1867261"/>
            <a:ext cx="12666757" cy="5601966"/>
            <a:chOff x="6370562" y="6062908"/>
            <a:chExt cx="12211276" cy="3837752"/>
          </a:xfrm>
        </p:grpSpPr>
        <p:sp>
          <p:nvSpPr>
            <p:cNvPr id="124" name="Google Shape;124;g386ebc568c0_0_38"/>
            <p:cNvSpPr/>
            <p:nvPr/>
          </p:nvSpPr>
          <p:spPr>
            <a:xfrm>
              <a:off x="6370562" y="6062908"/>
              <a:ext cx="12211276" cy="3798579"/>
            </a:xfrm>
            <a:custGeom>
              <a:rect b="b" l="l" r="r" t="t"/>
              <a:pathLst>
                <a:path extrusionOk="0" h="1104238" w="3015130">
                  <a:moveTo>
                    <a:pt x="20288" y="0"/>
                  </a:moveTo>
                  <a:lnTo>
                    <a:pt x="2994842" y="0"/>
                  </a:lnTo>
                  <a:cubicBezTo>
                    <a:pt x="3000222" y="0"/>
                    <a:pt x="3005383" y="2137"/>
                    <a:pt x="3009187" y="5942"/>
                  </a:cubicBezTo>
                  <a:cubicBezTo>
                    <a:pt x="3012992" y="9747"/>
                    <a:pt x="3015130" y="14907"/>
                    <a:pt x="3015130" y="20288"/>
                  </a:cubicBezTo>
                  <a:lnTo>
                    <a:pt x="3015130" y="1083951"/>
                  </a:lnTo>
                  <a:cubicBezTo>
                    <a:pt x="3015130" y="1089331"/>
                    <a:pt x="3012992" y="1094492"/>
                    <a:pt x="3009187" y="1098296"/>
                  </a:cubicBezTo>
                  <a:cubicBezTo>
                    <a:pt x="3005383" y="1102101"/>
                    <a:pt x="3000222" y="1104238"/>
                    <a:pt x="2994842" y="1104238"/>
                  </a:cubicBezTo>
                  <a:lnTo>
                    <a:pt x="20288" y="1104238"/>
                  </a:lnTo>
                  <a:cubicBezTo>
                    <a:pt x="14907" y="1104238"/>
                    <a:pt x="9747" y="1102101"/>
                    <a:pt x="5942" y="1098296"/>
                  </a:cubicBezTo>
                  <a:cubicBezTo>
                    <a:pt x="2137" y="1094492"/>
                    <a:pt x="0" y="1089331"/>
                    <a:pt x="0" y="1083951"/>
                  </a:cubicBezTo>
                  <a:lnTo>
                    <a:pt x="0" y="20288"/>
                  </a:lnTo>
                  <a:cubicBezTo>
                    <a:pt x="0" y="14907"/>
                    <a:pt x="2137" y="9747"/>
                    <a:pt x="5942" y="5942"/>
                  </a:cubicBezTo>
                  <a:cubicBezTo>
                    <a:pt x="9747" y="2137"/>
                    <a:pt x="14907" y="0"/>
                    <a:pt x="20288" y="0"/>
                  </a:cubicBezTo>
                  <a:close/>
                </a:path>
              </a:pathLst>
            </a:custGeom>
            <a:gradFill>
              <a:gsLst>
                <a:gs pos="0">
                  <a:srgbClr val="3062FF"/>
                </a:gs>
                <a:gs pos="100000">
                  <a:srgbClr val="013388"/>
                </a:gs>
              </a:gsLst>
              <a:lin ang="2700006"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g386ebc568c0_0_38"/>
            <p:cNvSpPr txBox="1"/>
            <p:nvPr/>
          </p:nvSpPr>
          <p:spPr>
            <a:xfrm>
              <a:off x="6737376" y="6304560"/>
              <a:ext cx="11600700" cy="3596100"/>
            </a:xfrm>
            <a:prstGeom prst="rect">
              <a:avLst/>
            </a:prstGeom>
            <a:noFill/>
            <a:ln>
              <a:noFill/>
            </a:ln>
          </p:spPr>
          <p:txBody>
            <a:bodyPr anchorCtr="0" anchor="t" bIns="0" lIns="0" spcFirstLastPara="1" rIns="0" wrap="square" tIns="0">
              <a:spAutoFit/>
            </a:bodyPr>
            <a:lstStyle/>
            <a:p>
              <a:pPr indent="0" lvl="0" marL="0" marR="0" rtl="0" algn="l">
                <a:lnSpc>
                  <a:spcPct val="158019"/>
                </a:lnSpc>
                <a:spcBef>
                  <a:spcPts val="0"/>
                </a:spcBef>
                <a:spcAft>
                  <a:spcPts val="0"/>
                </a:spcAft>
                <a:buNone/>
              </a:pPr>
              <a:r>
                <a:rPr b="1" lang="en-US" sz="2500">
                  <a:solidFill>
                    <a:srgbClr val="FFFFFF"/>
                  </a:solidFill>
                  <a:latin typeface="Poppins"/>
                  <a:ea typeface="Poppins"/>
                  <a:cs typeface="Poppins"/>
                  <a:sym typeface="Poppins"/>
                </a:rPr>
                <a:t>DEFINICIÓN DE VARIABLES</a:t>
              </a:r>
              <a:endParaRPr sz="2500">
                <a:solidFill>
                  <a:srgbClr val="FFFFFF"/>
                </a:solidFill>
                <a:latin typeface="Poppins"/>
                <a:ea typeface="Poppins"/>
                <a:cs typeface="Poppins"/>
                <a:sym typeface="Poppins"/>
              </a:endParaRPr>
            </a:p>
            <a:p>
              <a:pPr indent="-387350" lvl="0" marL="457200" marR="0" rtl="0" algn="l">
                <a:lnSpc>
                  <a:spcPct val="158019"/>
                </a:lnSpc>
                <a:spcBef>
                  <a:spcPts val="0"/>
                </a:spcBef>
                <a:spcAft>
                  <a:spcPts val="0"/>
                </a:spcAft>
                <a:buClr>
                  <a:srgbClr val="FFFFFF"/>
                </a:buClr>
                <a:buSzPts val="2500"/>
                <a:buFont typeface="Poppins"/>
                <a:buChar char="●"/>
              </a:pPr>
              <a:r>
                <a:rPr lang="en-US" sz="2500">
                  <a:solidFill>
                    <a:srgbClr val="FFFFFF"/>
                  </a:solidFill>
                  <a:latin typeface="Poppins"/>
                  <a:ea typeface="Poppins"/>
                  <a:cs typeface="Poppins"/>
                  <a:sym typeface="Poppins"/>
                </a:rPr>
                <a:t>Variable Objetivo: Dificultad para aprender</a:t>
              </a:r>
              <a:endParaRPr sz="2500">
                <a:solidFill>
                  <a:srgbClr val="FFFFFF"/>
                </a:solidFill>
                <a:latin typeface="Poppins"/>
                <a:ea typeface="Poppins"/>
                <a:cs typeface="Poppins"/>
                <a:sym typeface="Poppins"/>
              </a:endParaRPr>
            </a:p>
            <a:p>
              <a:pPr indent="-387350" lvl="2" marL="1371600" marR="0" rtl="0" algn="l">
                <a:lnSpc>
                  <a:spcPct val="158019"/>
                </a:lnSpc>
                <a:spcBef>
                  <a:spcPts val="0"/>
                </a:spcBef>
                <a:spcAft>
                  <a:spcPts val="0"/>
                </a:spcAft>
                <a:buClr>
                  <a:srgbClr val="FFFFFF"/>
                </a:buClr>
                <a:buSzPts val="2500"/>
                <a:buFont typeface="Poppins"/>
                <a:buChar char="■"/>
              </a:pPr>
              <a:r>
                <a:rPr lang="en-US" sz="2500">
                  <a:solidFill>
                    <a:srgbClr val="FFFFFF"/>
                  </a:solidFill>
                  <a:latin typeface="Poppins"/>
                  <a:ea typeface="Poppins"/>
                  <a:cs typeface="Poppins"/>
                  <a:sym typeface="Poppins"/>
                </a:rPr>
                <a:t>Se </a:t>
              </a:r>
              <a:r>
                <a:rPr lang="en-US" sz="2500">
                  <a:solidFill>
                    <a:srgbClr val="FFFFFF"/>
                  </a:solidFill>
                  <a:latin typeface="Poppins"/>
                  <a:ea typeface="Poppins"/>
                  <a:cs typeface="Poppins"/>
                  <a:sym typeface="Poppins"/>
                </a:rPr>
                <a:t>construyó</a:t>
              </a:r>
              <a:r>
                <a:rPr lang="en-US" sz="2500">
                  <a:solidFill>
                    <a:srgbClr val="FFFFFF"/>
                  </a:solidFill>
                  <a:latin typeface="Poppins"/>
                  <a:ea typeface="Poppins"/>
                  <a:cs typeface="Poppins"/>
                  <a:sym typeface="Poppins"/>
                </a:rPr>
                <a:t> a partir de la variable de la encuesta d0415</a:t>
              </a:r>
              <a:endParaRPr sz="2500">
                <a:solidFill>
                  <a:srgbClr val="FFFFFF"/>
                </a:solidFill>
                <a:latin typeface="Poppins"/>
                <a:ea typeface="Poppins"/>
                <a:cs typeface="Poppins"/>
                <a:sym typeface="Poppins"/>
              </a:endParaRPr>
            </a:p>
            <a:p>
              <a:pPr indent="-387350" lvl="0" marL="457200" marR="0" rtl="0" algn="l">
                <a:lnSpc>
                  <a:spcPct val="158019"/>
                </a:lnSpc>
                <a:spcBef>
                  <a:spcPts val="0"/>
                </a:spcBef>
                <a:spcAft>
                  <a:spcPts val="0"/>
                </a:spcAft>
                <a:buClr>
                  <a:srgbClr val="FFFFFF"/>
                </a:buClr>
                <a:buSzPts val="2500"/>
                <a:buFont typeface="Poppins"/>
                <a:buChar char="●"/>
              </a:pPr>
              <a:r>
                <a:rPr lang="en-US" sz="2500">
                  <a:solidFill>
                    <a:srgbClr val="FFFFFF"/>
                  </a:solidFill>
                  <a:latin typeface="Poppins"/>
                  <a:ea typeface="Poppins"/>
                  <a:cs typeface="Poppins"/>
                  <a:sym typeface="Poppins"/>
                </a:rPr>
                <a:t>Variables predictoras:</a:t>
              </a:r>
              <a:endParaRPr sz="2500">
                <a:solidFill>
                  <a:srgbClr val="FFFFFF"/>
                </a:solidFill>
                <a:latin typeface="Poppins"/>
                <a:ea typeface="Poppins"/>
                <a:cs typeface="Poppins"/>
                <a:sym typeface="Poppins"/>
              </a:endParaRPr>
            </a:p>
            <a:p>
              <a:pPr indent="-387350" lvl="1" marL="914400" rtl="0" algn="l">
                <a:lnSpc>
                  <a:spcPct val="158019"/>
                </a:lnSpc>
                <a:spcBef>
                  <a:spcPts val="0"/>
                </a:spcBef>
                <a:spcAft>
                  <a:spcPts val="0"/>
                </a:spcAft>
                <a:buClr>
                  <a:srgbClr val="FFFFFF"/>
                </a:buClr>
                <a:buSzPts val="2500"/>
                <a:buFont typeface="Poppins"/>
                <a:buChar char="○"/>
              </a:pPr>
              <a:r>
                <a:rPr lang="en-US" sz="2500">
                  <a:solidFill>
                    <a:srgbClr val="FFFFFF"/>
                  </a:solidFill>
                  <a:latin typeface="Poppins"/>
                  <a:ea typeface="Poppins"/>
                  <a:cs typeface="Poppins"/>
                  <a:sym typeface="Poppins"/>
                </a:rPr>
                <a:t>S</a:t>
              </a:r>
              <a:r>
                <a:rPr lang="en-US" sz="2500">
                  <a:solidFill>
                    <a:srgbClr val="FFFFFF"/>
                  </a:solidFill>
                  <a:latin typeface="Poppins"/>
                  <a:ea typeface="Poppins"/>
                  <a:cs typeface="Poppins"/>
                  <a:sym typeface="Poppins"/>
                </a:rPr>
                <a:t>alud mental (e.g. depresión, ansiedad)</a:t>
              </a:r>
              <a:endParaRPr sz="2500">
                <a:solidFill>
                  <a:srgbClr val="FFFFFF"/>
                </a:solidFill>
                <a:latin typeface="Poppins"/>
                <a:ea typeface="Poppins"/>
                <a:cs typeface="Poppins"/>
                <a:sym typeface="Poppins"/>
              </a:endParaRPr>
            </a:p>
            <a:p>
              <a:pPr indent="-387350" lvl="1" marL="914400" rtl="0" algn="l">
                <a:lnSpc>
                  <a:spcPct val="158019"/>
                </a:lnSpc>
                <a:spcBef>
                  <a:spcPts val="0"/>
                </a:spcBef>
                <a:spcAft>
                  <a:spcPts val="0"/>
                </a:spcAft>
                <a:buClr>
                  <a:srgbClr val="FFFFFF"/>
                </a:buClr>
                <a:buSzPts val="2500"/>
                <a:buFont typeface="Poppins"/>
                <a:buChar char="○"/>
              </a:pPr>
              <a:r>
                <a:rPr lang="en-US" sz="2500">
                  <a:solidFill>
                    <a:srgbClr val="FFFFFF"/>
                  </a:solidFill>
                  <a:latin typeface="Poppins"/>
                  <a:ea typeface="Poppins"/>
                  <a:cs typeface="Poppins"/>
                  <a:sym typeface="Poppins"/>
                </a:rPr>
                <a:t>Salud física (e.g. trigliceridos, </a:t>
              </a:r>
              <a:r>
                <a:rPr lang="en-US" sz="2500">
                  <a:solidFill>
                    <a:srgbClr val="FFFFFF"/>
                  </a:solidFill>
                  <a:latin typeface="Poppins"/>
                  <a:ea typeface="Poppins"/>
                  <a:cs typeface="Poppins"/>
                  <a:sym typeface="Poppins"/>
                </a:rPr>
                <a:t>colesterol</a:t>
              </a:r>
              <a:r>
                <a:rPr lang="en-US" sz="2500">
                  <a:solidFill>
                    <a:srgbClr val="FFFFFF"/>
                  </a:solidFill>
                  <a:latin typeface="Poppins"/>
                  <a:ea typeface="Poppins"/>
                  <a:cs typeface="Poppins"/>
                  <a:sym typeface="Poppins"/>
                </a:rPr>
                <a:t>)</a:t>
              </a:r>
              <a:endParaRPr sz="2500">
                <a:solidFill>
                  <a:srgbClr val="FFFFFF"/>
                </a:solidFill>
                <a:latin typeface="Poppins"/>
                <a:ea typeface="Poppins"/>
                <a:cs typeface="Poppins"/>
                <a:sym typeface="Poppins"/>
              </a:endParaRPr>
            </a:p>
            <a:p>
              <a:pPr indent="-387350" lvl="1" marL="914400" rtl="0" algn="l">
                <a:lnSpc>
                  <a:spcPct val="158019"/>
                </a:lnSpc>
                <a:spcBef>
                  <a:spcPts val="0"/>
                </a:spcBef>
                <a:spcAft>
                  <a:spcPts val="0"/>
                </a:spcAft>
                <a:buClr>
                  <a:srgbClr val="FFFFFF"/>
                </a:buClr>
                <a:buSzPts val="2500"/>
                <a:buFont typeface="Poppins"/>
                <a:buChar char="○"/>
              </a:pPr>
              <a:r>
                <a:rPr lang="en-US" sz="2500">
                  <a:solidFill>
                    <a:srgbClr val="FFFFFF"/>
                  </a:solidFill>
                  <a:latin typeface="Poppins"/>
                  <a:ea typeface="Poppins"/>
                  <a:cs typeface="Poppins"/>
                  <a:sym typeface="Poppins"/>
                </a:rPr>
                <a:t>Conductas y consumo (e.g. consumo de alcohol, dormir mal)</a:t>
              </a:r>
              <a:endParaRPr sz="2500">
                <a:solidFill>
                  <a:srgbClr val="FFFFFF"/>
                </a:solidFill>
                <a:latin typeface="Poppins"/>
                <a:ea typeface="Poppins"/>
                <a:cs typeface="Poppins"/>
                <a:sym typeface="Poppins"/>
              </a:endParaRPr>
            </a:p>
            <a:p>
              <a:pPr indent="-387350" lvl="1" marL="914400" rtl="0" algn="l">
                <a:lnSpc>
                  <a:spcPct val="158019"/>
                </a:lnSpc>
                <a:spcBef>
                  <a:spcPts val="0"/>
                </a:spcBef>
                <a:spcAft>
                  <a:spcPts val="0"/>
                </a:spcAft>
                <a:buClr>
                  <a:srgbClr val="FFFFFF"/>
                </a:buClr>
                <a:buSzPts val="2500"/>
                <a:buFont typeface="Poppins"/>
                <a:buChar char="○"/>
              </a:pPr>
              <a:r>
                <a:rPr lang="en-US" sz="2500">
                  <a:solidFill>
                    <a:srgbClr val="FFFFFF"/>
                  </a:solidFill>
                  <a:latin typeface="Poppins"/>
                  <a:ea typeface="Poppins"/>
                  <a:cs typeface="Poppins"/>
                  <a:sym typeface="Poppins"/>
                </a:rPr>
                <a:t>Entorno y eventos adversos (e.g. acoso sexual, robo)</a:t>
              </a:r>
              <a:endParaRPr b="1" sz="1100">
                <a:solidFill>
                  <a:schemeClr val="dk1"/>
                </a:solidFill>
              </a:endParaRPr>
            </a:p>
            <a:p>
              <a:pPr indent="0" lvl="0" marL="914400" marR="0" rtl="0" algn="l">
                <a:lnSpc>
                  <a:spcPct val="158019"/>
                </a:lnSpc>
                <a:spcBef>
                  <a:spcPts val="0"/>
                </a:spcBef>
                <a:spcAft>
                  <a:spcPts val="0"/>
                </a:spcAft>
                <a:buNone/>
              </a:pPr>
              <a:r>
                <a:t/>
              </a:r>
              <a:endParaRPr sz="2500">
                <a:solidFill>
                  <a:srgbClr val="FFFFFF"/>
                </a:solidFill>
                <a:latin typeface="Poppins"/>
                <a:ea typeface="Poppins"/>
                <a:cs typeface="Poppins"/>
                <a:sym typeface="Poppins"/>
              </a:endParaRPr>
            </a:p>
          </p:txBody>
        </p:sp>
      </p:grpSp>
      <p:sp>
        <p:nvSpPr>
          <p:cNvPr id="126" name="Google Shape;126;g386ebc568c0_0_38"/>
          <p:cNvSpPr txBox="1"/>
          <p:nvPr/>
        </p:nvSpPr>
        <p:spPr>
          <a:xfrm>
            <a:off x="5975425" y="706700"/>
            <a:ext cx="11875200" cy="769500"/>
          </a:xfrm>
          <a:prstGeom prst="rect">
            <a:avLst/>
          </a:prstGeom>
          <a:noFill/>
          <a:ln>
            <a:noFill/>
          </a:ln>
        </p:spPr>
        <p:txBody>
          <a:bodyPr anchorCtr="0" anchor="t" bIns="0" lIns="0" spcFirstLastPara="1" rIns="0" wrap="square" tIns="0">
            <a:spAutoFit/>
          </a:bodyPr>
          <a:lstStyle/>
          <a:p>
            <a:pPr indent="0" lvl="0" marL="0" marR="0" rtl="0" algn="l">
              <a:lnSpc>
                <a:spcPct val="108001"/>
              </a:lnSpc>
              <a:spcBef>
                <a:spcPts val="0"/>
              </a:spcBef>
              <a:spcAft>
                <a:spcPts val="0"/>
              </a:spcAft>
              <a:buNone/>
            </a:pPr>
            <a:r>
              <a:rPr b="1" lang="en-US" sz="5000">
                <a:solidFill>
                  <a:srgbClr val="2758E6"/>
                </a:solidFill>
                <a:latin typeface="Poppins"/>
                <a:ea typeface="Poppins"/>
                <a:cs typeface="Poppins"/>
                <a:sym typeface="Poppins"/>
              </a:rPr>
              <a:t>ESTRUCTURA TÉCNICA</a:t>
            </a:r>
            <a:endParaRPr sz="5000">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86ebc568c0_0_49"/>
          <p:cNvSpPr txBox="1"/>
          <p:nvPr/>
        </p:nvSpPr>
        <p:spPr>
          <a:xfrm>
            <a:off x="840350" y="1738825"/>
            <a:ext cx="16687800" cy="6407100"/>
          </a:xfrm>
          <a:prstGeom prst="rect">
            <a:avLst/>
          </a:prstGeom>
          <a:noFill/>
          <a:ln>
            <a:noFill/>
          </a:ln>
        </p:spPr>
        <p:txBody>
          <a:bodyPr anchorCtr="0" anchor="t" bIns="0" lIns="0" spcFirstLastPara="1" rIns="0" wrap="square" tIns="0">
            <a:spAutoFit/>
          </a:bodyPr>
          <a:lstStyle/>
          <a:p>
            <a:pPr indent="0" lvl="0" marL="228600" rtl="0" algn="just">
              <a:lnSpc>
                <a:spcPct val="145000"/>
              </a:lnSpc>
              <a:spcBef>
                <a:spcPts val="0"/>
              </a:spcBef>
              <a:spcAft>
                <a:spcPts val="0"/>
              </a:spcAft>
              <a:buNone/>
            </a:pPr>
            <a:r>
              <a:rPr lang="en-US" sz="2500">
                <a:latin typeface="Poppins"/>
                <a:ea typeface="Poppins"/>
                <a:cs typeface="Poppins"/>
                <a:sym typeface="Poppins"/>
              </a:rPr>
              <a:t>Se partió de una selección inicial de variables de ENSANUT relacionadas con:</a:t>
            </a:r>
            <a:endParaRPr sz="2500">
              <a:latin typeface="Poppins"/>
              <a:ea typeface="Poppins"/>
              <a:cs typeface="Poppins"/>
              <a:sym typeface="Poppins"/>
            </a:endParaRPr>
          </a:p>
          <a:p>
            <a:pPr indent="-387350" lvl="0" marL="457200" rtl="0" algn="l">
              <a:lnSpc>
                <a:spcPct val="115000"/>
              </a:lnSpc>
              <a:spcBef>
                <a:spcPts val="1200"/>
              </a:spcBef>
              <a:spcAft>
                <a:spcPts val="0"/>
              </a:spcAft>
              <a:buSzPts val="2500"/>
              <a:buFont typeface="Poppins"/>
              <a:buChar char="●"/>
            </a:pPr>
            <a:r>
              <a:rPr lang="en-US" sz="2500">
                <a:latin typeface="Poppins"/>
                <a:ea typeface="Poppins"/>
                <a:cs typeface="Poppins"/>
                <a:sym typeface="Poppins"/>
              </a:rPr>
              <a:t>consumo de tabaco y vapeo</a:t>
            </a:r>
            <a:endParaRPr sz="2500">
              <a:latin typeface="Poppins"/>
              <a:ea typeface="Poppins"/>
              <a:cs typeface="Poppins"/>
              <a:sym typeface="Poppins"/>
            </a:endParaRPr>
          </a:p>
          <a:p>
            <a:pPr indent="-387350" lvl="0" marL="457200" rtl="0" algn="l">
              <a:lnSpc>
                <a:spcPct val="115000"/>
              </a:lnSpc>
              <a:spcBef>
                <a:spcPts val="0"/>
              </a:spcBef>
              <a:spcAft>
                <a:spcPts val="0"/>
              </a:spcAft>
              <a:buSzPts val="2500"/>
              <a:buFont typeface="Poppins"/>
              <a:buChar char="●"/>
            </a:pPr>
            <a:r>
              <a:rPr lang="en-US" sz="2500">
                <a:latin typeface="Poppins"/>
                <a:ea typeface="Poppins"/>
                <a:cs typeface="Poppins"/>
                <a:sym typeface="Poppins"/>
              </a:rPr>
              <a:t>consumo de alcohol</a:t>
            </a:r>
            <a:endParaRPr sz="2500">
              <a:latin typeface="Poppins"/>
              <a:ea typeface="Poppins"/>
              <a:cs typeface="Poppins"/>
              <a:sym typeface="Poppins"/>
            </a:endParaRPr>
          </a:p>
          <a:p>
            <a:pPr indent="-387350" lvl="0" marL="457200" rtl="0" algn="l">
              <a:lnSpc>
                <a:spcPct val="115000"/>
              </a:lnSpc>
              <a:spcBef>
                <a:spcPts val="0"/>
              </a:spcBef>
              <a:spcAft>
                <a:spcPts val="0"/>
              </a:spcAft>
              <a:buSzPts val="2500"/>
              <a:buFont typeface="Poppins"/>
              <a:buChar char="●"/>
            </a:pPr>
            <a:r>
              <a:rPr lang="en-US" sz="2500">
                <a:latin typeface="Poppins"/>
                <a:ea typeface="Poppins"/>
                <a:cs typeface="Poppins"/>
                <a:sym typeface="Poppins"/>
              </a:rPr>
              <a:t>uso de drogas</a:t>
            </a:r>
            <a:endParaRPr sz="2500">
              <a:latin typeface="Poppins"/>
              <a:ea typeface="Poppins"/>
              <a:cs typeface="Poppins"/>
              <a:sym typeface="Poppins"/>
            </a:endParaRPr>
          </a:p>
          <a:p>
            <a:pPr indent="-387350" lvl="0" marL="457200" rtl="0" algn="l">
              <a:lnSpc>
                <a:spcPct val="115000"/>
              </a:lnSpc>
              <a:spcBef>
                <a:spcPts val="0"/>
              </a:spcBef>
              <a:spcAft>
                <a:spcPts val="0"/>
              </a:spcAft>
              <a:buSzPts val="2500"/>
              <a:buFont typeface="Poppins"/>
              <a:buChar char="●"/>
            </a:pPr>
            <a:r>
              <a:rPr lang="en-US" sz="2500">
                <a:latin typeface="Poppins"/>
                <a:ea typeface="Poppins"/>
                <a:cs typeface="Poppins"/>
                <a:sym typeface="Poppins"/>
              </a:rPr>
              <a:t>enfermedades crónicas</a:t>
            </a:r>
            <a:endParaRPr sz="2500">
              <a:latin typeface="Poppins"/>
              <a:ea typeface="Poppins"/>
              <a:cs typeface="Poppins"/>
              <a:sym typeface="Poppins"/>
            </a:endParaRPr>
          </a:p>
          <a:p>
            <a:pPr indent="-387350" lvl="0" marL="457200" rtl="0" algn="l">
              <a:lnSpc>
                <a:spcPct val="115000"/>
              </a:lnSpc>
              <a:spcBef>
                <a:spcPts val="0"/>
              </a:spcBef>
              <a:spcAft>
                <a:spcPts val="0"/>
              </a:spcAft>
              <a:buSzPts val="2500"/>
              <a:buFont typeface="Poppins"/>
              <a:buChar char="●"/>
            </a:pPr>
            <a:r>
              <a:rPr lang="en-US" sz="2500">
                <a:latin typeface="Poppins"/>
                <a:ea typeface="Poppins"/>
                <a:cs typeface="Poppins"/>
                <a:sym typeface="Poppins"/>
              </a:rPr>
              <a:t>embarazo</a:t>
            </a:r>
            <a:endParaRPr sz="2500">
              <a:latin typeface="Poppins"/>
              <a:ea typeface="Poppins"/>
              <a:cs typeface="Poppins"/>
              <a:sym typeface="Poppins"/>
            </a:endParaRPr>
          </a:p>
          <a:p>
            <a:pPr indent="-387350" lvl="0" marL="457200" rtl="0" algn="l">
              <a:lnSpc>
                <a:spcPct val="115000"/>
              </a:lnSpc>
              <a:spcBef>
                <a:spcPts val="0"/>
              </a:spcBef>
              <a:spcAft>
                <a:spcPts val="0"/>
              </a:spcAft>
              <a:buSzPts val="2500"/>
              <a:buFont typeface="Poppins"/>
              <a:buChar char="●"/>
            </a:pPr>
            <a:r>
              <a:rPr lang="en-US" sz="2500">
                <a:latin typeface="Poppins"/>
                <a:ea typeface="Poppins"/>
                <a:cs typeface="Poppins"/>
                <a:sym typeface="Poppins"/>
              </a:rPr>
              <a:t>ansiedad y depresión</a:t>
            </a:r>
            <a:endParaRPr sz="2500">
              <a:latin typeface="Poppins"/>
              <a:ea typeface="Poppins"/>
              <a:cs typeface="Poppins"/>
              <a:sym typeface="Poppins"/>
            </a:endParaRPr>
          </a:p>
          <a:p>
            <a:pPr indent="-387350" lvl="0" marL="457200" rtl="0" algn="l">
              <a:lnSpc>
                <a:spcPct val="115000"/>
              </a:lnSpc>
              <a:spcBef>
                <a:spcPts val="0"/>
              </a:spcBef>
              <a:spcAft>
                <a:spcPts val="0"/>
              </a:spcAft>
              <a:buSzPts val="2500"/>
              <a:buFont typeface="Poppins"/>
              <a:buChar char="●"/>
            </a:pPr>
            <a:r>
              <a:rPr lang="en-US" sz="2500">
                <a:latin typeface="Poppins"/>
                <a:ea typeface="Poppins"/>
                <a:cs typeface="Poppins"/>
                <a:sym typeface="Poppins"/>
              </a:rPr>
              <a:t>dificultad de concentración</a:t>
            </a:r>
            <a:endParaRPr sz="2500">
              <a:latin typeface="Poppins"/>
              <a:ea typeface="Poppins"/>
              <a:cs typeface="Poppins"/>
              <a:sym typeface="Poppins"/>
            </a:endParaRPr>
          </a:p>
          <a:p>
            <a:pPr indent="-387350" lvl="0" marL="457200" rtl="0" algn="l">
              <a:lnSpc>
                <a:spcPct val="115000"/>
              </a:lnSpc>
              <a:spcBef>
                <a:spcPts val="0"/>
              </a:spcBef>
              <a:spcAft>
                <a:spcPts val="0"/>
              </a:spcAft>
              <a:buSzPts val="2500"/>
              <a:buFont typeface="Poppins"/>
              <a:buChar char="●"/>
            </a:pPr>
            <a:r>
              <a:rPr lang="en-US" sz="2500">
                <a:latin typeface="Poppins"/>
                <a:ea typeface="Poppins"/>
                <a:cs typeface="Poppins"/>
                <a:sym typeface="Poppins"/>
              </a:rPr>
              <a:t>dormir mal</a:t>
            </a:r>
            <a:endParaRPr sz="2500">
              <a:latin typeface="Poppins"/>
              <a:ea typeface="Poppins"/>
              <a:cs typeface="Poppins"/>
              <a:sym typeface="Poppins"/>
            </a:endParaRPr>
          </a:p>
          <a:p>
            <a:pPr indent="-387350" lvl="0" marL="457200" rtl="0" algn="l">
              <a:lnSpc>
                <a:spcPct val="115000"/>
              </a:lnSpc>
              <a:spcBef>
                <a:spcPts val="0"/>
              </a:spcBef>
              <a:spcAft>
                <a:spcPts val="0"/>
              </a:spcAft>
              <a:buSzPts val="2500"/>
              <a:buFont typeface="Poppins"/>
              <a:buChar char="●"/>
            </a:pPr>
            <a:r>
              <a:rPr lang="en-US" sz="2500">
                <a:latin typeface="Poppins"/>
                <a:ea typeface="Poppins"/>
                <a:cs typeface="Poppins"/>
                <a:sym typeface="Poppins"/>
              </a:rPr>
              <a:t>pensamiento suicida</a:t>
            </a:r>
            <a:endParaRPr sz="2500">
              <a:latin typeface="Poppins"/>
              <a:ea typeface="Poppins"/>
              <a:cs typeface="Poppins"/>
              <a:sym typeface="Poppins"/>
            </a:endParaRPr>
          </a:p>
          <a:p>
            <a:pPr indent="-387350" lvl="0" marL="457200" rtl="0" algn="l">
              <a:lnSpc>
                <a:spcPct val="115000"/>
              </a:lnSpc>
              <a:spcBef>
                <a:spcPts val="0"/>
              </a:spcBef>
              <a:spcAft>
                <a:spcPts val="0"/>
              </a:spcAft>
              <a:buSzPts val="2500"/>
              <a:buFont typeface="Poppins"/>
              <a:buChar char="●"/>
            </a:pPr>
            <a:r>
              <a:rPr lang="en-US" sz="2500">
                <a:latin typeface="Poppins"/>
                <a:ea typeface="Poppins"/>
                <a:cs typeface="Poppins"/>
                <a:sym typeface="Poppins"/>
              </a:rPr>
              <a:t>desórdenes alimenticios</a:t>
            </a:r>
            <a:endParaRPr sz="2500">
              <a:latin typeface="Poppins"/>
              <a:ea typeface="Poppins"/>
              <a:cs typeface="Poppins"/>
              <a:sym typeface="Poppins"/>
            </a:endParaRPr>
          </a:p>
          <a:p>
            <a:pPr indent="-387350" lvl="0" marL="457200" rtl="0" algn="l">
              <a:lnSpc>
                <a:spcPct val="115000"/>
              </a:lnSpc>
              <a:spcBef>
                <a:spcPts val="0"/>
              </a:spcBef>
              <a:spcAft>
                <a:spcPts val="0"/>
              </a:spcAft>
              <a:buSzPts val="2500"/>
              <a:buFont typeface="Poppins"/>
              <a:buChar char="●"/>
            </a:pPr>
            <a:r>
              <a:rPr lang="en-US" sz="2500">
                <a:latin typeface="Poppins"/>
                <a:ea typeface="Poppins"/>
                <a:cs typeface="Poppins"/>
                <a:sym typeface="Poppins"/>
              </a:rPr>
              <a:t>accidentes</a:t>
            </a:r>
            <a:endParaRPr sz="2500">
              <a:latin typeface="Poppins"/>
              <a:ea typeface="Poppins"/>
              <a:cs typeface="Poppins"/>
              <a:sym typeface="Poppins"/>
            </a:endParaRPr>
          </a:p>
          <a:p>
            <a:pPr indent="-387350" lvl="0" marL="457200" rtl="0" algn="l">
              <a:lnSpc>
                <a:spcPct val="115000"/>
              </a:lnSpc>
              <a:spcBef>
                <a:spcPts val="0"/>
              </a:spcBef>
              <a:spcAft>
                <a:spcPts val="0"/>
              </a:spcAft>
              <a:buSzPts val="2500"/>
              <a:buFont typeface="Poppins"/>
              <a:buChar char="●"/>
            </a:pPr>
            <a:r>
              <a:rPr lang="en-US" sz="2500">
                <a:latin typeface="Poppins"/>
                <a:ea typeface="Poppins"/>
                <a:cs typeface="Poppins"/>
                <a:sym typeface="Poppins"/>
              </a:rPr>
              <a:t>robo, agresión o violencia</a:t>
            </a:r>
            <a:endParaRPr sz="2500">
              <a:latin typeface="Poppins"/>
              <a:ea typeface="Poppins"/>
              <a:cs typeface="Poppins"/>
              <a:sym typeface="Poppins"/>
            </a:endParaRPr>
          </a:p>
          <a:p>
            <a:pPr indent="-387350" lvl="0" marL="457200" rtl="0" algn="l">
              <a:lnSpc>
                <a:spcPct val="115000"/>
              </a:lnSpc>
              <a:spcBef>
                <a:spcPts val="0"/>
              </a:spcBef>
              <a:spcAft>
                <a:spcPts val="0"/>
              </a:spcAft>
              <a:buSzPts val="2500"/>
              <a:buFont typeface="Poppins"/>
              <a:buChar char="●"/>
            </a:pPr>
            <a:r>
              <a:rPr lang="en-US" sz="2500">
                <a:latin typeface="Poppins"/>
                <a:ea typeface="Poppins"/>
                <a:cs typeface="Poppins"/>
                <a:sym typeface="Poppins"/>
              </a:rPr>
              <a:t>acoso sexual</a:t>
            </a:r>
            <a:endParaRPr sz="2500">
              <a:latin typeface="Poppins"/>
              <a:ea typeface="Poppins"/>
              <a:cs typeface="Poppins"/>
              <a:sym typeface="Poppins"/>
            </a:endParaRPr>
          </a:p>
        </p:txBody>
      </p:sp>
      <p:sp>
        <p:nvSpPr>
          <p:cNvPr id="132" name="Google Shape;132;g386ebc568c0_0_49"/>
          <p:cNvSpPr txBox="1"/>
          <p:nvPr/>
        </p:nvSpPr>
        <p:spPr>
          <a:xfrm>
            <a:off x="840353" y="737450"/>
            <a:ext cx="16687800" cy="769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5000">
                <a:solidFill>
                  <a:srgbClr val="2758E6"/>
                </a:solidFill>
                <a:latin typeface="Poppins"/>
                <a:ea typeface="Poppins"/>
                <a:cs typeface="Poppins"/>
                <a:sym typeface="Poppins"/>
              </a:rPr>
              <a:t>ESTRUCTURA TÉCNICA - DETALLE DE PREDICTORES</a:t>
            </a:r>
            <a:endParaRPr b="1" sz="5000">
              <a:solidFill>
                <a:srgbClr val="2758E6"/>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d44c00b686_0_103"/>
          <p:cNvSpPr txBox="1"/>
          <p:nvPr/>
        </p:nvSpPr>
        <p:spPr>
          <a:xfrm>
            <a:off x="840350" y="1738825"/>
            <a:ext cx="16687800" cy="7350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US" sz="2500">
                <a:latin typeface="Poppins"/>
                <a:ea typeface="Poppins"/>
                <a:cs typeface="Poppins"/>
                <a:sym typeface="Poppins"/>
              </a:rPr>
              <a:t>Varias variables fueron recodificadas en escalas entre 0 y 1 para representar intensidad o frecuencia</a:t>
            </a:r>
            <a:endParaRPr sz="2500">
              <a:latin typeface="Poppins"/>
              <a:ea typeface="Poppins"/>
              <a:cs typeface="Poppins"/>
              <a:sym typeface="Poppins"/>
            </a:endParaRPr>
          </a:p>
          <a:p>
            <a:pPr indent="0" lvl="0" marL="0" rtl="0" algn="l">
              <a:lnSpc>
                <a:spcPct val="115000"/>
              </a:lnSpc>
              <a:spcBef>
                <a:spcPts val="0"/>
              </a:spcBef>
              <a:spcAft>
                <a:spcPts val="0"/>
              </a:spcAft>
              <a:buNone/>
            </a:pPr>
            <a:r>
              <a:t/>
            </a:r>
            <a:endParaRPr sz="2500">
              <a:latin typeface="Poppins"/>
              <a:ea typeface="Poppins"/>
              <a:cs typeface="Poppins"/>
              <a:sym typeface="Poppins"/>
            </a:endParaRPr>
          </a:p>
          <a:p>
            <a:pPr indent="0" lvl="0" marL="0" rtl="0" algn="l">
              <a:lnSpc>
                <a:spcPct val="115000"/>
              </a:lnSpc>
              <a:spcBef>
                <a:spcPts val="0"/>
              </a:spcBef>
              <a:spcAft>
                <a:spcPts val="0"/>
              </a:spcAft>
              <a:buNone/>
            </a:pPr>
            <a:r>
              <a:rPr lang="en-US" sz="2500">
                <a:latin typeface="Poppins"/>
                <a:ea typeface="Poppins"/>
                <a:cs typeface="Poppins"/>
                <a:sym typeface="Poppins"/>
              </a:rPr>
              <a:t>En algunos casos se construyeron variables compuestas, por ejemplo:</a:t>
            </a:r>
            <a:endParaRPr sz="2500">
              <a:latin typeface="Poppins"/>
              <a:ea typeface="Poppins"/>
              <a:cs typeface="Poppins"/>
              <a:sym typeface="Poppins"/>
            </a:endParaRPr>
          </a:p>
          <a:p>
            <a:pPr indent="-387350" lvl="0" marL="457200" rtl="0" algn="l">
              <a:lnSpc>
                <a:spcPct val="115000"/>
              </a:lnSpc>
              <a:spcBef>
                <a:spcPts val="1200"/>
              </a:spcBef>
              <a:spcAft>
                <a:spcPts val="0"/>
              </a:spcAft>
              <a:buSzPts val="2500"/>
              <a:buFont typeface="Poppins"/>
              <a:buChar char="●"/>
            </a:pPr>
            <a:r>
              <a:rPr lang="en-US" sz="2500">
                <a:latin typeface="Poppins"/>
                <a:ea typeface="Poppins"/>
                <a:cs typeface="Poppins"/>
                <a:sym typeface="Poppins"/>
              </a:rPr>
              <a:t>Fumar (tabaco + vapes)</a:t>
            </a:r>
            <a:endParaRPr sz="2500">
              <a:latin typeface="Poppins"/>
              <a:ea typeface="Poppins"/>
              <a:cs typeface="Poppins"/>
              <a:sym typeface="Poppins"/>
            </a:endParaRPr>
          </a:p>
          <a:p>
            <a:pPr indent="-387350" lvl="0" marL="457200" rtl="0" algn="l">
              <a:lnSpc>
                <a:spcPct val="115000"/>
              </a:lnSpc>
              <a:spcBef>
                <a:spcPts val="0"/>
              </a:spcBef>
              <a:spcAft>
                <a:spcPts val="0"/>
              </a:spcAft>
              <a:buSzPts val="2500"/>
              <a:buFont typeface="Poppins"/>
              <a:buChar char="●"/>
            </a:pPr>
            <a:r>
              <a:rPr lang="en-US" sz="2500">
                <a:latin typeface="Poppins"/>
                <a:ea typeface="Poppins"/>
                <a:cs typeface="Poppins"/>
                <a:sym typeface="Poppins"/>
              </a:rPr>
              <a:t>Depresión (multiples preguntas)</a:t>
            </a:r>
            <a:endParaRPr sz="2500">
              <a:latin typeface="Poppins"/>
              <a:ea typeface="Poppins"/>
              <a:cs typeface="Poppins"/>
              <a:sym typeface="Poppins"/>
            </a:endParaRPr>
          </a:p>
          <a:p>
            <a:pPr indent="-387350" lvl="0" marL="457200" rtl="0" algn="l">
              <a:lnSpc>
                <a:spcPct val="115000"/>
              </a:lnSpc>
              <a:spcBef>
                <a:spcPts val="0"/>
              </a:spcBef>
              <a:spcAft>
                <a:spcPts val="0"/>
              </a:spcAft>
              <a:buSzPts val="2500"/>
              <a:buFont typeface="Poppins"/>
              <a:buChar char="●"/>
            </a:pPr>
            <a:r>
              <a:rPr lang="en-US" sz="2500">
                <a:latin typeface="Poppins"/>
                <a:ea typeface="Poppins"/>
                <a:cs typeface="Poppins"/>
                <a:sym typeface="Poppins"/>
              </a:rPr>
              <a:t>Desórdenes alimenticios (multiples preguntas)</a:t>
            </a:r>
            <a:endParaRPr sz="2500">
              <a:latin typeface="Poppins"/>
              <a:ea typeface="Poppins"/>
              <a:cs typeface="Poppins"/>
              <a:sym typeface="Poppins"/>
            </a:endParaRPr>
          </a:p>
          <a:p>
            <a:pPr indent="-387350" lvl="0" marL="457200" rtl="0" algn="l">
              <a:lnSpc>
                <a:spcPct val="115000"/>
              </a:lnSpc>
              <a:spcBef>
                <a:spcPts val="0"/>
              </a:spcBef>
              <a:spcAft>
                <a:spcPts val="0"/>
              </a:spcAft>
              <a:buSzPts val="2500"/>
              <a:buFont typeface="Poppins"/>
              <a:buChar char="●"/>
            </a:pPr>
            <a:r>
              <a:rPr lang="en-US" sz="2500">
                <a:latin typeface="Poppins"/>
                <a:ea typeface="Poppins"/>
                <a:cs typeface="Poppins"/>
                <a:sym typeface="Poppins"/>
              </a:rPr>
              <a:t>Drogas ilícitas (mariguana + heroina + etc.)</a:t>
            </a:r>
            <a:endParaRPr sz="2500">
              <a:latin typeface="Poppins"/>
              <a:ea typeface="Poppins"/>
              <a:cs typeface="Poppins"/>
              <a:sym typeface="Poppins"/>
            </a:endParaRPr>
          </a:p>
          <a:p>
            <a:pPr indent="0" lvl="0" marL="0" rtl="0" algn="l">
              <a:lnSpc>
                <a:spcPct val="115000"/>
              </a:lnSpc>
              <a:spcBef>
                <a:spcPts val="1200"/>
              </a:spcBef>
              <a:spcAft>
                <a:spcPts val="0"/>
              </a:spcAft>
              <a:buNone/>
            </a:pPr>
            <a:r>
              <a:t/>
            </a:r>
            <a:endParaRPr sz="2500">
              <a:latin typeface="Poppins"/>
              <a:ea typeface="Poppins"/>
              <a:cs typeface="Poppins"/>
              <a:sym typeface="Poppins"/>
            </a:endParaRPr>
          </a:p>
          <a:p>
            <a:pPr indent="0" lvl="0" marL="0" rtl="0" algn="l">
              <a:lnSpc>
                <a:spcPct val="115000"/>
              </a:lnSpc>
              <a:spcBef>
                <a:spcPts val="0"/>
              </a:spcBef>
              <a:spcAft>
                <a:spcPts val="0"/>
              </a:spcAft>
              <a:buNone/>
            </a:pPr>
            <a:r>
              <a:rPr lang="en-US" sz="2500">
                <a:latin typeface="Poppins"/>
                <a:ea typeface="Poppins"/>
                <a:cs typeface="Poppins"/>
                <a:sym typeface="Poppins"/>
              </a:rPr>
              <a:t>La base final se dividió en tres subconjuntos de modelación:</a:t>
            </a:r>
            <a:endParaRPr sz="2500">
              <a:latin typeface="Poppins"/>
              <a:ea typeface="Poppins"/>
              <a:cs typeface="Poppins"/>
              <a:sym typeface="Poppins"/>
            </a:endParaRPr>
          </a:p>
          <a:p>
            <a:pPr indent="-387350" lvl="0" marL="457200" rtl="0" algn="l">
              <a:lnSpc>
                <a:spcPct val="115000"/>
              </a:lnSpc>
              <a:spcBef>
                <a:spcPts val="1200"/>
              </a:spcBef>
              <a:spcAft>
                <a:spcPts val="0"/>
              </a:spcAft>
              <a:buSzPts val="2500"/>
              <a:buFont typeface="Poppins"/>
              <a:buChar char="●"/>
            </a:pPr>
            <a:r>
              <a:rPr lang="en-US" sz="2500">
                <a:latin typeface="Poppins"/>
                <a:ea typeface="Poppins"/>
                <a:cs typeface="Poppins"/>
                <a:sym typeface="Poppins"/>
              </a:rPr>
              <a:t>10–11 años</a:t>
            </a:r>
            <a:endParaRPr sz="2500">
              <a:latin typeface="Poppins"/>
              <a:ea typeface="Poppins"/>
              <a:cs typeface="Poppins"/>
              <a:sym typeface="Poppins"/>
            </a:endParaRPr>
          </a:p>
          <a:p>
            <a:pPr indent="-387350" lvl="0" marL="457200" rtl="0" algn="l">
              <a:lnSpc>
                <a:spcPct val="115000"/>
              </a:lnSpc>
              <a:spcBef>
                <a:spcPts val="0"/>
              </a:spcBef>
              <a:spcAft>
                <a:spcPts val="0"/>
              </a:spcAft>
              <a:buSzPts val="2500"/>
              <a:buFont typeface="Poppins"/>
              <a:buChar char="●"/>
            </a:pPr>
            <a:r>
              <a:rPr lang="en-US" sz="2500">
                <a:latin typeface="Poppins"/>
                <a:ea typeface="Poppins"/>
                <a:cs typeface="Poppins"/>
                <a:sym typeface="Poppins"/>
              </a:rPr>
              <a:t>Hombres de 12–17 años</a:t>
            </a:r>
            <a:endParaRPr sz="2500">
              <a:latin typeface="Poppins"/>
              <a:ea typeface="Poppins"/>
              <a:cs typeface="Poppins"/>
              <a:sym typeface="Poppins"/>
            </a:endParaRPr>
          </a:p>
          <a:p>
            <a:pPr indent="-387350" lvl="0" marL="457200" rtl="0" algn="l">
              <a:lnSpc>
                <a:spcPct val="115000"/>
              </a:lnSpc>
              <a:spcBef>
                <a:spcPts val="0"/>
              </a:spcBef>
              <a:spcAft>
                <a:spcPts val="0"/>
              </a:spcAft>
              <a:buSzPts val="2500"/>
              <a:buFont typeface="Poppins"/>
              <a:buChar char="●"/>
            </a:pPr>
            <a:r>
              <a:rPr lang="en-US" sz="2500">
                <a:latin typeface="Poppins"/>
                <a:ea typeface="Poppins"/>
                <a:cs typeface="Poppins"/>
                <a:sym typeface="Poppins"/>
              </a:rPr>
              <a:t>Mujeres de 12–17 años</a:t>
            </a:r>
            <a:endParaRPr sz="2500">
              <a:latin typeface="Poppins"/>
              <a:ea typeface="Poppins"/>
              <a:cs typeface="Poppins"/>
              <a:sym typeface="Poppins"/>
            </a:endParaRPr>
          </a:p>
          <a:p>
            <a:pPr indent="0" lvl="0" marL="0" rtl="0" algn="l">
              <a:lnSpc>
                <a:spcPct val="115000"/>
              </a:lnSpc>
              <a:spcBef>
                <a:spcPts val="1200"/>
              </a:spcBef>
              <a:spcAft>
                <a:spcPts val="0"/>
              </a:spcAft>
              <a:buNone/>
            </a:pPr>
            <a:r>
              <a:t/>
            </a:r>
            <a:endParaRPr sz="2500">
              <a:latin typeface="Poppins"/>
              <a:ea typeface="Poppins"/>
              <a:cs typeface="Poppins"/>
              <a:sym typeface="Poppins"/>
            </a:endParaRPr>
          </a:p>
          <a:p>
            <a:pPr indent="0" lvl="0" marL="0" rtl="0" algn="l">
              <a:lnSpc>
                <a:spcPct val="115000"/>
              </a:lnSpc>
              <a:spcBef>
                <a:spcPts val="1200"/>
              </a:spcBef>
              <a:spcAft>
                <a:spcPts val="0"/>
              </a:spcAft>
              <a:buNone/>
            </a:pPr>
            <a:r>
              <a:rPr lang="en-US" sz="2500">
                <a:latin typeface="Poppins"/>
                <a:ea typeface="Poppins"/>
                <a:cs typeface="Poppins"/>
                <a:sym typeface="Poppins"/>
              </a:rPr>
              <a:t>Esta segmentación se realizó porque no todas las variables aplicaban igual a todos los grupos y para mantener coherencia en la construcción de predictores</a:t>
            </a:r>
            <a:endParaRPr sz="2500">
              <a:latin typeface="Poppins"/>
              <a:ea typeface="Poppins"/>
              <a:cs typeface="Poppins"/>
              <a:sym typeface="Poppins"/>
            </a:endParaRPr>
          </a:p>
        </p:txBody>
      </p:sp>
      <p:sp>
        <p:nvSpPr>
          <p:cNvPr id="138" name="Google Shape;138;g3d44c00b686_0_103"/>
          <p:cNvSpPr txBox="1"/>
          <p:nvPr/>
        </p:nvSpPr>
        <p:spPr>
          <a:xfrm>
            <a:off x="840353" y="737450"/>
            <a:ext cx="16687800" cy="769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5000">
                <a:solidFill>
                  <a:srgbClr val="2758E6"/>
                </a:solidFill>
                <a:latin typeface="Poppins"/>
                <a:ea typeface="Poppins"/>
                <a:cs typeface="Poppins"/>
                <a:sym typeface="Poppins"/>
              </a:rPr>
              <a:t>ESTRUCTURA TÉCNICA - DETALLE DE PREDICTORES</a:t>
            </a:r>
            <a:endParaRPr b="1" sz="5000">
              <a:solidFill>
                <a:srgbClr val="2758E6"/>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graphicFrame>
        <p:nvGraphicFramePr>
          <p:cNvPr id="143" name="Google Shape;143;g3d44c00b686_0_108"/>
          <p:cNvGraphicFramePr/>
          <p:nvPr/>
        </p:nvGraphicFramePr>
        <p:xfrm>
          <a:off x="541950" y="3031575"/>
          <a:ext cx="3000000" cy="3000000"/>
        </p:xfrm>
        <a:graphic>
          <a:graphicData uri="http://schemas.openxmlformats.org/drawingml/2006/table">
            <a:tbl>
              <a:tblPr>
                <a:noFill/>
                <a:tableStyleId>{C58B7EC8-99AB-4F0E-984D-B307BBA72E6C}</a:tableStyleId>
              </a:tblPr>
              <a:tblGrid>
                <a:gridCol w="3094525"/>
                <a:gridCol w="4703175"/>
                <a:gridCol w="4703175"/>
                <a:gridCol w="4703175"/>
              </a:tblGrid>
              <a:tr h="500825">
                <a:tc>
                  <a:txBody>
                    <a:bodyPr/>
                    <a:lstStyle/>
                    <a:p>
                      <a:pPr indent="0" lvl="0" marL="0" rtl="0" algn="l">
                        <a:spcBef>
                          <a:spcPts val="0"/>
                        </a:spcBef>
                        <a:spcAft>
                          <a:spcPts val="0"/>
                        </a:spcAft>
                        <a:buNone/>
                      </a:pPr>
                      <a:r>
                        <a:t/>
                      </a:r>
                      <a:endParaRPr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US" sz="2000">
                          <a:latin typeface="Poppins"/>
                          <a:ea typeface="Poppins"/>
                          <a:cs typeface="Poppins"/>
                          <a:sym typeface="Poppins"/>
                        </a:rPr>
                        <a:t>Árbol de decisión</a:t>
                      </a:r>
                      <a:endParaRPr b="1"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US" sz="2000">
                          <a:latin typeface="Poppins"/>
                          <a:ea typeface="Poppins"/>
                          <a:cs typeface="Poppins"/>
                          <a:sym typeface="Poppins"/>
                        </a:rPr>
                        <a:t>Regresión logística</a:t>
                      </a:r>
                      <a:endParaRPr b="1" sz="2000">
                        <a:latin typeface="Poppins"/>
                        <a:ea typeface="Poppins"/>
                        <a:cs typeface="Poppins"/>
                        <a:sym typeface="Poppins"/>
                      </a:endParaRPr>
                    </a:p>
                  </a:txBody>
                  <a:tcPr marT="91425" marB="91425" marR="91425" marL="91425" anchor="ctr">
                    <a:lnL cap="flat" cmpd="sng" w="95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US" sz="2000">
                          <a:latin typeface="Poppins"/>
                          <a:ea typeface="Poppins"/>
                          <a:cs typeface="Poppins"/>
                          <a:sym typeface="Poppins"/>
                        </a:rPr>
                        <a:t>KNN</a:t>
                      </a:r>
                      <a:endParaRPr b="1" sz="2000">
                        <a:latin typeface="Poppins"/>
                        <a:ea typeface="Poppins"/>
                        <a:cs typeface="Poppins"/>
                        <a:sym typeface="Poppins"/>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000000"/>
                      </a:solidFill>
                      <a:prstDash val="solid"/>
                      <a:round/>
                      <a:headEnd len="sm" w="sm" type="none"/>
                      <a:tailEnd len="sm" w="sm" type="none"/>
                    </a:lnB>
                  </a:tcPr>
                </a:tc>
              </a:tr>
              <a:tr h="481600">
                <a:tc>
                  <a:txBody>
                    <a:bodyPr/>
                    <a:lstStyle/>
                    <a:p>
                      <a:pPr indent="0" lvl="0" marL="0" rtl="0" algn="r">
                        <a:spcBef>
                          <a:spcPts val="0"/>
                        </a:spcBef>
                        <a:spcAft>
                          <a:spcPts val="0"/>
                        </a:spcAft>
                        <a:buNone/>
                      </a:pPr>
                      <a:r>
                        <a:rPr b="1" lang="en-US" sz="2000">
                          <a:latin typeface="Poppins"/>
                          <a:ea typeface="Poppins"/>
                          <a:cs typeface="Poppins"/>
                          <a:sym typeface="Poppins"/>
                        </a:rPr>
                        <a:t>Supuestos</a:t>
                      </a:r>
                      <a:endParaRPr b="1"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US" sz="2000">
                          <a:latin typeface="Poppins"/>
                          <a:ea typeface="Poppins"/>
                          <a:cs typeface="Poppins"/>
                          <a:sym typeface="Poppins"/>
                        </a:rPr>
                        <a:t>Estructura jerárquica</a:t>
                      </a:r>
                      <a:endParaRPr sz="2000">
                        <a:latin typeface="Poppins"/>
                        <a:ea typeface="Poppins"/>
                        <a:cs typeface="Poppins"/>
                        <a:sym typeface="Poppins"/>
                      </a:endParaRPr>
                    </a:p>
                    <a:p>
                      <a:pPr indent="0" lvl="0" marL="0" rtl="0" algn="l">
                        <a:spcBef>
                          <a:spcPts val="0"/>
                        </a:spcBef>
                        <a:spcAft>
                          <a:spcPts val="0"/>
                        </a:spcAft>
                        <a:buNone/>
                      </a:pPr>
                      <a:r>
                        <a:t/>
                      </a:r>
                      <a:endParaRPr sz="2000">
                        <a:latin typeface="Poppins"/>
                        <a:ea typeface="Poppins"/>
                        <a:cs typeface="Poppins"/>
                        <a:sym typeface="Poppins"/>
                      </a:endParaRPr>
                    </a:p>
                    <a:p>
                      <a:pPr indent="0" lvl="0" marL="0" rtl="0" algn="l">
                        <a:spcBef>
                          <a:spcPts val="0"/>
                        </a:spcBef>
                        <a:spcAft>
                          <a:spcPts val="0"/>
                        </a:spcAft>
                        <a:buNone/>
                      </a:pPr>
                      <a:r>
                        <a:rPr lang="en-US" sz="2000">
                          <a:latin typeface="Poppins"/>
                          <a:ea typeface="Poppins"/>
                          <a:cs typeface="Poppins"/>
                          <a:sym typeface="Poppins"/>
                        </a:rPr>
                        <a:t>Decisiones binarias</a:t>
                      </a:r>
                      <a:endParaRPr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000">
                          <a:solidFill>
                            <a:schemeClr val="dk1"/>
                          </a:solidFill>
                          <a:latin typeface="Poppins"/>
                          <a:ea typeface="Poppins"/>
                          <a:cs typeface="Poppins"/>
                          <a:sym typeface="Poppins"/>
                        </a:rPr>
                        <a:t>Relación lineal de log-odds</a:t>
                      </a:r>
                      <a:endParaRPr sz="20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US" sz="2000">
                          <a:solidFill>
                            <a:schemeClr val="dk1"/>
                          </a:solidFill>
                          <a:latin typeface="Poppins"/>
                          <a:ea typeface="Poppins"/>
                          <a:cs typeface="Poppins"/>
                          <a:sym typeface="Poppins"/>
                        </a:rPr>
                        <a:t>Variable dependiente dicotómica</a:t>
                      </a:r>
                      <a:endParaRPr sz="2000">
                        <a:latin typeface="Poppins"/>
                        <a:ea typeface="Poppins"/>
                        <a:cs typeface="Poppins"/>
                        <a:sym typeface="Poppins"/>
                      </a:endParaRPr>
                    </a:p>
                  </a:txBody>
                  <a:tcPr marT="91425" marB="91425" marR="91425" marL="91425" anchor="ctr">
                    <a:lnL cap="flat" cmpd="sng" w="95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Poppins"/>
                          <a:ea typeface="Poppins"/>
                          <a:cs typeface="Poppins"/>
                          <a:sym typeface="Poppins"/>
                        </a:rPr>
                        <a:t>Funciona a base de distancias</a:t>
                      </a:r>
                      <a:endParaRPr sz="20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US" sz="2000">
                          <a:solidFill>
                            <a:schemeClr val="dk1"/>
                          </a:solidFill>
                          <a:latin typeface="Poppins"/>
                          <a:ea typeface="Poppins"/>
                          <a:cs typeface="Poppins"/>
                          <a:sym typeface="Poppins"/>
                        </a:rPr>
                        <a:t>Mantener escalas similares</a:t>
                      </a:r>
                      <a:endParaRPr sz="2000">
                        <a:latin typeface="Poppins"/>
                        <a:ea typeface="Poppins"/>
                        <a:cs typeface="Poppins"/>
                        <a:sym typeface="Poppins"/>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1600">
                <a:tc>
                  <a:txBody>
                    <a:bodyPr/>
                    <a:lstStyle/>
                    <a:p>
                      <a:pPr indent="0" lvl="0" marL="0" rtl="0" algn="r">
                        <a:spcBef>
                          <a:spcPts val="0"/>
                        </a:spcBef>
                        <a:spcAft>
                          <a:spcPts val="0"/>
                        </a:spcAft>
                        <a:buNone/>
                      </a:pPr>
                      <a:r>
                        <a:rPr b="1" lang="en-US" sz="2000">
                          <a:latin typeface="Poppins"/>
                          <a:ea typeface="Poppins"/>
                          <a:cs typeface="Poppins"/>
                          <a:sym typeface="Poppins"/>
                        </a:rPr>
                        <a:t>Ventajas</a:t>
                      </a:r>
                      <a:endParaRPr b="1"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US" sz="2000">
                          <a:latin typeface="Poppins"/>
                          <a:ea typeface="Poppins"/>
                          <a:cs typeface="Poppins"/>
                          <a:sym typeface="Poppins"/>
                        </a:rPr>
                        <a:t>Alta interpretabilidad</a:t>
                      </a:r>
                      <a:endParaRPr sz="2000">
                        <a:latin typeface="Poppins"/>
                        <a:ea typeface="Poppins"/>
                        <a:cs typeface="Poppins"/>
                        <a:sym typeface="Poppins"/>
                      </a:endParaRPr>
                    </a:p>
                    <a:p>
                      <a:pPr indent="0" lvl="0" marL="0" rtl="0" algn="l">
                        <a:spcBef>
                          <a:spcPts val="0"/>
                        </a:spcBef>
                        <a:spcAft>
                          <a:spcPts val="0"/>
                        </a:spcAft>
                        <a:buNone/>
                      </a:pPr>
                      <a:r>
                        <a:t/>
                      </a:r>
                      <a:endParaRPr sz="2000">
                        <a:latin typeface="Poppins"/>
                        <a:ea typeface="Poppins"/>
                        <a:cs typeface="Poppins"/>
                        <a:sym typeface="Poppins"/>
                      </a:endParaRPr>
                    </a:p>
                    <a:p>
                      <a:pPr indent="0" lvl="0" marL="0" rtl="0" algn="l">
                        <a:spcBef>
                          <a:spcPts val="0"/>
                        </a:spcBef>
                        <a:spcAft>
                          <a:spcPts val="0"/>
                        </a:spcAft>
                        <a:buNone/>
                      </a:pPr>
                      <a:r>
                        <a:rPr lang="en-US" sz="2000">
                          <a:latin typeface="Poppins"/>
                          <a:ea typeface="Poppins"/>
                          <a:cs typeface="Poppins"/>
                          <a:sym typeface="Poppins"/>
                        </a:rPr>
                        <a:t>No requiere normalizaci</a:t>
                      </a:r>
                      <a:r>
                        <a:rPr lang="en-US" sz="2000">
                          <a:latin typeface="Poppins"/>
                          <a:ea typeface="Poppins"/>
                          <a:cs typeface="Poppins"/>
                          <a:sym typeface="Poppins"/>
                        </a:rPr>
                        <a:t>ón</a:t>
                      </a:r>
                      <a:endParaRPr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000">
                          <a:solidFill>
                            <a:schemeClr val="dk1"/>
                          </a:solidFill>
                          <a:latin typeface="Poppins"/>
                          <a:ea typeface="Poppins"/>
                          <a:cs typeface="Poppins"/>
                          <a:sym typeface="Poppins"/>
                        </a:rPr>
                        <a:t>Alta interpretabilidad</a:t>
                      </a:r>
                      <a:endParaRPr sz="2000">
                        <a:solidFill>
                          <a:schemeClr val="dk1"/>
                        </a:solidFill>
                        <a:latin typeface="Poppins"/>
                        <a:ea typeface="Poppins"/>
                        <a:cs typeface="Poppins"/>
                        <a:sym typeface="Poppins"/>
                      </a:endParaRPr>
                    </a:p>
                    <a:p>
                      <a:pPr indent="0" lvl="0" marL="0" rtl="0" algn="l">
                        <a:spcBef>
                          <a:spcPts val="0"/>
                        </a:spcBef>
                        <a:spcAft>
                          <a:spcPts val="0"/>
                        </a:spcAft>
                        <a:buNone/>
                      </a:pPr>
                      <a:r>
                        <a:t/>
                      </a:r>
                      <a:endParaRPr sz="20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US" sz="2000">
                          <a:solidFill>
                            <a:schemeClr val="dk1"/>
                          </a:solidFill>
                          <a:latin typeface="Poppins"/>
                          <a:ea typeface="Poppins"/>
                          <a:cs typeface="Poppins"/>
                          <a:sym typeface="Poppins"/>
                        </a:rPr>
                        <a:t>Calculo de probabilidades</a:t>
                      </a:r>
                      <a:endParaRPr sz="2000">
                        <a:latin typeface="Poppins"/>
                        <a:ea typeface="Poppins"/>
                        <a:cs typeface="Poppins"/>
                        <a:sym typeface="Poppins"/>
                      </a:endParaRPr>
                    </a:p>
                  </a:txBody>
                  <a:tcPr marT="91425" marB="91425" marR="91425" marL="91425" anchor="ctr">
                    <a:lnL cap="flat" cmpd="sng" w="95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000">
                          <a:solidFill>
                            <a:schemeClr val="dk1"/>
                          </a:solidFill>
                          <a:latin typeface="Poppins"/>
                          <a:ea typeface="Poppins"/>
                          <a:cs typeface="Poppins"/>
                          <a:sym typeface="Poppins"/>
                        </a:rPr>
                        <a:t>Lazy Learner - entrenamiento</a:t>
                      </a:r>
                      <a:endParaRPr sz="2000">
                        <a:solidFill>
                          <a:schemeClr val="dk1"/>
                        </a:solidFill>
                        <a:latin typeface="Poppins"/>
                        <a:ea typeface="Poppins"/>
                        <a:cs typeface="Poppins"/>
                        <a:sym typeface="Poppins"/>
                      </a:endParaRPr>
                    </a:p>
                    <a:p>
                      <a:pPr indent="0" lvl="0" marL="0" rtl="0" algn="l">
                        <a:spcBef>
                          <a:spcPts val="0"/>
                        </a:spcBef>
                        <a:spcAft>
                          <a:spcPts val="0"/>
                        </a:spcAft>
                        <a:buNone/>
                      </a:pPr>
                      <a:r>
                        <a:t/>
                      </a:r>
                      <a:endParaRPr sz="2000">
                        <a:solidFill>
                          <a:schemeClr val="dk1"/>
                        </a:solidFill>
                        <a:latin typeface="Poppins"/>
                        <a:ea typeface="Poppins"/>
                        <a:cs typeface="Poppins"/>
                        <a:sym typeface="Poppins"/>
                      </a:endParaRPr>
                    </a:p>
                    <a:p>
                      <a:pPr indent="0" lvl="0" marL="0" rtl="0" algn="l">
                        <a:spcBef>
                          <a:spcPts val="0"/>
                        </a:spcBef>
                        <a:spcAft>
                          <a:spcPts val="0"/>
                        </a:spcAft>
                        <a:buNone/>
                      </a:pPr>
                      <a:r>
                        <a:rPr lang="en-US" sz="2000">
                          <a:solidFill>
                            <a:schemeClr val="dk1"/>
                          </a:solidFill>
                          <a:latin typeface="Poppins"/>
                          <a:ea typeface="Poppins"/>
                          <a:cs typeface="Poppins"/>
                          <a:sym typeface="Poppins"/>
                        </a:rPr>
                        <a:t>No paramétrico</a:t>
                      </a:r>
                      <a:endParaRPr sz="2000">
                        <a:solidFill>
                          <a:schemeClr val="dk1"/>
                        </a:solidFill>
                        <a:latin typeface="Poppins"/>
                        <a:ea typeface="Poppins"/>
                        <a:cs typeface="Poppins"/>
                        <a:sym typeface="Poppins"/>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1600">
                <a:tc>
                  <a:txBody>
                    <a:bodyPr/>
                    <a:lstStyle/>
                    <a:p>
                      <a:pPr indent="0" lvl="0" marL="0" rtl="0" algn="r">
                        <a:spcBef>
                          <a:spcPts val="0"/>
                        </a:spcBef>
                        <a:spcAft>
                          <a:spcPts val="0"/>
                        </a:spcAft>
                        <a:buNone/>
                      </a:pPr>
                      <a:r>
                        <a:rPr b="1" lang="en-US" sz="2000">
                          <a:latin typeface="Poppins"/>
                          <a:ea typeface="Poppins"/>
                          <a:cs typeface="Poppins"/>
                          <a:sym typeface="Poppins"/>
                        </a:rPr>
                        <a:t>Desventajas</a:t>
                      </a:r>
                      <a:endParaRPr b="1"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US" sz="2000">
                          <a:latin typeface="Poppins"/>
                          <a:ea typeface="Poppins"/>
                          <a:cs typeface="Poppins"/>
                          <a:sym typeface="Poppins"/>
                        </a:rPr>
                        <a:t>Puede facilmente sobreajustarse</a:t>
                      </a:r>
                      <a:endParaRPr sz="2000">
                        <a:latin typeface="Poppins"/>
                        <a:ea typeface="Poppins"/>
                        <a:cs typeface="Poppins"/>
                        <a:sym typeface="Poppins"/>
                      </a:endParaRPr>
                    </a:p>
                    <a:p>
                      <a:pPr indent="0" lvl="0" marL="0" rtl="0" algn="l">
                        <a:spcBef>
                          <a:spcPts val="0"/>
                        </a:spcBef>
                        <a:spcAft>
                          <a:spcPts val="0"/>
                        </a:spcAft>
                        <a:buNone/>
                      </a:pPr>
                      <a:r>
                        <a:t/>
                      </a:r>
                      <a:endParaRPr sz="2000">
                        <a:latin typeface="Poppins"/>
                        <a:ea typeface="Poppins"/>
                        <a:cs typeface="Poppins"/>
                        <a:sym typeface="Poppins"/>
                      </a:endParaRPr>
                    </a:p>
                    <a:p>
                      <a:pPr indent="0" lvl="0" marL="0" rtl="0" algn="l">
                        <a:spcBef>
                          <a:spcPts val="0"/>
                        </a:spcBef>
                        <a:spcAft>
                          <a:spcPts val="0"/>
                        </a:spcAft>
                        <a:buNone/>
                      </a:pPr>
                      <a:r>
                        <a:rPr lang="en-US" sz="2000">
                          <a:latin typeface="Poppins"/>
                          <a:ea typeface="Poppins"/>
                          <a:cs typeface="Poppins"/>
                          <a:sym typeface="Poppins"/>
                        </a:rPr>
                        <a:t>Sensibles a desbalance de clases</a:t>
                      </a:r>
                      <a:endParaRPr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000">
                          <a:solidFill>
                            <a:schemeClr val="dk1"/>
                          </a:solidFill>
                          <a:latin typeface="Poppins"/>
                          <a:ea typeface="Poppins"/>
                          <a:cs typeface="Poppins"/>
                          <a:sym typeface="Poppins"/>
                        </a:rPr>
                        <a:t>Relación lineal</a:t>
                      </a:r>
                      <a:endParaRPr sz="2000">
                        <a:solidFill>
                          <a:schemeClr val="dk1"/>
                        </a:solidFill>
                        <a:latin typeface="Poppins"/>
                        <a:ea typeface="Poppins"/>
                        <a:cs typeface="Poppins"/>
                        <a:sym typeface="Poppins"/>
                      </a:endParaRPr>
                    </a:p>
                    <a:p>
                      <a:pPr indent="0" lvl="0" marL="0" rtl="0" algn="l">
                        <a:spcBef>
                          <a:spcPts val="0"/>
                        </a:spcBef>
                        <a:spcAft>
                          <a:spcPts val="0"/>
                        </a:spcAft>
                        <a:buNone/>
                      </a:pPr>
                      <a:r>
                        <a:t/>
                      </a:r>
                      <a:endParaRPr sz="2000">
                        <a:solidFill>
                          <a:schemeClr val="dk1"/>
                        </a:solidFill>
                        <a:latin typeface="Poppins"/>
                        <a:ea typeface="Poppins"/>
                        <a:cs typeface="Poppins"/>
                        <a:sym typeface="Poppins"/>
                      </a:endParaRPr>
                    </a:p>
                    <a:p>
                      <a:pPr indent="0" lvl="0" marL="0" rtl="0" algn="l">
                        <a:spcBef>
                          <a:spcPts val="0"/>
                        </a:spcBef>
                        <a:spcAft>
                          <a:spcPts val="0"/>
                        </a:spcAft>
                        <a:buNone/>
                      </a:pPr>
                      <a:r>
                        <a:rPr lang="en-US" sz="2000">
                          <a:solidFill>
                            <a:schemeClr val="dk1"/>
                          </a:solidFill>
                          <a:latin typeface="Poppins"/>
                          <a:ea typeface="Poppins"/>
                          <a:cs typeface="Poppins"/>
                          <a:sym typeface="Poppins"/>
                        </a:rPr>
                        <a:t>Sensibilidad a outliers</a:t>
                      </a:r>
                      <a:endParaRPr sz="2000">
                        <a:solidFill>
                          <a:schemeClr val="dk1"/>
                        </a:solidFill>
                        <a:latin typeface="Poppins"/>
                        <a:ea typeface="Poppins"/>
                        <a:cs typeface="Poppins"/>
                        <a:sym typeface="Poppins"/>
                      </a:endParaRPr>
                    </a:p>
                  </a:txBody>
                  <a:tcPr marT="91425" marB="91425" marR="91425" marL="91425" anchor="ctr">
                    <a:lnL cap="flat" cmpd="sng" w="95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Poppins"/>
                          <a:ea typeface="Poppins"/>
                          <a:cs typeface="Poppins"/>
                          <a:sym typeface="Poppins"/>
                        </a:rPr>
                        <a:t>Lazy Learner - predicción</a:t>
                      </a:r>
                      <a:endParaRPr sz="2000">
                        <a:solidFill>
                          <a:schemeClr val="dk1"/>
                        </a:solidFill>
                        <a:latin typeface="Poppins"/>
                        <a:ea typeface="Poppins"/>
                        <a:cs typeface="Poppins"/>
                        <a:sym typeface="Poppins"/>
                      </a:endParaRPr>
                    </a:p>
                    <a:p>
                      <a:pPr indent="0" lvl="0" marL="0" rtl="0" algn="l">
                        <a:spcBef>
                          <a:spcPts val="0"/>
                        </a:spcBef>
                        <a:spcAft>
                          <a:spcPts val="0"/>
                        </a:spcAft>
                        <a:buNone/>
                      </a:pPr>
                      <a:r>
                        <a:t/>
                      </a:r>
                      <a:endParaRPr sz="2000">
                        <a:solidFill>
                          <a:schemeClr val="dk1"/>
                        </a:solidFill>
                        <a:latin typeface="Poppins"/>
                        <a:ea typeface="Poppins"/>
                        <a:cs typeface="Poppins"/>
                        <a:sym typeface="Poppins"/>
                      </a:endParaRPr>
                    </a:p>
                    <a:p>
                      <a:pPr indent="0" lvl="0" marL="0" rtl="0" algn="l">
                        <a:spcBef>
                          <a:spcPts val="0"/>
                        </a:spcBef>
                        <a:spcAft>
                          <a:spcPts val="0"/>
                        </a:spcAft>
                        <a:buNone/>
                      </a:pPr>
                      <a:r>
                        <a:rPr lang="en-US" sz="2000">
                          <a:solidFill>
                            <a:schemeClr val="dk1"/>
                          </a:solidFill>
                          <a:latin typeface="Poppins"/>
                          <a:ea typeface="Poppins"/>
                          <a:cs typeface="Poppins"/>
                          <a:sym typeface="Poppins"/>
                        </a:rPr>
                        <a:t>Requiere normalización</a:t>
                      </a:r>
                      <a:endParaRPr sz="2000">
                        <a:solidFill>
                          <a:schemeClr val="dk1"/>
                        </a:solidFill>
                        <a:latin typeface="Poppins"/>
                        <a:ea typeface="Poppins"/>
                        <a:cs typeface="Poppins"/>
                        <a:sym typeface="Poppins"/>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1600">
                <a:tc>
                  <a:txBody>
                    <a:bodyPr/>
                    <a:lstStyle/>
                    <a:p>
                      <a:pPr indent="0" lvl="0" marL="0" rtl="0" algn="r">
                        <a:spcBef>
                          <a:spcPts val="0"/>
                        </a:spcBef>
                        <a:spcAft>
                          <a:spcPts val="0"/>
                        </a:spcAft>
                        <a:buNone/>
                      </a:pPr>
                      <a:r>
                        <a:rPr b="1" lang="en-US" sz="2000">
                          <a:latin typeface="Poppins"/>
                          <a:ea typeface="Poppins"/>
                          <a:cs typeface="Poppins"/>
                          <a:sym typeface="Poppins"/>
                        </a:rPr>
                        <a:t>Riesgo de sobreajuste</a:t>
                      </a:r>
                      <a:endParaRPr b="1"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Poppins"/>
                        <a:ea typeface="Poppins"/>
                        <a:cs typeface="Poppins"/>
                        <a:sym typeface="Poppins"/>
                      </a:endParaRPr>
                    </a:p>
                    <a:p>
                      <a:pPr indent="0" lvl="0" marL="0" rtl="0" algn="l">
                        <a:spcBef>
                          <a:spcPts val="0"/>
                        </a:spcBef>
                        <a:spcAft>
                          <a:spcPts val="0"/>
                        </a:spcAft>
                        <a:buNone/>
                      </a:pPr>
                      <a:r>
                        <a:rPr lang="en-US" sz="2000">
                          <a:latin typeface="Poppins"/>
                          <a:ea typeface="Poppins"/>
                          <a:cs typeface="Poppins"/>
                          <a:sym typeface="Poppins"/>
                        </a:rPr>
                        <a:t>Muy alto (controlar profundidad)</a:t>
                      </a:r>
                      <a:endParaRPr sz="2000">
                        <a:latin typeface="Poppins"/>
                        <a:ea typeface="Poppins"/>
                        <a:cs typeface="Poppins"/>
                        <a:sym typeface="Poppins"/>
                      </a:endParaRPr>
                    </a:p>
                    <a:p>
                      <a:pPr indent="0" lvl="0" marL="0" rtl="0" algn="l">
                        <a:spcBef>
                          <a:spcPts val="0"/>
                        </a:spcBef>
                        <a:spcAft>
                          <a:spcPts val="0"/>
                        </a:spcAft>
                        <a:buNone/>
                      </a:pPr>
                      <a:r>
                        <a:t/>
                      </a:r>
                      <a:endParaRPr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000">
                          <a:solidFill>
                            <a:schemeClr val="dk1"/>
                          </a:solidFill>
                          <a:latin typeface="Poppins"/>
                          <a:ea typeface="Poppins"/>
                          <a:cs typeface="Poppins"/>
                          <a:sym typeface="Poppins"/>
                        </a:rPr>
                        <a:t>Bajo (L1 - Lasso / L2 - Ridge)</a:t>
                      </a:r>
                      <a:endParaRPr sz="2000">
                        <a:latin typeface="Poppins"/>
                        <a:ea typeface="Poppins"/>
                        <a:cs typeface="Poppins"/>
                        <a:sym typeface="Poppins"/>
                      </a:endParaRPr>
                    </a:p>
                  </a:txBody>
                  <a:tcPr marT="91425" marB="91425" marR="91425" marL="91425" anchor="ctr">
                    <a:lnL cap="flat" cmpd="sng" w="95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000">
                          <a:solidFill>
                            <a:schemeClr val="dk1"/>
                          </a:solidFill>
                          <a:latin typeface="Poppins"/>
                          <a:ea typeface="Poppins"/>
                          <a:cs typeface="Poppins"/>
                          <a:sym typeface="Poppins"/>
                        </a:rPr>
                        <a:t>Medio (controla # vecinos)</a:t>
                      </a:r>
                      <a:endParaRPr sz="2000">
                        <a:latin typeface="Poppins"/>
                        <a:ea typeface="Poppins"/>
                        <a:cs typeface="Poppins"/>
                        <a:sym typeface="Poppins"/>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1600">
                <a:tc>
                  <a:txBody>
                    <a:bodyPr/>
                    <a:lstStyle/>
                    <a:p>
                      <a:pPr indent="0" lvl="0" marL="0" rtl="0" algn="r">
                        <a:spcBef>
                          <a:spcPts val="0"/>
                        </a:spcBef>
                        <a:spcAft>
                          <a:spcPts val="0"/>
                        </a:spcAft>
                        <a:buNone/>
                      </a:pPr>
                      <a:r>
                        <a:rPr b="1" lang="en-US" sz="2000">
                          <a:latin typeface="Poppins"/>
                          <a:ea typeface="Poppins"/>
                          <a:cs typeface="Poppins"/>
                          <a:sym typeface="Poppins"/>
                        </a:rPr>
                        <a:t>Interpretabilidad</a:t>
                      </a:r>
                      <a:endParaRPr b="1"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Poppins"/>
                        <a:ea typeface="Poppins"/>
                        <a:cs typeface="Poppins"/>
                        <a:sym typeface="Poppins"/>
                      </a:endParaRPr>
                    </a:p>
                    <a:p>
                      <a:pPr indent="0" lvl="0" marL="0" rtl="0" algn="l">
                        <a:spcBef>
                          <a:spcPts val="0"/>
                        </a:spcBef>
                        <a:spcAft>
                          <a:spcPts val="0"/>
                        </a:spcAft>
                        <a:buNone/>
                      </a:pPr>
                      <a:r>
                        <a:rPr lang="en-US" sz="2000">
                          <a:latin typeface="Poppins"/>
                          <a:ea typeface="Poppins"/>
                          <a:cs typeface="Poppins"/>
                          <a:sym typeface="Poppins"/>
                        </a:rPr>
                        <a:t>Alta (se puede ver el árbol)</a:t>
                      </a:r>
                      <a:endParaRPr sz="2000">
                        <a:latin typeface="Poppins"/>
                        <a:ea typeface="Poppins"/>
                        <a:cs typeface="Poppins"/>
                        <a:sym typeface="Poppins"/>
                      </a:endParaRPr>
                    </a:p>
                    <a:p>
                      <a:pPr indent="0" lvl="0" marL="0" rtl="0" algn="l">
                        <a:spcBef>
                          <a:spcPts val="0"/>
                        </a:spcBef>
                        <a:spcAft>
                          <a:spcPts val="0"/>
                        </a:spcAft>
                        <a:buNone/>
                      </a:pPr>
                      <a:r>
                        <a:t/>
                      </a:r>
                      <a:endParaRPr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t/>
                      </a:r>
                      <a:endParaRPr sz="20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US" sz="2000">
                          <a:solidFill>
                            <a:schemeClr val="dk1"/>
                          </a:solidFill>
                          <a:latin typeface="Poppins"/>
                          <a:ea typeface="Poppins"/>
                          <a:cs typeface="Poppins"/>
                          <a:sym typeface="Poppins"/>
                        </a:rPr>
                        <a:t>Alta (signo y valor de coeficiente)</a:t>
                      </a:r>
                      <a:endParaRPr sz="2000">
                        <a:solidFill>
                          <a:schemeClr val="dk1"/>
                        </a:solidFill>
                        <a:latin typeface="Poppins"/>
                        <a:ea typeface="Poppins"/>
                        <a:cs typeface="Poppins"/>
                        <a:sym typeface="Poppins"/>
                      </a:endParaRPr>
                    </a:p>
                    <a:p>
                      <a:pPr indent="0" lvl="0" marL="0" rtl="0" algn="l">
                        <a:spcBef>
                          <a:spcPts val="0"/>
                        </a:spcBef>
                        <a:spcAft>
                          <a:spcPts val="0"/>
                        </a:spcAft>
                        <a:buNone/>
                      </a:pPr>
                      <a:r>
                        <a:t/>
                      </a:r>
                      <a:endParaRPr sz="2000">
                        <a:solidFill>
                          <a:schemeClr val="dk1"/>
                        </a:solidFill>
                        <a:latin typeface="Poppins"/>
                        <a:ea typeface="Poppins"/>
                        <a:cs typeface="Poppins"/>
                        <a:sym typeface="Poppins"/>
                      </a:endParaRPr>
                    </a:p>
                  </a:txBody>
                  <a:tcPr marT="91425" marB="91425" marR="91425" marL="91425" anchor="ctr">
                    <a:lnL cap="flat" cmpd="sng" w="95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US" sz="2000">
                          <a:solidFill>
                            <a:schemeClr val="dk1"/>
                          </a:solidFill>
                          <a:latin typeface="Poppins"/>
                          <a:ea typeface="Poppins"/>
                          <a:cs typeface="Poppins"/>
                          <a:sym typeface="Poppins"/>
                        </a:rPr>
                        <a:t>Baja-Media (“son cercanos”)</a:t>
                      </a:r>
                      <a:endParaRPr sz="2000">
                        <a:latin typeface="Poppins"/>
                        <a:ea typeface="Poppins"/>
                        <a:cs typeface="Poppins"/>
                        <a:sym typeface="Poppins"/>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44" name="Google Shape;144;g3d44c00b686_0_108"/>
          <p:cNvSpPr txBox="1"/>
          <p:nvPr/>
        </p:nvSpPr>
        <p:spPr>
          <a:xfrm>
            <a:off x="840350" y="1738825"/>
            <a:ext cx="16687800" cy="942900"/>
          </a:xfrm>
          <a:prstGeom prst="rect">
            <a:avLst/>
          </a:prstGeom>
          <a:noFill/>
          <a:ln>
            <a:noFill/>
          </a:ln>
        </p:spPr>
        <p:txBody>
          <a:bodyPr anchorCtr="0" anchor="t" bIns="0" lIns="0" spcFirstLastPara="1" rIns="0" wrap="square" tIns="0">
            <a:spAutoFit/>
          </a:bodyPr>
          <a:lstStyle/>
          <a:p>
            <a:pPr indent="0" lvl="0" marL="0" marR="0" rtl="0" algn="just">
              <a:lnSpc>
                <a:spcPct val="145000"/>
              </a:lnSpc>
              <a:spcBef>
                <a:spcPts val="0"/>
              </a:spcBef>
              <a:spcAft>
                <a:spcPts val="0"/>
              </a:spcAft>
              <a:buNone/>
            </a:pPr>
            <a:r>
              <a:rPr b="1" lang="en-US" sz="2500">
                <a:latin typeface="Poppins"/>
                <a:ea typeface="Poppins"/>
                <a:cs typeface="Poppins"/>
                <a:sym typeface="Poppins"/>
              </a:rPr>
              <a:t>MODELOS BASE</a:t>
            </a:r>
            <a:endParaRPr sz="2500">
              <a:latin typeface="Poppins"/>
              <a:ea typeface="Poppins"/>
              <a:cs typeface="Poppins"/>
              <a:sym typeface="Poppins"/>
            </a:endParaRPr>
          </a:p>
          <a:p>
            <a:pPr indent="-387350" lvl="0" marL="4572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Se utilizaron 3 modelos base: </a:t>
            </a:r>
            <a:r>
              <a:rPr lang="en-US" sz="2500">
                <a:latin typeface="Poppins"/>
                <a:ea typeface="Poppins"/>
                <a:cs typeface="Poppins"/>
                <a:sym typeface="Poppins"/>
              </a:rPr>
              <a:t>árbol de decisión, regresión logística y KNN</a:t>
            </a:r>
            <a:endParaRPr sz="2500">
              <a:latin typeface="Poppins"/>
              <a:ea typeface="Poppins"/>
              <a:cs typeface="Poppins"/>
              <a:sym typeface="Poppins"/>
            </a:endParaRPr>
          </a:p>
        </p:txBody>
      </p:sp>
      <p:sp>
        <p:nvSpPr>
          <p:cNvPr id="145" name="Google Shape;145;g3d44c00b686_0_108"/>
          <p:cNvSpPr txBox="1"/>
          <p:nvPr/>
        </p:nvSpPr>
        <p:spPr>
          <a:xfrm>
            <a:off x="840353" y="737450"/>
            <a:ext cx="16687800" cy="769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5000">
                <a:solidFill>
                  <a:srgbClr val="2758E6"/>
                </a:solidFill>
                <a:latin typeface="Poppins"/>
                <a:ea typeface="Poppins"/>
                <a:cs typeface="Poppins"/>
                <a:sym typeface="Poppins"/>
              </a:rPr>
              <a:t>ESTRUCTURA TÉCNICA - MODELACI</a:t>
            </a:r>
            <a:r>
              <a:rPr b="1" lang="en-US" sz="5000">
                <a:solidFill>
                  <a:srgbClr val="2758E6"/>
                </a:solidFill>
                <a:latin typeface="Poppins"/>
                <a:ea typeface="Poppins"/>
                <a:cs typeface="Poppins"/>
                <a:sym typeface="Poppins"/>
              </a:rPr>
              <a:t>ÓN (1 / 2)</a:t>
            </a:r>
            <a:endParaRPr b="1" sz="5000">
              <a:solidFill>
                <a:srgbClr val="2758E6"/>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graphicFrame>
        <p:nvGraphicFramePr>
          <p:cNvPr id="150" name="Google Shape;150;g3d44c00b686_0_162"/>
          <p:cNvGraphicFramePr/>
          <p:nvPr/>
        </p:nvGraphicFramePr>
        <p:xfrm>
          <a:off x="541950" y="3031575"/>
          <a:ext cx="3000000" cy="3000000"/>
        </p:xfrm>
        <a:graphic>
          <a:graphicData uri="http://schemas.openxmlformats.org/drawingml/2006/table">
            <a:tbl>
              <a:tblPr>
                <a:noFill/>
                <a:tableStyleId>{C58B7EC8-99AB-4F0E-984D-B307BBA72E6C}</a:tableStyleId>
              </a:tblPr>
              <a:tblGrid>
                <a:gridCol w="3094525"/>
                <a:gridCol w="7054775"/>
                <a:gridCol w="7054775"/>
              </a:tblGrid>
              <a:tr h="500825">
                <a:tc>
                  <a:txBody>
                    <a:bodyPr/>
                    <a:lstStyle/>
                    <a:p>
                      <a:pPr indent="0" lvl="0" marL="0" rtl="0" algn="l">
                        <a:spcBef>
                          <a:spcPts val="0"/>
                        </a:spcBef>
                        <a:spcAft>
                          <a:spcPts val="0"/>
                        </a:spcAft>
                        <a:buNone/>
                      </a:pPr>
                      <a:r>
                        <a:t/>
                      </a:r>
                      <a:endParaRPr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US" sz="2000">
                          <a:latin typeface="Poppins"/>
                          <a:ea typeface="Poppins"/>
                          <a:cs typeface="Poppins"/>
                          <a:sym typeface="Poppins"/>
                        </a:rPr>
                        <a:t>Random forest</a:t>
                      </a:r>
                      <a:endParaRPr b="1"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US" sz="2000">
                          <a:latin typeface="Poppins"/>
                          <a:ea typeface="Poppins"/>
                          <a:cs typeface="Poppins"/>
                          <a:sym typeface="Poppins"/>
                        </a:rPr>
                        <a:t>Gradient boosting</a:t>
                      </a:r>
                      <a:endParaRPr b="1" sz="2000">
                        <a:latin typeface="Poppins"/>
                        <a:ea typeface="Poppins"/>
                        <a:cs typeface="Poppins"/>
                        <a:sym typeface="Poppins"/>
                      </a:endParaRPr>
                    </a:p>
                  </a:txBody>
                  <a:tcPr marT="91425" marB="91425" marR="91425" marL="91425" anchor="ctr">
                    <a:lnL cap="flat" cmpd="sng" w="9525">
                      <a:solidFill>
                        <a:srgbClr val="000000"/>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000000"/>
                      </a:solidFill>
                      <a:prstDash val="solid"/>
                      <a:round/>
                      <a:headEnd len="sm" w="sm" type="none"/>
                      <a:tailEnd len="sm" w="sm" type="none"/>
                    </a:lnB>
                  </a:tcPr>
                </a:tc>
              </a:tr>
              <a:tr h="481600">
                <a:tc>
                  <a:txBody>
                    <a:bodyPr/>
                    <a:lstStyle/>
                    <a:p>
                      <a:pPr indent="0" lvl="0" marL="0" rtl="0" algn="r">
                        <a:spcBef>
                          <a:spcPts val="0"/>
                        </a:spcBef>
                        <a:spcAft>
                          <a:spcPts val="0"/>
                        </a:spcAft>
                        <a:buNone/>
                      </a:pPr>
                      <a:r>
                        <a:rPr b="1" lang="en-US" sz="2000">
                          <a:latin typeface="Poppins"/>
                          <a:ea typeface="Poppins"/>
                          <a:cs typeface="Poppins"/>
                          <a:sym typeface="Poppins"/>
                        </a:rPr>
                        <a:t>Supuestos</a:t>
                      </a:r>
                      <a:endParaRPr b="1"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Poppins"/>
                          <a:ea typeface="Poppins"/>
                          <a:cs typeface="Poppins"/>
                          <a:sym typeface="Poppins"/>
                        </a:rPr>
                        <a:t>Modelo de ensamble (Bagging)</a:t>
                      </a:r>
                      <a:endParaRPr sz="2000">
                        <a:latin typeface="Poppins"/>
                        <a:ea typeface="Poppins"/>
                        <a:cs typeface="Poppins"/>
                        <a:sym typeface="Poppins"/>
                      </a:endParaRPr>
                    </a:p>
                    <a:p>
                      <a:pPr indent="0" lvl="0" marL="0" rtl="0" algn="l">
                        <a:spcBef>
                          <a:spcPts val="0"/>
                        </a:spcBef>
                        <a:spcAft>
                          <a:spcPts val="0"/>
                        </a:spcAft>
                        <a:buNone/>
                      </a:pPr>
                      <a:r>
                        <a:t/>
                      </a:r>
                      <a:endParaRPr sz="2000">
                        <a:latin typeface="Poppins"/>
                        <a:ea typeface="Poppins"/>
                        <a:cs typeface="Poppins"/>
                        <a:sym typeface="Poppins"/>
                      </a:endParaRPr>
                    </a:p>
                    <a:p>
                      <a:pPr indent="0" lvl="0" marL="0" rtl="0" algn="l">
                        <a:spcBef>
                          <a:spcPts val="0"/>
                        </a:spcBef>
                        <a:spcAft>
                          <a:spcPts val="0"/>
                        </a:spcAft>
                        <a:buNone/>
                      </a:pPr>
                      <a:r>
                        <a:rPr lang="en-US" sz="2000">
                          <a:latin typeface="Poppins"/>
                          <a:ea typeface="Poppins"/>
                          <a:cs typeface="Poppins"/>
                          <a:sym typeface="Poppins"/>
                        </a:rPr>
                        <a:t>Á</a:t>
                      </a:r>
                      <a:r>
                        <a:rPr lang="en-US" sz="2000">
                          <a:latin typeface="Poppins"/>
                          <a:ea typeface="Poppins"/>
                          <a:cs typeface="Poppins"/>
                          <a:sym typeface="Poppins"/>
                        </a:rPr>
                        <a:t>rboles de decisión independientes (bootstrapping)</a:t>
                      </a:r>
                      <a:endParaRPr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000">
                          <a:solidFill>
                            <a:schemeClr val="dk1"/>
                          </a:solidFill>
                          <a:latin typeface="Poppins"/>
                          <a:ea typeface="Poppins"/>
                          <a:cs typeface="Poppins"/>
                          <a:sym typeface="Poppins"/>
                        </a:rPr>
                        <a:t>Modelo de ensamble (Boosting) - secuencial</a:t>
                      </a:r>
                      <a:endParaRPr sz="2000">
                        <a:solidFill>
                          <a:schemeClr val="dk1"/>
                        </a:solidFill>
                        <a:latin typeface="Poppins"/>
                        <a:ea typeface="Poppins"/>
                        <a:cs typeface="Poppins"/>
                        <a:sym typeface="Poppins"/>
                      </a:endParaRPr>
                    </a:p>
                    <a:p>
                      <a:pPr indent="0" lvl="0" marL="0" rtl="0" algn="l">
                        <a:spcBef>
                          <a:spcPts val="0"/>
                        </a:spcBef>
                        <a:spcAft>
                          <a:spcPts val="0"/>
                        </a:spcAft>
                        <a:buNone/>
                      </a:pPr>
                      <a:r>
                        <a:t/>
                      </a:r>
                      <a:endParaRPr sz="2000">
                        <a:solidFill>
                          <a:schemeClr val="dk1"/>
                        </a:solidFill>
                        <a:latin typeface="Poppins"/>
                        <a:ea typeface="Poppins"/>
                        <a:cs typeface="Poppins"/>
                        <a:sym typeface="Poppins"/>
                      </a:endParaRPr>
                    </a:p>
                    <a:p>
                      <a:pPr indent="0" lvl="0" marL="0" rtl="0" algn="l">
                        <a:spcBef>
                          <a:spcPts val="0"/>
                        </a:spcBef>
                        <a:spcAft>
                          <a:spcPts val="0"/>
                        </a:spcAft>
                        <a:buNone/>
                      </a:pPr>
                      <a:r>
                        <a:rPr lang="en-US" sz="2000">
                          <a:solidFill>
                            <a:schemeClr val="dk1"/>
                          </a:solidFill>
                          <a:latin typeface="Poppins"/>
                          <a:ea typeface="Poppins"/>
                          <a:cs typeface="Poppins"/>
                          <a:sym typeface="Poppins"/>
                        </a:rPr>
                        <a:t>Disminución de errores (función de pérdida)</a:t>
                      </a:r>
                      <a:endParaRPr sz="2000">
                        <a:solidFill>
                          <a:schemeClr val="dk1"/>
                        </a:solidFill>
                        <a:latin typeface="Poppins"/>
                        <a:ea typeface="Poppins"/>
                        <a:cs typeface="Poppins"/>
                        <a:sym typeface="Poppins"/>
                      </a:endParaRPr>
                    </a:p>
                  </a:txBody>
                  <a:tcPr marT="91425" marB="91425" marR="91425" marL="91425" anchor="ctr">
                    <a:lnL cap="flat" cmpd="sng" w="9525">
                      <a:solidFill>
                        <a:srgbClr val="000000"/>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1600">
                <a:tc>
                  <a:txBody>
                    <a:bodyPr/>
                    <a:lstStyle/>
                    <a:p>
                      <a:pPr indent="0" lvl="0" marL="0" rtl="0" algn="r">
                        <a:spcBef>
                          <a:spcPts val="0"/>
                        </a:spcBef>
                        <a:spcAft>
                          <a:spcPts val="0"/>
                        </a:spcAft>
                        <a:buNone/>
                      </a:pPr>
                      <a:r>
                        <a:rPr b="1" lang="en-US" sz="2000">
                          <a:latin typeface="Poppins"/>
                          <a:ea typeface="Poppins"/>
                          <a:cs typeface="Poppins"/>
                          <a:sym typeface="Poppins"/>
                        </a:rPr>
                        <a:t>Ventajas</a:t>
                      </a:r>
                      <a:endParaRPr b="1"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US" sz="2000">
                          <a:latin typeface="Poppins"/>
                          <a:ea typeface="Poppins"/>
                          <a:cs typeface="Poppins"/>
                          <a:sym typeface="Poppins"/>
                        </a:rPr>
                        <a:t>Reduce sobreajuste de un solo árbol</a:t>
                      </a:r>
                      <a:endParaRPr sz="2000">
                        <a:latin typeface="Poppins"/>
                        <a:ea typeface="Poppins"/>
                        <a:cs typeface="Poppins"/>
                        <a:sym typeface="Poppins"/>
                      </a:endParaRPr>
                    </a:p>
                    <a:p>
                      <a:pPr indent="0" lvl="0" marL="0" rtl="0" algn="l">
                        <a:spcBef>
                          <a:spcPts val="0"/>
                        </a:spcBef>
                        <a:spcAft>
                          <a:spcPts val="0"/>
                        </a:spcAft>
                        <a:buNone/>
                      </a:pPr>
                      <a:r>
                        <a:t/>
                      </a:r>
                      <a:endParaRPr sz="2000">
                        <a:latin typeface="Poppins"/>
                        <a:ea typeface="Poppins"/>
                        <a:cs typeface="Poppins"/>
                        <a:sym typeface="Poppins"/>
                      </a:endParaRPr>
                    </a:p>
                    <a:p>
                      <a:pPr indent="0" lvl="0" marL="0" rtl="0" algn="l">
                        <a:spcBef>
                          <a:spcPts val="0"/>
                        </a:spcBef>
                        <a:spcAft>
                          <a:spcPts val="0"/>
                        </a:spcAft>
                        <a:buNone/>
                      </a:pPr>
                      <a:r>
                        <a:rPr lang="en-US" sz="2000">
                          <a:solidFill>
                            <a:schemeClr val="dk1"/>
                          </a:solidFill>
                          <a:latin typeface="Poppins"/>
                          <a:ea typeface="Poppins"/>
                          <a:cs typeface="Poppins"/>
                          <a:sym typeface="Poppins"/>
                        </a:rPr>
                        <a:t>No requiere normalización</a:t>
                      </a:r>
                      <a:endParaRPr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000">
                          <a:solidFill>
                            <a:schemeClr val="dk1"/>
                          </a:solidFill>
                          <a:latin typeface="Poppins"/>
                          <a:ea typeface="Poppins"/>
                          <a:cs typeface="Poppins"/>
                          <a:sym typeface="Poppins"/>
                        </a:rPr>
                        <a:t>Alto poder predictivo (disminusion de sesgo)</a:t>
                      </a:r>
                      <a:endParaRPr sz="2000">
                        <a:solidFill>
                          <a:schemeClr val="dk1"/>
                        </a:solidFill>
                        <a:latin typeface="Poppins"/>
                        <a:ea typeface="Poppins"/>
                        <a:cs typeface="Poppins"/>
                        <a:sym typeface="Poppins"/>
                      </a:endParaRPr>
                    </a:p>
                    <a:p>
                      <a:pPr indent="0" lvl="0" marL="0" rtl="0" algn="l">
                        <a:spcBef>
                          <a:spcPts val="0"/>
                        </a:spcBef>
                        <a:spcAft>
                          <a:spcPts val="0"/>
                        </a:spcAft>
                        <a:buNone/>
                      </a:pPr>
                      <a:r>
                        <a:t/>
                      </a:r>
                      <a:endParaRPr sz="2000">
                        <a:solidFill>
                          <a:schemeClr val="dk1"/>
                        </a:solidFill>
                        <a:latin typeface="Poppins"/>
                        <a:ea typeface="Poppins"/>
                        <a:cs typeface="Poppins"/>
                        <a:sym typeface="Poppins"/>
                      </a:endParaRPr>
                    </a:p>
                    <a:p>
                      <a:pPr indent="0" lvl="0" marL="0" rtl="0" algn="l">
                        <a:spcBef>
                          <a:spcPts val="0"/>
                        </a:spcBef>
                        <a:spcAft>
                          <a:spcPts val="0"/>
                        </a:spcAft>
                        <a:buNone/>
                      </a:pPr>
                      <a:r>
                        <a:rPr lang="en-US" sz="2000">
                          <a:solidFill>
                            <a:schemeClr val="dk1"/>
                          </a:solidFill>
                          <a:latin typeface="Poppins"/>
                          <a:ea typeface="Poppins"/>
                          <a:cs typeface="Poppins"/>
                          <a:sym typeface="Poppins"/>
                        </a:rPr>
                        <a:t>Personalización con hiperparametros</a:t>
                      </a:r>
                      <a:endParaRPr sz="2000">
                        <a:solidFill>
                          <a:schemeClr val="dk1"/>
                        </a:solidFill>
                        <a:latin typeface="Poppins"/>
                        <a:ea typeface="Poppins"/>
                        <a:cs typeface="Poppins"/>
                        <a:sym typeface="Poppins"/>
                      </a:endParaRPr>
                    </a:p>
                  </a:txBody>
                  <a:tcPr marT="91425" marB="91425" marR="91425" marL="91425" anchor="ctr">
                    <a:lnL cap="flat" cmpd="sng" w="9525">
                      <a:solidFill>
                        <a:srgbClr val="000000"/>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1600">
                <a:tc>
                  <a:txBody>
                    <a:bodyPr/>
                    <a:lstStyle/>
                    <a:p>
                      <a:pPr indent="0" lvl="0" marL="0" rtl="0" algn="r">
                        <a:spcBef>
                          <a:spcPts val="0"/>
                        </a:spcBef>
                        <a:spcAft>
                          <a:spcPts val="0"/>
                        </a:spcAft>
                        <a:buNone/>
                      </a:pPr>
                      <a:r>
                        <a:rPr b="1" lang="en-US" sz="2000">
                          <a:latin typeface="Poppins"/>
                          <a:ea typeface="Poppins"/>
                          <a:cs typeface="Poppins"/>
                          <a:sym typeface="Poppins"/>
                        </a:rPr>
                        <a:t>Desventajas</a:t>
                      </a:r>
                      <a:endParaRPr b="1"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US" sz="2000">
                          <a:latin typeface="Poppins"/>
                          <a:ea typeface="Poppins"/>
                          <a:cs typeface="Poppins"/>
                          <a:sym typeface="Poppins"/>
                        </a:rPr>
                        <a:t>Peor interpretabilidad</a:t>
                      </a:r>
                      <a:endParaRPr sz="2000">
                        <a:latin typeface="Poppins"/>
                        <a:ea typeface="Poppins"/>
                        <a:cs typeface="Poppins"/>
                        <a:sym typeface="Poppins"/>
                      </a:endParaRPr>
                    </a:p>
                    <a:p>
                      <a:pPr indent="0" lvl="0" marL="0" rtl="0" algn="l">
                        <a:spcBef>
                          <a:spcPts val="0"/>
                        </a:spcBef>
                        <a:spcAft>
                          <a:spcPts val="0"/>
                        </a:spcAft>
                        <a:buNone/>
                      </a:pPr>
                      <a:r>
                        <a:t/>
                      </a:r>
                      <a:endParaRPr sz="2000">
                        <a:latin typeface="Poppins"/>
                        <a:ea typeface="Poppins"/>
                        <a:cs typeface="Poppins"/>
                        <a:sym typeface="Poppins"/>
                      </a:endParaRPr>
                    </a:p>
                    <a:p>
                      <a:pPr indent="0" lvl="0" marL="0" rtl="0" algn="l">
                        <a:spcBef>
                          <a:spcPts val="0"/>
                        </a:spcBef>
                        <a:spcAft>
                          <a:spcPts val="0"/>
                        </a:spcAft>
                        <a:buNone/>
                      </a:pPr>
                      <a:r>
                        <a:rPr lang="en-US" sz="2000">
                          <a:latin typeface="Poppins"/>
                          <a:ea typeface="Poppins"/>
                          <a:cs typeface="Poppins"/>
                          <a:sym typeface="Poppins"/>
                        </a:rPr>
                        <a:t>Mayores recursos computacionales</a:t>
                      </a:r>
                      <a:endParaRPr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Poppins"/>
                          <a:ea typeface="Poppins"/>
                          <a:cs typeface="Poppins"/>
                          <a:sym typeface="Poppins"/>
                        </a:rPr>
                        <a:t>Peor interpretabilidad</a:t>
                      </a:r>
                      <a:endParaRPr sz="20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US" sz="2000">
                          <a:solidFill>
                            <a:schemeClr val="dk1"/>
                          </a:solidFill>
                          <a:latin typeface="Poppins"/>
                          <a:ea typeface="Poppins"/>
                          <a:cs typeface="Poppins"/>
                          <a:sym typeface="Poppins"/>
                        </a:rPr>
                        <a:t>Sobreajuste / manejo de hiperaparametros</a:t>
                      </a:r>
                      <a:endParaRPr sz="2000">
                        <a:solidFill>
                          <a:schemeClr val="dk1"/>
                        </a:solidFill>
                        <a:latin typeface="Poppins"/>
                        <a:ea typeface="Poppins"/>
                        <a:cs typeface="Poppins"/>
                        <a:sym typeface="Poppins"/>
                      </a:endParaRPr>
                    </a:p>
                  </a:txBody>
                  <a:tcPr marT="91425" marB="91425" marR="91425" marL="91425" anchor="ctr">
                    <a:lnL cap="flat" cmpd="sng" w="9525">
                      <a:solidFill>
                        <a:srgbClr val="000000"/>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1600">
                <a:tc>
                  <a:txBody>
                    <a:bodyPr/>
                    <a:lstStyle/>
                    <a:p>
                      <a:pPr indent="0" lvl="0" marL="0" rtl="0" algn="r">
                        <a:spcBef>
                          <a:spcPts val="0"/>
                        </a:spcBef>
                        <a:spcAft>
                          <a:spcPts val="0"/>
                        </a:spcAft>
                        <a:buNone/>
                      </a:pPr>
                      <a:r>
                        <a:rPr b="1" lang="en-US" sz="2000">
                          <a:latin typeface="Poppins"/>
                          <a:ea typeface="Poppins"/>
                          <a:cs typeface="Poppins"/>
                          <a:sym typeface="Poppins"/>
                        </a:rPr>
                        <a:t>Riesgo de sobreajuste</a:t>
                      </a:r>
                      <a:endParaRPr b="1"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Poppins"/>
                        <a:ea typeface="Poppins"/>
                        <a:cs typeface="Poppins"/>
                        <a:sym typeface="Poppins"/>
                      </a:endParaRPr>
                    </a:p>
                    <a:p>
                      <a:pPr indent="0" lvl="0" marL="0" rtl="0" algn="l">
                        <a:spcBef>
                          <a:spcPts val="0"/>
                        </a:spcBef>
                        <a:spcAft>
                          <a:spcPts val="0"/>
                        </a:spcAft>
                        <a:buNone/>
                      </a:pPr>
                      <a:r>
                        <a:rPr lang="en-US" sz="2000">
                          <a:latin typeface="Poppins"/>
                          <a:ea typeface="Poppins"/>
                          <a:cs typeface="Poppins"/>
                          <a:sym typeface="Poppins"/>
                        </a:rPr>
                        <a:t>Bajo (Bagging reduce varianza)</a:t>
                      </a:r>
                      <a:endParaRPr sz="2000">
                        <a:latin typeface="Poppins"/>
                        <a:ea typeface="Poppins"/>
                        <a:cs typeface="Poppins"/>
                        <a:sym typeface="Poppins"/>
                      </a:endParaRPr>
                    </a:p>
                    <a:p>
                      <a:pPr indent="0" lvl="0" marL="0" rtl="0" algn="l">
                        <a:spcBef>
                          <a:spcPts val="0"/>
                        </a:spcBef>
                        <a:spcAft>
                          <a:spcPts val="0"/>
                        </a:spcAft>
                        <a:buNone/>
                      </a:pPr>
                      <a:r>
                        <a:t/>
                      </a:r>
                      <a:endParaRPr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000">
                          <a:solidFill>
                            <a:schemeClr val="dk1"/>
                          </a:solidFill>
                          <a:latin typeface="Poppins"/>
                          <a:ea typeface="Poppins"/>
                          <a:cs typeface="Poppins"/>
                          <a:sym typeface="Poppins"/>
                        </a:rPr>
                        <a:t>Alto (</a:t>
                      </a:r>
                      <a:r>
                        <a:rPr lang="en-US" sz="2000">
                          <a:latin typeface="Poppins"/>
                          <a:ea typeface="Poppins"/>
                          <a:cs typeface="Poppins"/>
                          <a:sym typeface="Poppins"/>
                        </a:rPr>
                        <a:t>árbol + otros hiperparametros)</a:t>
                      </a:r>
                      <a:endParaRPr sz="2000">
                        <a:latin typeface="Poppins"/>
                        <a:ea typeface="Poppins"/>
                        <a:cs typeface="Poppins"/>
                        <a:sym typeface="Poppins"/>
                      </a:endParaRPr>
                    </a:p>
                  </a:txBody>
                  <a:tcPr marT="91425" marB="91425" marR="91425" marL="91425" anchor="ctr">
                    <a:lnL cap="flat" cmpd="sng" w="9525">
                      <a:solidFill>
                        <a:srgbClr val="000000"/>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1600">
                <a:tc>
                  <a:txBody>
                    <a:bodyPr/>
                    <a:lstStyle/>
                    <a:p>
                      <a:pPr indent="0" lvl="0" marL="0" rtl="0" algn="r">
                        <a:spcBef>
                          <a:spcPts val="0"/>
                        </a:spcBef>
                        <a:spcAft>
                          <a:spcPts val="0"/>
                        </a:spcAft>
                        <a:buNone/>
                      </a:pPr>
                      <a:r>
                        <a:rPr b="1" lang="en-US" sz="2000">
                          <a:latin typeface="Poppins"/>
                          <a:ea typeface="Poppins"/>
                          <a:cs typeface="Poppins"/>
                          <a:sym typeface="Poppins"/>
                        </a:rPr>
                        <a:t>Interpretabilidad</a:t>
                      </a:r>
                      <a:endParaRPr b="1" sz="2000">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000">
                        <a:solidFill>
                          <a:schemeClr val="dk1"/>
                        </a:solidFill>
                        <a:latin typeface="Poppins"/>
                        <a:ea typeface="Poppins"/>
                        <a:cs typeface="Poppins"/>
                        <a:sym typeface="Poppins"/>
                      </a:endParaRPr>
                    </a:p>
                    <a:p>
                      <a:pPr indent="0" lvl="0" marL="0" rtl="0" algn="l">
                        <a:spcBef>
                          <a:spcPts val="0"/>
                        </a:spcBef>
                        <a:spcAft>
                          <a:spcPts val="0"/>
                        </a:spcAft>
                        <a:buNone/>
                      </a:pPr>
                      <a:r>
                        <a:rPr lang="en-US" sz="2000">
                          <a:solidFill>
                            <a:schemeClr val="dk1"/>
                          </a:solidFill>
                          <a:latin typeface="Poppins"/>
                          <a:ea typeface="Poppins"/>
                          <a:cs typeface="Poppins"/>
                          <a:sym typeface="Poppins"/>
                        </a:rPr>
                        <a:t>Baja (Feature importance)</a:t>
                      </a:r>
                      <a:endParaRPr sz="2000">
                        <a:solidFill>
                          <a:schemeClr val="dk1"/>
                        </a:solidFill>
                        <a:latin typeface="Poppins"/>
                        <a:ea typeface="Poppins"/>
                        <a:cs typeface="Poppins"/>
                        <a:sym typeface="Poppins"/>
                      </a:endParaRPr>
                    </a:p>
                    <a:p>
                      <a:pPr indent="0" lvl="0" marL="0" rtl="0" algn="l">
                        <a:spcBef>
                          <a:spcPts val="0"/>
                        </a:spcBef>
                        <a:spcAft>
                          <a:spcPts val="0"/>
                        </a:spcAft>
                        <a:buNone/>
                      </a:pPr>
                      <a:r>
                        <a:t/>
                      </a:r>
                      <a:endParaRPr sz="2000">
                        <a:solidFill>
                          <a:schemeClr val="dk1"/>
                        </a:solidFill>
                        <a:latin typeface="Poppins"/>
                        <a:ea typeface="Poppins"/>
                        <a:cs typeface="Poppins"/>
                        <a:sym typeface="Poppi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US" sz="2000">
                          <a:solidFill>
                            <a:schemeClr val="dk1"/>
                          </a:solidFill>
                          <a:latin typeface="Poppins"/>
                          <a:ea typeface="Poppins"/>
                          <a:cs typeface="Poppins"/>
                          <a:sym typeface="Poppins"/>
                        </a:rPr>
                        <a:t>Baja (Feature importance)</a:t>
                      </a:r>
                      <a:endParaRPr sz="2000">
                        <a:solidFill>
                          <a:schemeClr val="dk1"/>
                        </a:solidFill>
                        <a:latin typeface="Poppins"/>
                        <a:ea typeface="Poppins"/>
                        <a:cs typeface="Poppins"/>
                        <a:sym typeface="Poppins"/>
                      </a:endParaRPr>
                    </a:p>
                  </a:txBody>
                  <a:tcPr marT="91425" marB="91425" marR="91425" marL="91425" anchor="ctr">
                    <a:lnL cap="flat" cmpd="sng" w="9525">
                      <a:solidFill>
                        <a:srgbClr val="000000"/>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51" name="Google Shape;151;g3d44c00b686_0_162"/>
          <p:cNvSpPr txBox="1"/>
          <p:nvPr/>
        </p:nvSpPr>
        <p:spPr>
          <a:xfrm>
            <a:off x="840353" y="737450"/>
            <a:ext cx="16687800" cy="769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5000">
                <a:solidFill>
                  <a:srgbClr val="2758E6"/>
                </a:solidFill>
                <a:latin typeface="Poppins"/>
                <a:ea typeface="Poppins"/>
                <a:cs typeface="Poppins"/>
                <a:sym typeface="Poppins"/>
              </a:rPr>
              <a:t>ESTRUCTURA TÉCNICA - MODELACIÓN (2 / 2)</a:t>
            </a:r>
            <a:endParaRPr b="1" sz="5000">
              <a:solidFill>
                <a:srgbClr val="2758E6"/>
              </a:solidFill>
              <a:latin typeface="Poppins"/>
              <a:ea typeface="Poppins"/>
              <a:cs typeface="Poppins"/>
              <a:sym typeface="Poppins"/>
            </a:endParaRPr>
          </a:p>
        </p:txBody>
      </p:sp>
      <p:sp>
        <p:nvSpPr>
          <p:cNvPr id="152" name="Google Shape;152;g3d44c00b686_0_162"/>
          <p:cNvSpPr txBox="1"/>
          <p:nvPr/>
        </p:nvSpPr>
        <p:spPr>
          <a:xfrm>
            <a:off x="840350" y="1738825"/>
            <a:ext cx="16687800" cy="942900"/>
          </a:xfrm>
          <a:prstGeom prst="rect">
            <a:avLst/>
          </a:prstGeom>
          <a:noFill/>
          <a:ln>
            <a:noFill/>
          </a:ln>
        </p:spPr>
        <p:txBody>
          <a:bodyPr anchorCtr="0" anchor="t" bIns="0" lIns="0" spcFirstLastPara="1" rIns="0" wrap="square" tIns="0">
            <a:spAutoFit/>
          </a:bodyPr>
          <a:lstStyle/>
          <a:p>
            <a:pPr indent="0" lvl="0" marL="0" marR="0" rtl="0" algn="just">
              <a:lnSpc>
                <a:spcPct val="145000"/>
              </a:lnSpc>
              <a:spcBef>
                <a:spcPts val="0"/>
              </a:spcBef>
              <a:spcAft>
                <a:spcPts val="0"/>
              </a:spcAft>
              <a:buNone/>
            </a:pPr>
            <a:r>
              <a:rPr b="1" lang="en-US" sz="2500">
                <a:latin typeface="Poppins"/>
                <a:ea typeface="Poppins"/>
                <a:cs typeface="Poppins"/>
                <a:sym typeface="Poppins"/>
              </a:rPr>
              <a:t>MODELOS INTERMEDIOS</a:t>
            </a:r>
            <a:endParaRPr sz="2500">
              <a:latin typeface="Poppins"/>
              <a:ea typeface="Poppins"/>
              <a:cs typeface="Poppins"/>
              <a:sym typeface="Poppins"/>
            </a:endParaRPr>
          </a:p>
          <a:p>
            <a:pPr indent="-387350" lvl="0" marL="4572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Se utilizaron 3 modelos intermedios: random forest y gradient boosting</a:t>
            </a:r>
            <a:endParaRPr sz="2500">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d44c00b686_0_55"/>
          <p:cNvSpPr txBox="1"/>
          <p:nvPr/>
        </p:nvSpPr>
        <p:spPr>
          <a:xfrm>
            <a:off x="840350" y="1738825"/>
            <a:ext cx="10615200" cy="8196600"/>
          </a:xfrm>
          <a:prstGeom prst="rect">
            <a:avLst/>
          </a:prstGeom>
          <a:noFill/>
          <a:ln>
            <a:noFill/>
          </a:ln>
        </p:spPr>
        <p:txBody>
          <a:bodyPr anchorCtr="0" anchor="t" bIns="0" lIns="0" spcFirstLastPara="1" rIns="0" wrap="square" tIns="0">
            <a:spAutoFit/>
          </a:bodyPr>
          <a:lstStyle/>
          <a:p>
            <a:pPr indent="0" lvl="0" marL="0" marR="0" rtl="0" algn="just">
              <a:lnSpc>
                <a:spcPct val="145000"/>
              </a:lnSpc>
              <a:spcBef>
                <a:spcPts val="0"/>
              </a:spcBef>
              <a:spcAft>
                <a:spcPts val="0"/>
              </a:spcAft>
              <a:buNone/>
            </a:pPr>
            <a:r>
              <a:rPr b="1" lang="en-US" sz="2500">
                <a:latin typeface="Poppins"/>
                <a:ea typeface="Poppins"/>
                <a:cs typeface="Poppins"/>
                <a:sym typeface="Poppins"/>
              </a:rPr>
              <a:t>ESTRATEGIA DE DIVISIÓN</a:t>
            </a:r>
            <a:endParaRPr b="1" sz="2500">
              <a:latin typeface="Poppins"/>
              <a:ea typeface="Poppins"/>
              <a:cs typeface="Poppins"/>
              <a:sym typeface="Poppins"/>
            </a:endParaRPr>
          </a:p>
          <a:p>
            <a:pPr indent="-387350" lvl="0" marL="4572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Cross validation (5 CV)</a:t>
            </a:r>
            <a:endParaRPr sz="2500">
              <a:latin typeface="Poppins"/>
              <a:ea typeface="Poppins"/>
              <a:cs typeface="Poppins"/>
              <a:sym typeface="Poppins"/>
            </a:endParaRPr>
          </a:p>
          <a:p>
            <a:pPr indent="-387350" lvl="0" marL="4572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Train / test: 80 / 20</a:t>
            </a:r>
            <a:endParaRPr sz="2500">
              <a:latin typeface="Poppins"/>
              <a:ea typeface="Poppins"/>
              <a:cs typeface="Poppins"/>
              <a:sym typeface="Poppins"/>
            </a:endParaRPr>
          </a:p>
          <a:p>
            <a:pPr indent="0" lvl="0" marL="0" marR="0" rtl="0" algn="just">
              <a:lnSpc>
                <a:spcPct val="145000"/>
              </a:lnSpc>
              <a:spcBef>
                <a:spcPts val="0"/>
              </a:spcBef>
              <a:spcAft>
                <a:spcPts val="0"/>
              </a:spcAft>
              <a:buNone/>
            </a:pPr>
            <a:r>
              <a:t/>
            </a:r>
            <a:endParaRPr sz="2500">
              <a:latin typeface="Poppins"/>
              <a:ea typeface="Poppins"/>
              <a:cs typeface="Poppins"/>
              <a:sym typeface="Poppins"/>
            </a:endParaRPr>
          </a:p>
          <a:p>
            <a:pPr indent="0" lvl="0" marL="0" marR="0" rtl="0" algn="just">
              <a:lnSpc>
                <a:spcPct val="145000"/>
              </a:lnSpc>
              <a:spcBef>
                <a:spcPts val="0"/>
              </a:spcBef>
              <a:spcAft>
                <a:spcPts val="0"/>
              </a:spcAft>
              <a:buNone/>
            </a:pPr>
            <a:r>
              <a:rPr b="1" lang="en-US" sz="2500">
                <a:latin typeface="Poppins"/>
                <a:ea typeface="Poppins"/>
                <a:cs typeface="Poppins"/>
                <a:sym typeface="Poppins"/>
              </a:rPr>
              <a:t>MÉTRICAS DE EVALUACIÓN</a:t>
            </a:r>
            <a:endParaRPr b="1" sz="2500">
              <a:latin typeface="Poppins"/>
              <a:ea typeface="Poppins"/>
              <a:cs typeface="Poppins"/>
              <a:sym typeface="Poppins"/>
            </a:endParaRPr>
          </a:p>
          <a:p>
            <a:pPr indent="-387350" lvl="0" marL="4572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ROC AUC (para calcular probabilidad mayor que el azar)</a:t>
            </a:r>
            <a:endParaRPr sz="2500">
              <a:latin typeface="Poppins"/>
              <a:ea typeface="Poppins"/>
              <a:cs typeface="Poppins"/>
              <a:sym typeface="Poppins"/>
            </a:endParaRPr>
          </a:p>
          <a:p>
            <a:pPr indent="-387350" lvl="0" marL="4572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F1 y sus componenetes (para controlar falsos negativos y falsos positivos)</a:t>
            </a:r>
            <a:endParaRPr sz="2500">
              <a:latin typeface="Poppins"/>
              <a:ea typeface="Poppins"/>
              <a:cs typeface="Poppins"/>
              <a:sym typeface="Poppins"/>
            </a:endParaRPr>
          </a:p>
          <a:p>
            <a:pPr indent="-387350" lvl="0" marL="4572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Se decidió en contra de accuracy dado el desbalance de clases</a:t>
            </a:r>
            <a:endParaRPr sz="2500">
              <a:latin typeface="Poppins"/>
              <a:ea typeface="Poppins"/>
              <a:cs typeface="Poppins"/>
              <a:sym typeface="Poppins"/>
            </a:endParaRPr>
          </a:p>
          <a:p>
            <a:pPr indent="0" lvl="0" marL="0" rtl="0" algn="just">
              <a:lnSpc>
                <a:spcPct val="145000"/>
              </a:lnSpc>
              <a:spcBef>
                <a:spcPts val="0"/>
              </a:spcBef>
              <a:spcAft>
                <a:spcPts val="0"/>
              </a:spcAft>
              <a:buNone/>
            </a:pPr>
            <a:r>
              <a:t/>
            </a:r>
            <a:endParaRPr sz="2500">
              <a:solidFill>
                <a:schemeClr val="dk1"/>
              </a:solidFill>
              <a:latin typeface="Poppins"/>
              <a:ea typeface="Poppins"/>
              <a:cs typeface="Poppins"/>
              <a:sym typeface="Poppins"/>
            </a:endParaRPr>
          </a:p>
          <a:p>
            <a:pPr indent="0" lvl="0" marL="0" rtl="0" algn="just">
              <a:lnSpc>
                <a:spcPct val="145000"/>
              </a:lnSpc>
              <a:spcBef>
                <a:spcPts val="0"/>
              </a:spcBef>
              <a:spcAft>
                <a:spcPts val="0"/>
              </a:spcAft>
              <a:buNone/>
            </a:pPr>
            <a:r>
              <a:rPr b="1" lang="en-US" sz="2500">
                <a:solidFill>
                  <a:schemeClr val="dk1"/>
                </a:solidFill>
                <a:latin typeface="Poppins"/>
                <a:ea typeface="Poppins"/>
                <a:cs typeface="Poppins"/>
                <a:sym typeface="Poppins"/>
              </a:rPr>
              <a:t>COSTO SOCIAL</a:t>
            </a:r>
            <a:endParaRPr b="1" sz="2500">
              <a:solidFill>
                <a:schemeClr val="dk1"/>
              </a:solidFill>
              <a:latin typeface="Poppins"/>
              <a:ea typeface="Poppins"/>
              <a:cs typeface="Poppins"/>
              <a:sym typeface="Poppins"/>
            </a:endParaRPr>
          </a:p>
          <a:p>
            <a:pPr indent="-387350" lvl="0" marL="457200" rtl="0" algn="just">
              <a:lnSpc>
                <a:spcPct val="145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+FN (Recall bajo) = No intervenir en casos en donde se pudo haber intervenido</a:t>
            </a:r>
            <a:endParaRPr sz="2500">
              <a:solidFill>
                <a:schemeClr val="dk1"/>
              </a:solidFill>
              <a:latin typeface="Poppins"/>
              <a:ea typeface="Poppins"/>
              <a:cs typeface="Poppins"/>
              <a:sym typeface="Poppins"/>
            </a:endParaRPr>
          </a:p>
          <a:p>
            <a:pPr indent="-387350" lvl="0" marL="457200" rtl="0" algn="just">
              <a:lnSpc>
                <a:spcPct val="145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+FP (Precision bajo) = Mala alocación de recursos públicos</a:t>
            </a:r>
            <a:endParaRPr sz="2500">
              <a:solidFill>
                <a:schemeClr val="dk1"/>
              </a:solidFill>
              <a:latin typeface="Poppins"/>
              <a:ea typeface="Poppins"/>
              <a:cs typeface="Poppins"/>
              <a:sym typeface="Poppins"/>
            </a:endParaRPr>
          </a:p>
        </p:txBody>
      </p:sp>
      <p:grpSp>
        <p:nvGrpSpPr>
          <p:cNvPr id="158" name="Google Shape;158;g3d44c00b686_0_55"/>
          <p:cNvGrpSpPr/>
          <p:nvPr/>
        </p:nvGrpSpPr>
        <p:grpSpPr>
          <a:xfrm rot="4029767">
            <a:off x="11772058" y="-1029567"/>
            <a:ext cx="12346102" cy="12346102"/>
            <a:chOff x="0" y="0"/>
            <a:chExt cx="812800" cy="812800"/>
          </a:xfrm>
        </p:grpSpPr>
        <p:sp>
          <p:nvSpPr>
            <p:cNvPr id="159" name="Google Shape;159;g3d44c00b686_0_5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3062FF"/>
                </a:gs>
                <a:gs pos="100000">
                  <a:srgbClr val="01338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g3d44c00b686_0_55"/>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997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161" name="Google Shape;161;g3d44c00b686_0_55"/>
          <p:cNvPicPr preferRelativeResize="0"/>
          <p:nvPr/>
        </p:nvPicPr>
        <p:blipFill>
          <a:blip r:embed="rId3">
            <a:alphaModFix/>
          </a:blip>
          <a:stretch>
            <a:fillRect/>
          </a:stretch>
        </p:blipFill>
        <p:spPr>
          <a:xfrm>
            <a:off x="12746275" y="2560025"/>
            <a:ext cx="5122575" cy="4960875"/>
          </a:xfrm>
          <a:prstGeom prst="rect">
            <a:avLst/>
          </a:prstGeom>
          <a:noFill/>
          <a:ln>
            <a:noFill/>
          </a:ln>
        </p:spPr>
      </p:pic>
      <p:sp>
        <p:nvSpPr>
          <p:cNvPr id="162" name="Google Shape;162;g3d44c00b686_0_55"/>
          <p:cNvSpPr txBox="1"/>
          <p:nvPr/>
        </p:nvSpPr>
        <p:spPr>
          <a:xfrm>
            <a:off x="840346" y="737449"/>
            <a:ext cx="9150900" cy="769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5000">
                <a:solidFill>
                  <a:srgbClr val="2758E6"/>
                </a:solidFill>
                <a:latin typeface="Poppins"/>
                <a:ea typeface="Poppins"/>
                <a:cs typeface="Poppins"/>
                <a:sym typeface="Poppins"/>
              </a:rPr>
              <a:t>VALIDACIÓN Y MÉTRICAS</a:t>
            </a:r>
            <a:endParaRPr b="1" sz="5000">
              <a:solidFill>
                <a:srgbClr val="2758E6"/>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d44c00b686_0_130"/>
          <p:cNvSpPr txBox="1"/>
          <p:nvPr/>
        </p:nvSpPr>
        <p:spPr>
          <a:xfrm>
            <a:off x="840350" y="1738825"/>
            <a:ext cx="7441500" cy="8196600"/>
          </a:xfrm>
          <a:prstGeom prst="rect">
            <a:avLst/>
          </a:prstGeom>
          <a:noFill/>
          <a:ln>
            <a:noFill/>
          </a:ln>
        </p:spPr>
        <p:txBody>
          <a:bodyPr anchorCtr="0" anchor="t" bIns="0" lIns="0" spcFirstLastPara="1" rIns="0" wrap="square" tIns="0">
            <a:spAutoFit/>
          </a:bodyPr>
          <a:lstStyle/>
          <a:p>
            <a:pPr indent="0" lvl="0" marL="0" marR="0" rtl="0" algn="just">
              <a:lnSpc>
                <a:spcPct val="145000"/>
              </a:lnSpc>
              <a:spcBef>
                <a:spcPts val="0"/>
              </a:spcBef>
              <a:spcAft>
                <a:spcPts val="0"/>
              </a:spcAft>
              <a:buNone/>
            </a:pPr>
            <a:r>
              <a:rPr b="1" lang="en-US" sz="2500">
                <a:latin typeface="Poppins"/>
                <a:ea typeface="Poppins"/>
                <a:cs typeface="Poppins"/>
                <a:sym typeface="Poppins"/>
              </a:rPr>
              <a:t>INTERPRETACIÓN - </a:t>
            </a:r>
            <a:r>
              <a:rPr b="1" lang="en-US" sz="2500">
                <a:latin typeface="Poppins"/>
                <a:ea typeface="Poppins"/>
                <a:cs typeface="Poppins"/>
                <a:sym typeface="Poppins"/>
              </a:rPr>
              <a:t>CV</a:t>
            </a:r>
            <a:endParaRPr b="1" sz="2500">
              <a:latin typeface="Poppins"/>
              <a:ea typeface="Poppins"/>
              <a:cs typeface="Poppins"/>
              <a:sym typeface="Poppins"/>
            </a:endParaRPr>
          </a:p>
          <a:p>
            <a:pPr indent="-387350" lvl="0" marL="4572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“Mejores” modelos son el </a:t>
            </a:r>
            <a:r>
              <a:rPr lang="en-US" sz="2500">
                <a:latin typeface="Poppins"/>
                <a:ea typeface="Poppins"/>
                <a:cs typeface="Poppins"/>
                <a:sym typeface="Poppins"/>
              </a:rPr>
              <a:t>árbol, la regresion logística y el random forest</a:t>
            </a:r>
            <a:endParaRPr sz="2500">
              <a:latin typeface="Poppins"/>
              <a:ea typeface="Poppins"/>
              <a:cs typeface="Poppins"/>
              <a:sym typeface="Poppins"/>
            </a:endParaRPr>
          </a:p>
          <a:p>
            <a:pPr indent="-387350" lvl="0" marL="4572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Sin embargo, no son buenos</a:t>
            </a:r>
            <a:endParaRPr sz="2500">
              <a:latin typeface="Poppins"/>
              <a:ea typeface="Poppins"/>
              <a:cs typeface="Poppins"/>
              <a:sym typeface="Poppins"/>
            </a:endParaRPr>
          </a:p>
          <a:p>
            <a:pPr indent="-387350" lvl="1" marL="9144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AUC ~ 0.67 (mejor que una moneda, pero no es bueno)</a:t>
            </a:r>
            <a:endParaRPr sz="2500">
              <a:latin typeface="Poppins"/>
              <a:ea typeface="Poppins"/>
              <a:cs typeface="Poppins"/>
              <a:sym typeface="Poppins"/>
            </a:endParaRPr>
          </a:p>
          <a:p>
            <a:pPr indent="-387350" lvl="1" marL="9144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Precision ~ 0.36 (de las predicciones, 36% son acertadas)</a:t>
            </a:r>
            <a:endParaRPr sz="2500">
              <a:latin typeface="Poppins"/>
              <a:ea typeface="Poppins"/>
              <a:cs typeface="Poppins"/>
              <a:sym typeface="Poppins"/>
            </a:endParaRPr>
          </a:p>
          <a:p>
            <a:pPr indent="-387350" lvl="1" marL="9144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Recall ~ 0.52 (de los niños que necesitan ayuda, solo se identifica 52%)</a:t>
            </a:r>
            <a:endParaRPr sz="2500">
              <a:latin typeface="Poppins"/>
              <a:ea typeface="Poppins"/>
              <a:cs typeface="Poppins"/>
              <a:sym typeface="Poppins"/>
            </a:endParaRPr>
          </a:p>
          <a:p>
            <a:pPr indent="0" lvl="0" marL="0" marR="0" rtl="0" algn="just">
              <a:lnSpc>
                <a:spcPct val="145000"/>
              </a:lnSpc>
              <a:spcBef>
                <a:spcPts val="0"/>
              </a:spcBef>
              <a:spcAft>
                <a:spcPts val="0"/>
              </a:spcAft>
              <a:buNone/>
            </a:pPr>
            <a:r>
              <a:rPr b="1" lang="en-US" sz="2500">
                <a:latin typeface="Poppins"/>
                <a:ea typeface="Poppins"/>
                <a:cs typeface="Poppins"/>
                <a:sym typeface="Poppins"/>
              </a:rPr>
              <a:t>INTERPRETACIÓN - DECISION TREE</a:t>
            </a:r>
            <a:endParaRPr sz="2500">
              <a:latin typeface="Poppins"/>
              <a:ea typeface="Poppins"/>
              <a:cs typeface="Poppins"/>
              <a:sym typeface="Poppins"/>
            </a:endParaRPr>
          </a:p>
          <a:p>
            <a:pPr indent="-387350" lvl="0" marL="4572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Matriz de confunsión parece mejor que CV, pero confiamos más en los resultados CV</a:t>
            </a:r>
            <a:endParaRPr sz="2500">
              <a:latin typeface="Poppins"/>
              <a:ea typeface="Poppins"/>
              <a:cs typeface="Poppins"/>
              <a:sym typeface="Poppins"/>
            </a:endParaRPr>
          </a:p>
          <a:p>
            <a:pPr indent="-387350" lvl="0" marL="4572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La decisión colapsa a solo 2 variables (dificultad de concentración y depresión)</a:t>
            </a:r>
            <a:endParaRPr sz="2500">
              <a:latin typeface="Poppins"/>
              <a:ea typeface="Poppins"/>
              <a:cs typeface="Poppins"/>
              <a:sym typeface="Poppins"/>
            </a:endParaRPr>
          </a:p>
        </p:txBody>
      </p:sp>
      <p:sp>
        <p:nvSpPr>
          <p:cNvPr id="168" name="Google Shape;168;g3d44c00b686_0_130"/>
          <p:cNvSpPr txBox="1"/>
          <p:nvPr/>
        </p:nvSpPr>
        <p:spPr>
          <a:xfrm>
            <a:off x="8890340" y="1738825"/>
            <a:ext cx="9139800" cy="441600"/>
          </a:xfrm>
          <a:prstGeom prst="rect">
            <a:avLst/>
          </a:prstGeom>
          <a:noFill/>
          <a:ln>
            <a:noFill/>
          </a:ln>
        </p:spPr>
        <p:txBody>
          <a:bodyPr anchorCtr="0" anchor="t" bIns="0" lIns="0" spcFirstLastPara="1" rIns="0" wrap="square" tIns="0">
            <a:spAutoFit/>
          </a:bodyPr>
          <a:lstStyle/>
          <a:p>
            <a:pPr indent="0" lvl="0" marL="0" marR="0" rtl="0" algn="ctr">
              <a:lnSpc>
                <a:spcPct val="145000"/>
              </a:lnSpc>
              <a:spcBef>
                <a:spcPts val="0"/>
              </a:spcBef>
              <a:spcAft>
                <a:spcPts val="0"/>
              </a:spcAft>
              <a:buNone/>
            </a:pPr>
            <a:r>
              <a:rPr b="1" lang="en-US" sz="2869">
                <a:latin typeface="Poppins"/>
                <a:ea typeface="Poppins"/>
                <a:cs typeface="Poppins"/>
                <a:sym typeface="Poppins"/>
              </a:rPr>
              <a:t>CV</a:t>
            </a:r>
            <a:endParaRPr sz="2869">
              <a:latin typeface="Poppins"/>
              <a:ea typeface="Poppins"/>
              <a:cs typeface="Poppins"/>
              <a:sym typeface="Poppins"/>
            </a:endParaRPr>
          </a:p>
        </p:txBody>
      </p:sp>
      <p:sp>
        <p:nvSpPr>
          <p:cNvPr id="169" name="Google Shape;169;g3d44c00b686_0_130"/>
          <p:cNvSpPr txBox="1"/>
          <p:nvPr/>
        </p:nvSpPr>
        <p:spPr>
          <a:xfrm>
            <a:off x="840353" y="737450"/>
            <a:ext cx="16687800" cy="769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5000">
                <a:solidFill>
                  <a:srgbClr val="2758E6"/>
                </a:solidFill>
                <a:latin typeface="Poppins"/>
                <a:ea typeface="Poppins"/>
                <a:cs typeface="Poppins"/>
                <a:sym typeface="Poppins"/>
              </a:rPr>
              <a:t>VALIDACIÓN Y MÉTRICAS - 10 Y 11 AÑOS</a:t>
            </a:r>
            <a:endParaRPr b="1" sz="5000">
              <a:solidFill>
                <a:srgbClr val="2758E6"/>
              </a:solidFill>
              <a:latin typeface="Poppins"/>
              <a:ea typeface="Poppins"/>
              <a:cs typeface="Poppins"/>
              <a:sym typeface="Poppins"/>
            </a:endParaRPr>
          </a:p>
        </p:txBody>
      </p:sp>
      <p:pic>
        <p:nvPicPr>
          <p:cNvPr id="170" name="Google Shape;170;g3d44c00b686_0_130" title="Screenshot 2026-04-07 at 8.38.38 a.m..png"/>
          <p:cNvPicPr preferRelativeResize="0"/>
          <p:nvPr/>
        </p:nvPicPr>
        <p:blipFill>
          <a:blip r:embed="rId3">
            <a:alphaModFix/>
          </a:blip>
          <a:stretch>
            <a:fillRect/>
          </a:stretch>
        </p:blipFill>
        <p:spPr>
          <a:xfrm>
            <a:off x="8890397" y="2446582"/>
            <a:ext cx="9139778" cy="2534134"/>
          </a:xfrm>
          <a:prstGeom prst="rect">
            <a:avLst/>
          </a:prstGeom>
          <a:noFill/>
          <a:ln>
            <a:noFill/>
          </a:ln>
        </p:spPr>
      </p:pic>
      <p:sp>
        <p:nvSpPr>
          <p:cNvPr id="171" name="Google Shape;171;g3d44c00b686_0_130"/>
          <p:cNvSpPr/>
          <p:nvPr/>
        </p:nvSpPr>
        <p:spPr>
          <a:xfrm>
            <a:off x="10357949" y="2446625"/>
            <a:ext cx="1701600" cy="2534100"/>
          </a:xfrm>
          <a:prstGeom prst="rect">
            <a:avLst/>
          </a:prstGeom>
          <a:noFill/>
          <a:ln cap="flat" cmpd="sng" w="21850">
            <a:solidFill>
              <a:srgbClr val="FF0000"/>
            </a:solidFill>
            <a:prstDash val="solid"/>
            <a:round/>
            <a:headEnd len="sm" w="sm" type="none"/>
            <a:tailEnd len="sm" w="sm" type="none"/>
          </a:ln>
        </p:spPr>
        <p:txBody>
          <a:bodyPr anchorCtr="0" anchor="ctr" bIns="104900" lIns="104900" spcFirstLastPara="1" rIns="104900" wrap="square" tIns="104900">
            <a:noAutofit/>
          </a:bodyPr>
          <a:lstStyle/>
          <a:p>
            <a:pPr indent="0" lvl="0" marL="0" rtl="0" algn="ctr">
              <a:spcBef>
                <a:spcPts val="0"/>
              </a:spcBef>
              <a:spcAft>
                <a:spcPts val="0"/>
              </a:spcAft>
              <a:buNone/>
            </a:pPr>
            <a:r>
              <a:t/>
            </a:r>
            <a:endParaRPr sz="1607">
              <a:latin typeface="Calibri"/>
              <a:ea typeface="Calibri"/>
              <a:cs typeface="Calibri"/>
              <a:sym typeface="Calibri"/>
            </a:endParaRPr>
          </a:p>
        </p:txBody>
      </p:sp>
      <p:sp>
        <p:nvSpPr>
          <p:cNvPr id="172" name="Google Shape;172;g3d44c00b686_0_130"/>
          <p:cNvSpPr/>
          <p:nvPr/>
        </p:nvSpPr>
        <p:spPr>
          <a:xfrm>
            <a:off x="13028207" y="2446611"/>
            <a:ext cx="2332800" cy="2534100"/>
          </a:xfrm>
          <a:prstGeom prst="rect">
            <a:avLst/>
          </a:prstGeom>
          <a:noFill/>
          <a:ln cap="flat" cmpd="sng" w="21850">
            <a:solidFill>
              <a:srgbClr val="FF0000"/>
            </a:solidFill>
            <a:prstDash val="solid"/>
            <a:round/>
            <a:headEnd len="sm" w="sm" type="none"/>
            <a:tailEnd len="sm" w="sm" type="none"/>
          </a:ln>
        </p:spPr>
        <p:txBody>
          <a:bodyPr anchorCtr="0" anchor="ctr" bIns="104900" lIns="104900" spcFirstLastPara="1" rIns="104900" wrap="square" tIns="104900">
            <a:noAutofit/>
          </a:bodyPr>
          <a:lstStyle/>
          <a:p>
            <a:pPr indent="0" lvl="0" marL="0" rtl="0" algn="ctr">
              <a:spcBef>
                <a:spcPts val="0"/>
              </a:spcBef>
              <a:spcAft>
                <a:spcPts val="0"/>
              </a:spcAft>
              <a:buNone/>
            </a:pPr>
            <a:r>
              <a:t/>
            </a:r>
            <a:endParaRPr sz="1607">
              <a:latin typeface="Calibri"/>
              <a:ea typeface="Calibri"/>
              <a:cs typeface="Calibri"/>
              <a:sym typeface="Calibri"/>
            </a:endParaRPr>
          </a:p>
        </p:txBody>
      </p:sp>
      <p:sp>
        <p:nvSpPr>
          <p:cNvPr id="173" name="Google Shape;173;g3d44c00b686_0_130"/>
          <p:cNvSpPr/>
          <p:nvPr/>
        </p:nvSpPr>
        <p:spPr>
          <a:xfrm>
            <a:off x="15361212" y="2446639"/>
            <a:ext cx="1701600" cy="2534100"/>
          </a:xfrm>
          <a:prstGeom prst="rect">
            <a:avLst/>
          </a:prstGeom>
          <a:noFill/>
          <a:ln cap="flat" cmpd="sng" w="21850">
            <a:solidFill>
              <a:srgbClr val="FF0000"/>
            </a:solidFill>
            <a:prstDash val="solid"/>
            <a:round/>
            <a:headEnd len="sm" w="sm" type="none"/>
            <a:tailEnd len="sm" w="sm" type="none"/>
          </a:ln>
        </p:spPr>
        <p:txBody>
          <a:bodyPr anchorCtr="0" anchor="ctr" bIns="104900" lIns="104900" spcFirstLastPara="1" rIns="104900" wrap="square" tIns="104900">
            <a:noAutofit/>
          </a:bodyPr>
          <a:lstStyle/>
          <a:p>
            <a:pPr indent="0" lvl="0" marL="0" rtl="0" algn="ctr">
              <a:spcBef>
                <a:spcPts val="0"/>
              </a:spcBef>
              <a:spcAft>
                <a:spcPts val="0"/>
              </a:spcAft>
              <a:buNone/>
            </a:pPr>
            <a:r>
              <a:t/>
            </a:r>
            <a:endParaRPr sz="1607">
              <a:latin typeface="Calibri"/>
              <a:ea typeface="Calibri"/>
              <a:cs typeface="Calibri"/>
              <a:sym typeface="Calibri"/>
            </a:endParaRPr>
          </a:p>
        </p:txBody>
      </p:sp>
      <p:sp>
        <p:nvSpPr>
          <p:cNvPr id="174" name="Google Shape;174;g3d44c00b686_0_130"/>
          <p:cNvSpPr txBox="1"/>
          <p:nvPr/>
        </p:nvSpPr>
        <p:spPr>
          <a:xfrm>
            <a:off x="8890340" y="5246800"/>
            <a:ext cx="9139800" cy="441600"/>
          </a:xfrm>
          <a:prstGeom prst="rect">
            <a:avLst/>
          </a:prstGeom>
          <a:noFill/>
          <a:ln>
            <a:noFill/>
          </a:ln>
        </p:spPr>
        <p:txBody>
          <a:bodyPr anchorCtr="0" anchor="t" bIns="0" lIns="0" spcFirstLastPara="1" rIns="0" wrap="square" tIns="0">
            <a:spAutoFit/>
          </a:bodyPr>
          <a:lstStyle/>
          <a:p>
            <a:pPr indent="0" lvl="0" marL="0" marR="0" rtl="0" algn="ctr">
              <a:lnSpc>
                <a:spcPct val="145000"/>
              </a:lnSpc>
              <a:spcBef>
                <a:spcPts val="0"/>
              </a:spcBef>
              <a:spcAft>
                <a:spcPts val="0"/>
              </a:spcAft>
              <a:buNone/>
            </a:pPr>
            <a:r>
              <a:rPr b="1" lang="en-US" sz="2869">
                <a:latin typeface="Poppins"/>
                <a:ea typeface="Poppins"/>
                <a:cs typeface="Poppins"/>
                <a:sym typeface="Poppins"/>
              </a:rPr>
              <a:t>DECISION TREE</a:t>
            </a:r>
            <a:endParaRPr sz="2869">
              <a:latin typeface="Poppins"/>
              <a:ea typeface="Poppins"/>
              <a:cs typeface="Poppins"/>
              <a:sym typeface="Poppins"/>
            </a:endParaRPr>
          </a:p>
        </p:txBody>
      </p:sp>
      <p:pic>
        <p:nvPicPr>
          <p:cNvPr id="175" name="Google Shape;175;g3d44c00b686_0_130"/>
          <p:cNvPicPr preferRelativeResize="0"/>
          <p:nvPr/>
        </p:nvPicPr>
        <p:blipFill>
          <a:blip r:embed="rId4">
            <a:alphaModFix/>
          </a:blip>
          <a:stretch>
            <a:fillRect/>
          </a:stretch>
        </p:blipFill>
        <p:spPr>
          <a:xfrm>
            <a:off x="8890325" y="5863922"/>
            <a:ext cx="4554615" cy="4055479"/>
          </a:xfrm>
          <a:prstGeom prst="rect">
            <a:avLst/>
          </a:prstGeom>
          <a:noFill/>
          <a:ln>
            <a:noFill/>
          </a:ln>
        </p:spPr>
      </p:pic>
      <p:pic>
        <p:nvPicPr>
          <p:cNvPr id="176" name="Google Shape;176;g3d44c00b686_0_130"/>
          <p:cNvPicPr preferRelativeResize="0"/>
          <p:nvPr/>
        </p:nvPicPr>
        <p:blipFill>
          <a:blip r:embed="rId5">
            <a:alphaModFix/>
          </a:blip>
          <a:stretch>
            <a:fillRect/>
          </a:stretch>
        </p:blipFill>
        <p:spPr>
          <a:xfrm>
            <a:off x="13662810" y="6055554"/>
            <a:ext cx="4367439" cy="367221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d44c00b686_0_183"/>
          <p:cNvSpPr txBox="1"/>
          <p:nvPr/>
        </p:nvSpPr>
        <p:spPr>
          <a:xfrm>
            <a:off x="840350" y="1738825"/>
            <a:ext cx="7441500" cy="7638600"/>
          </a:xfrm>
          <a:prstGeom prst="rect">
            <a:avLst/>
          </a:prstGeom>
          <a:noFill/>
          <a:ln>
            <a:noFill/>
          </a:ln>
        </p:spPr>
        <p:txBody>
          <a:bodyPr anchorCtr="0" anchor="t" bIns="0" lIns="0" spcFirstLastPara="1" rIns="0" wrap="square" tIns="0">
            <a:spAutoFit/>
          </a:bodyPr>
          <a:lstStyle/>
          <a:p>
            <a:pPr indent="0" lvl="0" marL="0" marR="0" rtl="0" algn="just">
              <a:lnSpc>
                <a:spcPct val="145000"/>
              </a:lnSpc>
              <a:spcBef>
                <a:spcPts val="0"/>
              </a:spcBef>
              <a:spcAft>
                <a:spcPts val="0"/>
              </a:spcAft>
              <a:buNone/>
            </a:pPr>
            <a:r>
              <a:rPr b="1" lang="en-US" sz="2500">
                <a:latin typeface="Poppins"/>
                <a:ea typeface="Poppins"/>
                <a:cs typeface="Poppins"/>
                <a:sym typeface="Poppins"/>
              </a:rPr>
              <a:t>INTERPRETACIÓN - CV</a:t>
            </a:r>
            <a:endParaRPr b="1" sz="2500">
              <a:latin typeface="Poppins"/>
              <a:ea typeface="Poppins"/>
              <a:cs typeface="Poppins"/>
              <a:sym typeface="Poppins"/>
            </a:endParaRPr>
          </a:p>
          <a:p>
            <a:pPr indent="-387350" lvl="0" marL="4572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“Mejor” modelo es el árbol</a:t>
            </a:r>
            <a:endParaRPr sz="2500">
              <a:latin typeface="Poppins"/>
              <a:ea typeface="Poppins"/>
              <a:cs typeface="Poppins"/>
              <a:sym typeface="Poppins"/>
            </a:endParaRPr>
          </a:p>
          <a:p>
            <a:pPr indent="-387350" lvl="0" marL="4572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Sin embargo, no es bueno</a:t>
            </a:r>
            <a:endParaRPr sz="2500">
              <a:latin typeface="Poppins"/>
              <a:ea typeface="Poppins"/>
              <a:cs typeface="Poppins"/>
              <a:sym typeface="Poppins"/>
            </a:endParaRPr>
          </a:p>
          <a:p>
            <a:pPr indent="-387350" lvl="1" marL="9144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AUC ~ 0.67 (mejor que una moneda, pero no es bueno)</a:t>
            </a:r>
            <a:endParaRPr sz="2500">
              <a:latin typeface="Poppins"/>
              <a:ea typeface="Poppins"/>
              <a:cs typeface="Poppins"/>
              <a:sym typeface="Poppins"/>
            </a:endParaRPr>
          </a:p>
          <a:p>
            <a:pPr indent="-387350" lvl="1" marL="9144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Precision ~ 0.28 (de las predicciones, 28% son acertadas)</a:t>
            </a:r>
            <a:endParaRPr sz="2500">
              <a:latin typeface="Poppins"/>
              <a:ea typeface="Poppins"/>
              <a:cs typeface="Poppins"/>
              <a:sym typeface="Poppins"/>
            </a:endParaRPr>
          </a:p>
          <a:p>
            <a:pPr indent="-387350" lvl="1" marL="9144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Recall ~ 0.55 (de los jovenes que necesitan ayuda, solo se identifica 55%)</a:t>
            </a:r>
            <a:endParaRPr sz="2500">
              <a:latin typeface="Poppins"/>
              <a:ea typeface="Poppins"/>
              <a:cs typeface="Poppins"/>
              <a:sym typeface="Poppins"/>
            </a:endParaRPr>
          </a:p>
          <a:p>
            <a:pPr indent="0" lvl="0" marL="0" marR="0" rtl="0" algn="just">
              <a:lnSpc>
                <a:spcPct val="145000"/>
              </a:lnSpc>
              <a:spcBef>
                <a:spcPts val="0"/>
              </a:spcBef>
              <a:spcAft>
                <a:spcPts val="0"/>
              </a:spcAft>
              <a:buNone/>
            </a:pPr>
            <a:r>
              <a:rPr b="1" lang="en-US" sz="2500">
                <a:latin typeface="Poppins"/>
                <a:ea typeface="Poppins"/>
                <a:cs typeface="Poppins"/>
                <a:sym typeface="Poppins"/>
              </a:rPr>
              <a:t>INTERPRETACIÓN - DECISION TREE</a:t>
            </a:r>
            <a:endParaRPr sz="2500">
              <a:latin typeface="Poppins"/>
              <a:ea typeface="Poppins"/>
              <a:cs typeface="Poppins"/>
              <a:sym typeface="Poppins"/>
            </a:endParaRPr>
          </a:p>
          <a:p>
            <a:pPr indent="-387350" lvl="0" marL="4572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Matriz de confunsión parece peor que CV, pero confiamos más en los resultados CV</a:t>
            </a:r>
            <a:endParaRPr sz="2500">
              <a:latin typeface="Poppins"/>
              <a:ea typeface="Poppins"/>
              <a:cs typeface="Poppins"/>
              <a:sym typeface="Poppins"/>
            </a:endParaRPr>
          </a:p>
          <a:p>
            <a:pPr indent="-387350" lvl="0" marL="4572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Dificultad de concentración sigue dominando, pero ya hay m</a:t>
            </a:r>
            <a:r>
              <a:rPr lang="en-US" sz="2500">
                <a:latin typeface="Poppins"/>
                <a:ea typeface="Poppins"/>
                <a:cs typeface="Poppins"/>
                <a:sym typeface="Poppins"/>
              </a:rPr>
              <a:t>ás variables</a:t>
            </a:r>
            <a:endParaRPr sz="2500">
              <a:latin typeface="Poppins"/>
              <a:ea typeface="Poppins"/>
              <a:cs typeface="Poppins"/>
              <a:sym typeface="Poppins"/>
            </a:endParaRPr>
          </a:p>
        </p:txBody>
      </p:sp>
      <p:sp>
        <p:nvSpPr>
          <p:cNvPr id="182" name="Google Shape;182;g3d44c00b686_0_183"/>
          <p:cNvSpPr txBox="1"/>
          <p:nvPr/>
        </p:nvSpPr>
        <p:spPr>
          <a:xfrm>
            <a:off x="8890340" y="1738825"/>
            <a:ext cx="9139800" cy="441600"/>
          </a:xfrm>
          <a:prstGeom prst="rect">
            <a:avLst/>
          </a:prstGeom>
          <a:noFill/>
          <a:ln>
            <a:noFill/>
          </a:ln>
        </p:spPr>
        <p:txBody>
          <a:bodyPr anchorCtr="0" anchor="t" bIns="0" lIns="0" spcFirstLastPara="1" rIns="0" wrap="square" tIns="0">
            <a:spAutoFit/>
          </a:bodyPr>
          <a:lstStyle/>
          <a:p>
            <a:pPr indent="0" lvl="0" marL="0" marR="0" rtl="0" algn="ctr">
              <a:lnSpc>
                <a:spcPct val="145000"/>
              </a:lnSpc>
              <a:spcBef>
                <a:spcPts val="0"/>
              </a:spcBef>
              <a:spcAft>
                <a:spcPts val="0"/>
              </a:spcAft>
              <a:buNone/>
            </a:pPr>
            <a:r>
              <a:rPr b="1" lang="en-US" sz="2869">
                <a:latin typeface="Poppins"/>
                <a:ea typeface="Poppins"/>
                <a:cs typeface="Poppins"/>
                <a:sym typeface="Poppins"/>
              </a:rPr>
              <a:t>CV</a:t>
            </a:r>
            <a:endParaRPr sz="2869">
              <a:latin typeface="Poppins"/>
              <a:ea typeface="Poppins"/>
              <a:cs typeface="Poppins"/>
              <a:sym typeface="Poppins"/>
            </a:endParaRPr>
          </a:p>
        </p:txBody>
      </p:sp>
      <p:sp>
        <p:nvSpPr>
          <p:cNvPr id="183" name="Google Shape;183;g3d44c00b686_0_183"/>
          <p:cNvSpPr txBox="1"/>
          <p:nvPr/>
        </p:nvSpPr>
        <p:spPr>
          <a:xfrm>
            <a:off x="840353" y="737450"/>
            <a:ext cx="16687800" cy="769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5000">
                <a:solidFill>
                  <a:srgbClr val="2758E6"/>
                </a:solidFill>
                <a:latin typeface="Poppins"/>
                <a:ea typeface="Poppins"/>
                <a:cs typeface="Poppins"/>
                <a:sym typeface="Poppins"/>
              </a:rPr>
              <a:t>VALIDACIÓN Y MÉTRICAS - VARONES 12 A 17 AÑOS</a:t>
            </a:r>
            <a:endParaRPr b="1" sz="5000">
              <a:solidFill>
                <a:srgbClr val="2758E6"/>
              </a:solidFill>
              <a:latin typeface="Poppins"/>
              <a:ea typeface="Poppins"/>
              <a:cs typeface="Poppins"/>
              <a:sym typeface="Poppins"/>
            </a:endParaRPr>
          </a:p>
        </p:txBody>
      </p:sp>
      <p:pic>
        <p:nvPicPr>
          <p:cNvPr id="184" name="Google Shape;184;g3d44c00b686_0_183" title="Screenshot 2026-04-07 at 8.49.25 a.m..png"/>
          <p:cNvPicPr preferRelativeResize="0"/>
          <p:nvPr/>
        </p:nvPicPr>
        <p:blipFill rotWithShape="1">
          <a:blip r:embed="rId3">
            <a:alphaModFix/>
          </a:blip>
          <a:srcRect b="884" l="0" r="0" t="894"/>
          <a:stretch/>
        </p:blipFill>
        <p:spPr>
          <a:xfrm>
            <a:off x="8890397" y="2446582"/>
            <a:ext cx="9139779" cy="2534134"/>
          </a:xfrm>
          <a:prstGeom prst="rect">
            <a:avLst/>
          </a:prstGeom>
          <a:noFill/>
          <a:ln>
            <a:noFill/>
          </a:ln>
        </p:spPr>
      </p:pic>
      <p:sp>
        <p:nvSpPr>
          <p:cNvPr id="185" name="Google Shape;185;g3d44c00b686_0_183"/>
          <p:cNvSpPr/>
          <p:nvPr/>
        </p:nvSpPr>
        <p:spPr>
          <a:xfrm>
            <a:off x="10357949" y="2446625"/>
            <a:ext cx="1701600" cy="2534100"/>
          </a:xfrm>
          <a:prstGeom prst="rect">
            <a:avLst/>
          </a:prstGeom>
          <a:noFill/>
          <a:ln cap="flat" cmpd="sng" w="21850">
            <a:solidFill>
              <a:srgbClr val="FF0000"/>
            </a:solidFill>
            <a:prstDash val="solid"/>
            <a:round/>
            <a:headEnd len="sm" w="sm" type="none"/>
            <a:tailEnd len="sm" w="sm" type="none"/>
          </a:ln>
        </p:spPr>
        <p:txBody>
          <a:bodyPr anchorCtr="0" anchor="ctr" bIns="104900" lIns="104900" spcFirstLastPara="1" rIns="104900" wrap="square" tIns="104900">
            <a:noAutofit/>
          </a:bodyPr>
          <a:lstStyle/>
          <a:p>
            <a:pPr indent="0" lvl="0" marL="0" rtl="0" algn="ctr">
              <a:spcBef>
                <a:spcPts val="0"/>
              </a:spcBef>
              <a:spcAft>
                <a:spcPts val="0"/>
              </a:spcAft>
              <a:buNone/>
            </a:pPr>
            <a:r>
              <a:t/>
            </a:r>
            <a:endParaRPr sz="1607">
              <a:latin typeface="Calibri"/>
              <a:ea typeface="Calibri"/>
              <a:cs typeface="Calibri"/>
              <a:sym typeface="Calibri"/>
            </a:endParaRPr>
          </a:p>
        </p:txBody>
      </p:sp>
      <p:sp>
        <p:nvSpPr>
          <p:cNvPr id="186" name="Google Shape;186;g3d44c00b686_0_183"/>
          <p:cNvSpPr txBox="1"/>
          <p:nvPr/>
        </p:nvSpPr>
        <p:spPr>
          <a:xfrm>
            <a:off x="8890340" y="5246800"/>
            <a:ext cx="9139800" cy="441600"/>
          </a:xfrm>
          <a:prstGeom prst="rect">
            <a:avLst/>
          </a:prstGeom>
          <a:noFill/>
          <a:ln>
            <a:noFill/>
          </a:ln>
        </p:spPr>
        <p:txBody>
          <a:bodyPr anchorCtr="0" anchor="t" bIns="0" lIns="0" spcFirstLastPara="1" rIns="0" wrap="square" tIns="0">
            <a:spAutoFit/>
          </a:bodyPr>
          <a:lstStyle/>
          <a:p>
            <a:pPr indent="0" lvl="0" marL="0" marR="0" rtl="0" algn="ctr">
              <a:lnSpc>
                <a:spcPct val="145000"/>
              </a:lnSpc>
              <a:spcBef>
                <a:spcPts val="0"/>
              </a:spcBef>
              <a:spcAft>
                <a:spcPts val="0"/>
              </a:spcAft>
              <a:buNone/>
            </a:pPr>
            <a:r>
              <a:rPr b="1" lang="en-US" sz="2869">
                <a:latin typeface="Poppins"/>
                <a:ea typeface="Poppins"/>
                <a:cs typeface="Poppins"/>
                <a:sym typeface="Poppins"/>
              </a:rPr>
              <a:t>DECISION TREE</a:t>
            </a:r>
            <a:endParaRPr sz="2869">
              <a:latin typeface="Poppins"/>
              <a:ea typeface="Poppins"/>
              <a:cs typeface="Poppins"/>
              <a:sym typeface="Poppins"/>
            </a:endParaRPr>
          </a:p>
        </p:txBody>
      </p:sp>
      <p:pic>
        <p:nvPicPr>
          <p:cNvPr id="187" name="Google Shape;187;g3d44c00b686_0_183"/>
          <p:cNvPicPr preferRelativeResize="0"/>
          <p:nvPr/>
        </p:nvPicPr>
        <p:blipFill>
          <a:blip r:embed="rId4">
            <a:alphaModFix/>
          </a:blip>
          <a:stretch>
            <a:fillRect/>
          </a:stretch>
        </p:blipFill>
        <p:spPr>
          <a:xfrm>
            <a:off x="8890325" y="5863925"/>
            <a:ext cx="4554625" cy="4055475"/>
          </a:xfrm>
          <a:prstGeom prst="rect">
            <a:avLst/>
          </a:prstGeom>
          <a:noFill/>
          <a:ln>
            <a:noFill/>
          </a:ln>
        </p:spPr>
      </p:pic>
      <p:pic>
        <p:nvPicPr>
          <p:cNvPr id="188" name="Google Shape;188;g3d44c00b686_0_183"/>
          <p:cNvPicPr preferRelativeResize="0"/>
          <p:nvPr/>
        </p:nvPicPr>
        <p:blipFill>
          <a:blip r:embed="rId5">
            <a:alphaModFix/>
          </a:blip>
          <a:stretch>
            <a:fillRect/>
          </a:stretch>
        </p:blipFill>
        <p:spPr>
          <a:xfrm>
            <a:off x="13662800" y="6055550"/>
            <a:ext cx="4367450" cy="367222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d44c00b686_0_201"/>
          <p:cNvSpPr txBox="1"/>
          <p:nvPr/>
        </p:nvSpPr>
        <p:spPr>
          <a:xfrm>
            <a:off x="840350" y="1738825"/>
            <a:ext cx="7441500" cy="8196600"/>
          </a:xfrm>
          <a:prstGeom prst="rect">
            <a:avLst/>
          </a:prstGeom>
          <a:noFill/>
          <a:ln>
            <a:noFill/>
          </a:ln>
        </p:spPr>
        <p:txBody>
          <a:bodyPr anchorCtr="0" anchor="t" bIns="0" lIns="0" spcFirstLastPara="1" rIns="0" wrap="square" tIns="0">
            <a:spAutoFit/>
          </a:bodyPr>
          <a:lstStyle/>
          <a:p>
            <a:pPr indent="0" lvl="0" marL="0" marR="0" rtl="0" algn="just">
              <a:lnSpc>
                <a:spcPct val="145000"/>
              </a:lnSpc>
              <a:spcBef>
                <a:spcPts val="0"/>
              </a:spcBef>
              <a:spcAft>
                <a:spcPts val="0"/>
              </a:spcAft>
              <a:buNone/>
            </a:pPr>
            <a:r>
              <a:rPr b="1" lang="en-US" sz="2500">
                <a:latin typeface="Poppins"/>
                <a:ea typeface="Poppins"/>
                <a:cs typeface="Poppins"/>
                <a:sym typeface="Poppins"/>
              </a:rPr>
              <a:t>INTERPRETACIÓN - CV</a:t>
            </a:r>
            <a:endParaRPr b="1" sz="2500">
              <a:latin typeface="Poppins"/>
              <a:ea typeface="Poppins"/>
              <a:cs typeface="Poppins"/>
              <a:sym typeface="Poppins"/>
            </a:endParaRPr>
          </a:p>
          <a:p>
            <a:pPr indent="-387350" lvl="0" marL="457200" rtl="0" algn="just">
              <a:lnSpc>
                <a:spcPct val="145000"/>
              </a:lnSpc>
              <a:spcBef>
                <a:spcPts val="0"/>
              </a:spcBef>
              <a:spcAft>
                <a:spcPts val="0"/>
              </a:spcAft>
              <a:buSzPts val="2500"/>
              <a:buFont typeface="Poppins"/>
              <a:buChar char="●"/>
            </a:pPr>
            <a:r>
              <a:rPr lang="en-US" sz="2500">
                <a:solidFill>
                  <a:schemeClr val="dk1"/>
                </a:solidFill>
                <a:latin typeface="Poppins"/>
                <a:ea typeface="Poppins"/>
                <a:cs typeface="Poppins"/>
                <a:sym typeface="Poppins"/>
              </a:rPr>
              <a:t>“Mejores” modelos son la regresion logística y el random forest</a:t>
            </a:r>
            <a:endParaRPr sz="2500">
              <a:latin typeface="Poppins"/>
              <a:ea typeface="Poppins"/>
              <a:cs typeface="Poppins"/>
              <a:sym typeface="Poppins"/>
            </a:endParaRPr>
          </a:p>
          <a:p>
            <a:pPr indent="-387350" lvl="0" marL="4572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Mejor que los anteriores, pero no el mejor</a:t>
            </a:r>
            <a:endParaRPr sz="2500">
              <a:latin typeface="Poppins"/>
              <a:ea typeface="Poppins"/>
              <a:cs typeface="Poppins"/>
              <a:sym typeface="Poppins"/>
            </a:endParaRPr>
          </a:p>
          <a:p>
            <a:pPr indent="-387350" lvl="1" marL="9144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AUC ~ 0.72 (5% mejor que los anteriores)</a:t>
            </a:r>
            <a:endParaRPr sz="2500">
              <a:latin typeface="Poppins"/>
              <a:ea typeface="Poppins"/>
              <a:cs typeface="Poppins"/>
              <a:sym typeface="Poppins"/>
            </a:endParaRPr>
          </a:p>
          <a:p>
            <a:pPr indent="-387350" lvl="1" marL="9144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Precision ~ 0.32 (de las predicciones, 32% son acertadas)</a:t>
            </a:r>
            <a:endParaRPr sz="2500">
              <a:latin typeface="Poppins"/>
              <a:ea typeface="Poppins"/>
              <a:cs typeface="Poppins"/>
              <a:sym typeface="Poppins"/>
            </a:endParaRPr>
          </a:p>
          <a:p>
            <a:pPr indent="-387350" lvl="1" marL="9144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Recall ~ 0.62 (de los jovenes que necesitan ayuda, se identifica 62%)</a:t>
            </a:r>
            <a:endParaRPr sz="2500">
              <a:latin typeface="Poppins"/>
              <a:ea typeface="Poppins"/>
              <a:cs typeface="Poppins"/>
              <a:sym typeface="Poppins"/>
            </a:endParaRPr>
          </a:p>
          <a:p>
            <a:pPr indent="0" lvl="0" marL="0" marR="0" rtl="0" algn="just">
              <a:lnSpc>
                <a:spcPct val="145000"/>
              </a:lnSpc>
              <a:spcBef>
                <a:spcPts val="0"/>
              </a:spcBef>
              <a:spcAft>
                <a:spcPts val="0"/>
              </a:spcAft>
              <a:buNone/>
            </a:pPr>
            <a:r>
              <a:rPr b="1" lang="en-US" sz="2500">
                <a:latin typeface="Poppins"/>
                <a:ea typeface="Poppins"/>
                <a:cs typeface="Poppins"/>
                <a:sym typeface="Poppins"/>
              </a:rPr>
              <a:t>INTERPRETACIÓN - LOGISTIC REGRESSION</a:t>
            </a:r>
            <a:endParaRPr sz="2500">
              <a:latin typeface="Poppins"/>
              <a:ea typeface="Poppins"/>
              <a:cs typeface="Poppins"/>
              <a:sym typeface="Poppins"/>
            </a:endParaRPr>
          </a:p>
          <a:p>
            <a:pPr indent="-387350" lvl="0" marL="4572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Matriz de confunsión parece mejor que CV, pero confiamos más en los resultados CV</a:t>
            </a:r>
            <a:endParaRPr sz="2500">
              <a:latin typeface="Poppins"/>
              <a:ea typeface="Poppins"/>
              <a:cs typeface="Poppins"/>
              <a:sym typeface="Poppins"/>
            </a:endParaRPr>
          </a:p>
          <a:p>
            <a:pPr indent="-387350" lvl="0" marL="457200" marR="0" rtl="0" algn="just">
              <a:lnSpc>
                <a:spcPct val="145000"/>
              </a:lnSpc>
              <a:spcBef>
                <a:spcPts val="0"/>
              </a:spcBef>
              <a:spcAft>
                <a:spcPts val="0"/>
              </a:spcAft>
              <a:buSzPts val="2500"/>
              <a:buFont typeface="Poppins"/>
              <a:buChar char="●"/>
            </a:pPr>
            <a:r>
              <a:rPr lang="en-US" sz="2500">
                <a:latin typeface="Poppins"/>
                <a:ea typeface="Poppins"/>
                <a:cs typeface="Poppins"/>
                <a:sym typeface="Poppins"/>
              </a:rPr>
              <a:t>Predictores… extraños (e.j. consumo de drogas il</a:t>
            </a:r>
            <a:r>
              <a:rPr lang="en-US" sz="2500">
                <a:latin typeface="Poppins"/>
                <a:ea typeface="Poppins"/>
                <a:cs typeface="Poppins"/>
                <a:sym typeface="Poppins"/>
              </a:rPr>
              <a:t>ícitas con un gran coeficiente negativo)</a:t>
            </a:r>
            <a:endParaRPr sz="2500">
              <a:latin typeface="Poppins"/>
              <a:ea typeface="Poppins"/>
              <a:cs typeface="Poppins"/>
              <a:sym typeface="Poppins"/>
            </a:endParaRPr>
          </a:p>
        </p:txBody>
      </p:sp>
      <p:sp>
        <p:nvSpPr>
          <p:cNvPr id="194" name="Google Shape;194;g3d44c00b686_0_201"/>
          <p:cNvSpPr txBox="1"/>
          <p:nvPr/>
        </p:nvSpPr>
        <p:spPr>
          <a:xfrm>
            <a:off x="8890340" y="1738825"/>
            <a:ext cx="9139800" cy="441600"/>
          </a:xfrm>
          <a:prstGeom prst="rect">
            <a:avLst/>
          </a:prstGeom>
          <a:noFill/>
          <a:ln>
            <a:noFill/>
          </a:ln>
        </p:spPr>
        <p:txBody>
          <a:bodyPr anchorCtr="0" anchor="t" bIns="0" lIns="0" spcFirstLastPara="1" rIns="0" wrap="square" tIns="0">
            <a:spAutoFit/>
          </a:bodyPr>
          <a:lstStyle/>
          <a:p>
            <a:pPr indent="0" lvl="0" marL="0" marR="0" rtl="0" algn="ctr">
              <a:lnSpc>
                <a:spcPct val="145000"/>
              </a:lnSpc>
              <a:spcBef>
                <a:spcPts val="0"/>
              </a:spcBef>
              <a:spcAft>
                <a:spcPts val="0"/>
              </a:spcAft>
              <a:buNone/>
            </a:pPr>
            <a:r>
              <a:rPr b="1" lang="en-US" sz="2869">
                <a:latin typeface="Poppins"/>
                <a:ea typeface="Poppins"/>
                <a:cs typeface="Poppins"/>
                <a:sym typeface="Poppins"/>
              </a:rPr>
              <a:t>CV</a:t>
            </a:r>
            <a:endParaRPr sz="2869">
              <a:latin typeface="Poppins"/>
              <a:ea typeface="Poppins"/>
              <a:cs typeface="Poppins"/>
              <a:sym typeface="Poppins"/>
            </a:endParaRPr>
          </a:p>
        </p:txBody>
      </p:sp>
      <p:sp>
        <p:nvSpPr>
          <p:cNvPr id="195" name="Google Shape;195;g3d44c00b686_0_201"/>
          <p:cNvSpPr txBox="1"/>
          <p:nvPr/>
        </p:nvSpPr>
        <p:spPr>
          <a:xfrm>
            <a:off x="840353" y="737450"/>
            <a:ext cx="16687800" cy="769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5000">
                <a:solidFill>
                  <a:srgbClr val="2758E6"/>
                </a:solidFill>
                <a:latin typeface="Poppins"/>
                <a:ea typeface="Poppins"/>
                <a:cs typeface="Poppins"/>
                <a:sym typeface="Poppins"/>
              </a:rPr>
              <a:t>VALIDACIÓN Y MÉTRICAS - MUJERES 12 A 17 AÑOS</a:t>
            </a:r>
            <a:endParaRPr b="1" sz="5000">
              <a:solidFill>
                <a:srgbClr val="2758E6"/>
              </a:solidFill>
              <a:latin typeface="Poppins"/>
              <a:ea typeface="Poppins"/>
              <a:cs typeface="Poppins"/>
              <a:sym typeface="Poppins"/>
            </a:endParaRPr>
          </a:p>
        </p:txBody>
      </p:sp>
      <p:pic>
        <p:nvPicPr>
          <p:cNvPr id="196" name="Google Shape;196;g3d44c00b686_0_201" title="Screenshot 2026-04-07 at 8.54.17 a.m..png"/>
          <p:cNvPicPr preferRelativeResize="0"/>
          <p:nvPr/>
        </p:nvPicPr>
        <p:blipFill rotWithShape="1">
          <a:blip r:embed="rId3">
            <a:alphaModFix/>
          </a:blip>
          <a:srcRect b="1969" l="0" r="0" t="1960"/>
          <a:stretch/>
        </p:blipFill>
        <p:spPr>
          <a:xfrm>
            <a:off x="8890397" y="2446582"/>
            <a:ext cx="9139779" cy="2534134"/>
          </a:xfrm>
          <a:prstGeom prst="rect">
            <a:avLst/>
          </a:prstGeom>
          <a:noFill/>
          <a:ln>
            <a:noFill/>
          </a:ln>
        </p:spPr>
      </p:pic>
      <p:sp>
        <p:nvSpPr>
          <p:cNvPr id="197" name="Google Shape;197;g3d44c00b686_0_201"/>
          <p:cNvSpPr txBox="1"/>
          <p:nvPr/>
        </p:nvSpPr>
        <p:spPr>
          <a:xfrm>
            <a:off x="8890340" y="5246800"/>
            <a:ext cx="9139800" cy="441600"/>
          </a:xfrm>
          <a:prstGeom prst="rect">
            <a:avLst/>
          </a:prstGeom>
          <a:noFill/>
          <a:ln>
            <a:noFill/>
          </a:ln>
        </p:spPr>
        <p:txBody>
          <a:bodyPr anchorCtr="0" anchor="t" bIns="0" lIns="0" spcFirstLastPara="1" rIns="0" wrap="square" tIns="0">
            <a:spAutoFit/>
          </a:bodyPr>
          <a:lstStyle/>
          <a:p>
            <a:pPr indent="0" lvl="0" marL="0" marR="0" rtl="0" algn="ctr">
              <a:lnSpc>
                <a:spcPct val="145000"/>
              </a:lnSpc>
              <a:spcBef>
                <a:spcPts val="0"/>
              </a:spcBef>
              <a:spcAft>
                <a:spcPts val="0"/>
              </a:spcAft>
              <a:buNone/>
            </a:pPr>
            <a:r>
              <a:rPr b="1" lang="en-US" sz="2869">
                <a:latin typeface="Poppins"/>
                <a:ea typeface="Poppins"/>
                <a:cs typeface="Poppins"/>
                <a:sym typeface="Poppins"/>
              </a:rPr>
              <a:t>LOGISTIC REGRESSION</a:t>
            </a:r>
            <a:endParaRPr sz="2869">
              <a:latin typeface="Poppins"/>
              <a:ea typeface="Poppins"/>
              <a:cs typeface="Poppins"/>
              <a:sym typeface="Poppins"/>
            </a:endParaRPr>
          </a:p>
        </p:txBody>
      </p:sp>
      <p:sp>
        <p:nvSpPr>
          <p:cNvPr id="198" name="Google Shape;198;g3d44c00b686_0_201"/>
          <p:cNvSpPr/>
          <p:nvPr/>
        </p:nvSpPr>
        <p:spPr>
          <a:xfrm>
            <a:off x="13028207" y="2446611"/>
            <a:ext cx="2332800" cy="2534100"/>
          </a:xfrm>
          <a:prstGeom prst="rect">
            <a:avLst/>
          </a:prstGeom>
          <a:noFill/>
          <a:ln cap="flat" cmpd="sng" w="21850">
            <a:solidFill>
              <a:srgbClr val="FF0000"/>
            </a:solidFill>
            <a:prstDash val="solid"/>
            <a:round/>
            <a:headEnd len="sm" w="sm" type="none"/>
            <a:tailEnd len="sm" w="sm" type="none"/>
          </a:ln>
        </p:spPr>
        <p:txBody>
          <a:bodyPr anchorCtr="0" anchor="ctr" bIns="104900" lIns="104900" spcFirstLastPara="1" rIns="104900" wrap="square" tIns="104900">
            <a:noAutofit/>
          </a:bodyPr>
          <a:lstStyle/>
          <a:p>
            <a:pPr indent="0" lvl="0" marL="0" rtl="0" algn="ctr">
              <a:spcBef>
                <a:spcPts val="0"/>
              </a:spcBef>
              <a:spcAft>
                <a:spcPts val="0"/>
              </a:spcAft>
              <a:buNone/>
            </a:pPr>
            <a:r>
              <a:t/>
            </a:r>
            <a:endParaRPr sz="1607">
              <a:latin typeface="Calibri"/>
              <a:ea typeface="Calibri"/>
              <a:cs typeface="Calibri"/>
              <a:sym typeface="Calibri"/>
            </a:endParaRPr>
          </a:p>
        </p:txBody>
      </p:sp>
      <p:sp>
        <p:nvSpPr>
          <p:cNvPr id="199" name="Google Shape;199;g3d44c00b686_0_201"/>
          <p:cNvSpPr/>
          <p:nvPr/>
        </p:nvSpPr>
        <p:spPr>
          <a:xfrm>
            <a:off x="15361212" y="2446639"/>
            <a:ext cx="1701600" cy="2534100"/>
          </a:xfrm>
          <a:prstGeom prst="rect">
            <a:avLst/>
          </a:prstGeom>
          <a:noFill/>
          <a:ln cap="flat" cmpd="sng" w="21850">
            <a:solidFill>
              <a:srgbClr val="FF0000"/>
            </a:solidFill>
            <a:prstDash val="solid"/>
            <a:round/>
            <a:headEnd len="sm" w="sm" type="none"/>
            <a:tailEnd len="sm" w="sm" type="none"/>
          </a:ln>
        </p:spPr>
        <p:txBody>
          <a:bodyPr anchorCtr="0" anchor="ctr" bIns="104900" lIns="104900" spcFirstLastPara="1" rIns="104900" wrap="square" tIns="104900">
            <a:noAutofit/>
          </a:bodyPr>
          <a:lstStyle/>
          <a:p>
            <a:pPr indent="0" lvl="0" marL="0" rtl="0" algn="ctr">
              <a:spcBef>
                <a:spcPts val="0"/>
              </a:spcBef>
              <a:spcAft>
                <a:spcPts val="0"/>
              </a:spcAft>
              <a:buNone/>
            </a:pPr>
            <a:r>
              <a:t/>
            </a:r>
            <a:endParaRPr sz="1607">
              <a:latin typeface="Calibri"/>
              <a:ea typeface="Calibri"/>
              <a:cs typeface="Calibri"/>
              <a:sym typeface="Calibri"/>
            </a:endParaRPr>
          </a:p>
        </p:txBody>
      </p:sp>
      <p:pic>
        <p:nvPicPr>
          <p:cNvPr id="200" name="Google Shape;200;g3d44c00b686_0_201"/>
          <p:cNvPicPr preferRelativeResize="0"/>
          <p:nvPr/>
        </p:nvPicPr>
        <p:blipFill>
          <a:blip r:embed="rId4">
            <a:alphaModFix/>
          </a:blip>
          <a:stretch>
            <a:fillRect/>
          </a:stretch>
        </p:blipFill>
        <p:spPr>
          <a:xfrm>
            <a:off x="8890400" y="5863925"/>
            <a:ext cx="4554625" cy="4055475"/>
          </a:xfrm>
          <a:prstGeom prst="rect">
            <a:avLst/>
          </a:prstGeom>
          <a:noFill/>
          <a:ln>
            <a:noFill/>
          </a:ln>
        </p:spPr>
      </p:pic>
      <p:pic>
        <p:nvPicPr>
          <p:cNvPr id="201" name="Google Shape;201;g3d44c00b686_0_201"/>
          <p:cNvPicPr preferRelativeResize="0"/>
          <p:nvPr/>
        </p:nvPicPr>
        <p:blipFill>
          <a:blip r:embed="rId5">
            <a:alphaModFix/>
          </a:blip>
          <a:stretch>
            <a:fillRect/>
          </a:stretch>
        </p:blipFill>
        <p:spPr>
          <a:xfrm>
            <a:off x="13662800" y="6055550"/>
            <a:ext cx="4367450" cy="367222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grpSp>
        <p:nvGrpSpPr>
          <p:cNvPr id="206" name="Google Shape;206;g3d44c00b686_0_72"/>
          <p:cNvGrpSpPr/>
          <p:nvPr/>
        </p:nvGrpSpPr>
        <p:grpSpPr>
          <a:xfrm rot="4029767">
            <a:off x="11788775" y="-1029567"/>
            <a:ext cx="12346102" cy="12346102"/>
            <a:chOff x="0" y="0"/>
            <a:chExt cx="812800" cy="812800"/>
          </a:xfrm>
        </p:grpSpPr>
        <p:sp>
          <p:nvSpPr>
            <p:cNvPr id="207" name="Google Shape;207;g3d44c00b686_0_7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3062FF"/>
                </a:gs>
                <a:gs pos="100000">
                  <a:srgbClr val="01338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g3d44c00b686_0_72"/>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997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09" name="Google Shape;209;g3d44c00b686_0_72"/>
          <p:cNvSpPr/>
          <p:nvPr/>
        </p:nvSpPr>
        <p:spPr>
          <a:xfrm>
            <a:off x="12992417" y="2710006"/>
            <a:ext cx="4968621" cy="4804029"/>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g3d44c00b686_0_72"/>
          <p:cNvSpPr txBox="1"/>
          <p:nvPr/>
        </p:nvSpPr>
        <p:spPr>
          <a:xfrm>
            <a:off x="840346" y="737449"/>
            <a:ext cx="9150900" cy="769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5000">
                <a:solidFill>
                  <a:srgbClr val="2758E6"/>
                </a:solidFill>
                <a:latin typeface="Poppins"/>
                <a:ea typeface="Poppins"/>
                <a:cs typeface="Poppins"/>
                <a:sym typeface="Poppins"/>
              </a:rPr>
              <a:t>ÉTICA Y LIMITACIONES</a:t>
            </a:r>
            <a:endParaRPr b="1" sz="5000">
              <a:solidFill>
                <a:srgbClr val="2758E6"/>
              </a:solidFill>
              <a:latin typeface="Poppins"/>
              <a:ea typeface="Poppins"/>
              <a:cs typeface="Poppins"/>
              <a:sym typeface="Poppins"/>
            </a:endParaRPr>
          </a:p>
        </p:txBody>
      </p:sp>
      <p:sp>
        <p:nvSpPr>
          <p:cNvPr id="211" name="Google Shape;211;g3d44c00b686_0_72"/>
          <p:cNvSpPr txBox="1"/>
          <p:nvPr/>
        </p:nvSpPr>
        <p:spPr>
          <a:xfrm>
            <a:off x="840350" y="1738825"/>
            <a:ext cx="10615200" cy="47331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1" lang="en-US" sz="2500">
                <a:latin typeface="Poppins"/>
                <a:ea typeface="Poppins"/>
                <a:cs typeface="Poppins"/>
                <a:sym typeface="Poppins"/>
              </a:rPr>
              <a:t>CONSIDERACIONES ÉTICAS</a:t>
            </a:r>
            <a:endParaRPr b="1" sz="2500">
              <a:latin typeface="Poppins"/>
              <a:ea typeface="Poppins"/>
              <a:cs typeface="Poppins"/>
              <a:sym typeface="Poppins"/>
            </a:endParaRPr>
          </a:p>
          <a:p>
            <a:pPr indent="-387350" lvl="0" marL="457200" rtl="0" algn="just">
              <a:lnSpc>
                <a:spcPct val="150000"/>
              </a:lnSpc>
              <a:spcBef>
                <a:spcPts val="1200"/>
              </a:spcBef>
              <a:spcAft>
                <a:spcPts val="0"/>
              </a:spcAft>
              <a:buClr>
                <a:schemeClr val="dk1"/>
              </a:buClr>
              <a:buSzPts val="2500"/>
              <a:buFont typeface="Times New Roman"/>
              <a:buChar char="●"/>
            </a:pPr>
            <a:r>
              <a:rPr b="1" lang="en-US" sz="2500">
                <a:solidFill>
                  <a:srgbClr val="2758E6"/>
                </a:solidFill>
                <a:latin typeface="Poppins"/>
                <a:ea typeface="Poppins"/>
                <a:cs typeface="Poppins"/>
                <a:sym typeface="Poppins"/>
              </a:rPr>
              <a:t>Privacidad y protección de datos:</a:t>
            </a:r>
            <a:r>
              <a:rPr lang="en-US" sz="2500">
                <a:solidFill>
                  <a:schemeClr val="dk1"/>
                </a:solidFill>
                <a:latin typeface="Poppins"/>
                <a:ea typeface="Poppins"/>
                <a:cs typeface="Poppins"/>
                <a:sym typeface="Poppins"/>
              </a:rPr>
              <a:t> uso de información anonimizaday resguardo de datos sensibles.</a:t>
            </a:r>
            <a:endParaRPr sz="2500">
              <a:solidFill>
                <a:schemeClr val="dk1"/>
              </a:solidFill>
              <a:latin typeface="Poppins"/>
              <a:ea typeface="Poppins"/>
              <a:cs typeface="Poppins"/>
              <a:sym typeface="Poppins"/>
            </a:endParaRPr>
          </a:p>
          <a:p>
            <a:pPr indent="-387350" lvl="0" marL="457200" rtl="0" algn="just">
              <a:lnSpc>
                <a:spcPct val="150000"/>
              </a:lnSpc>
              <a:spcBef>
                <a:spcPts val="0"/>
              </a:spcBef>
              <a:spcAft>
                <a:spcPts val="0"/>
              </a:spcAft>
              <a:buClr>
                <a:schemeClr val="dk1"/>
              </a:buClr>
              <a:buSzPts val="2500"/>
              <a:buFont typeface="Times New Roman"/>
              <a:buChar char="●"/>
            </a:pPr>
            <a:r>
              <a:rPr b="1" lang="en-US" sz="2500">
                <a:solidFill>
                  <a:srgbClr val="2758E6"/>
                </a:solidFill>
                <a:latin typeface="Poppins"/>
                <a:ea typeface="Poppins"/>
                <a:cs typeface="Poppins"/>
                <a:sym typeface="Poppins"/>
              </a:rPr>
              <a:t>U</a:t>
            </a:r>
            <a:r>
              <a:rPr b="1" lang="en-US" sz="2500">
                <a:solidFill>
                  <a:srgbClr val="2758E6"/>
                </a:solidFill>
                <a:latin typeface="Poppins"/>
                <a:ea typeface="Poppins"/>
                <a:cs typeface="Poppins"/>
                <a:sym typeface="Poppins"/>
              </a:rPr>
              <a:t>so </a:t>
            </a:r>
            <a:r>
              <a:rPr b="1" lang="en-US" sz="2500">
                <a:solidFill>
                  <a:srgbClr val="2758E6"/>
                </a:solidFill>
                <a:latin typeface="Poppins"/>
                <a:ea typeface="Poppins"/>
                <a:cs typeface="Poppins"/>
                <a:sym typeface="Poppins"/>
              </a:rPr>
              <a:t>responsable del modelo:</a:t>
            </a:r>
            <a:r>
              <a:rPr lang="en-US" sz="2500">
                <a:solidFill>
                  <a:schemeClr val="dk1"/>
                </a:solidFill>
                <a:latin typeface="Poppins"/>
                <a:ea typeface="Poppins"/>
                <a:cs typeface="Poppins"/>
                <a:sym typeface="Poppins"/>
              </a:rPr>
              <a:t> herramienta de apoyo para prevención, no para decisiones punitivas o excluyentes.</a:t>
            </a:r>
            <a:endParaRPr sz="2500">
              <a:solidFill>
                <a:schemeClr val="dk1"/>
              </a:solidFill>
              <a:latin typeface="Poppins"/>
              <a:ea typeface="Poppins"/>
              <a:cs typeface="Poppins"/>
              <a:sym typeface="Poppins"/>
            </a:endParaRPr>
          </a:p>
          <a:p>
            <a:pPr indent="-387350" lvl="0" marL="457200" rtl="0" algn="just">
              <a:lnSpc>
                <a:spcPct val="150000"/>
              </a:lnSpc>
              <a:spcBef>
                <a:spcPts val="0"/>
              </a:spcBef>
              <a:spcAft>
                <a:spcPts val="0"/>
              </a:spcAft>
              <a:buClr>
                <a:schemeClr val="dk1"/>
              </a:buClr>
              <a:buSzPts val="2500"/>
              <a:buFont typeface="Times New Roman"/>
              <a:buChar char="●"/>
            </a:pPr>
            <a:r>
              <a:rPr b="1" lang="en-US" sz="2500">
                <a:solidFill>
                  <a:srgbClr val="2758E6"/>
                </a:solidFill>
                <a:latin typeface="Poppins"/>
                <a:ea typeface="Poppins"/>
                <a:cs typeface="Poppins"/>
                <a:sym typeface="Poppins"/>
              </a:rPr>
              <a:t>Supervisión humana:</a:t>
            </a:r>
            <a:r>
              <a:rPr lang="en-US" sz="2500">
                <a:solidFill>
                  <a:schemeClr val="dk1"/>
                </a:solidFill>
                <a:latin typeface="Poppins"/>
                <a:ea typeface="Poppins"/>
                <a:cs typeface="Poppins"/>
                <a:sym typeface="Poppins"/>
              </a:rPr>
              <a:t> las decisiones finales deben ser tomadas por profesionales en educación y salud.</a:t>
            </a:r>
            <a:endParaRPr sz="2500">
              <a:solidFill>
                <a:schemeClr val="dk1"/>
              </a:solidFill>
              <a:latin typeface="Poppins"/>
              <a:ea typeface="Poppins"/>
              <a:cs typeface="Poppins"/>
              <a:sym typeface="Poppins"/>
            </a:endParaRPr>
          </a:p>
          <a:p>
            <a:pPr indent="0" lvl="0" marL="457200" rtl="0" algn="just">
              <a:lnSpc>
                <a:spcPct val="150000"/>
              </a:lnSpc>
              <a:spcBef>
                <a:spcPts val="1200"/>
              </a:spcBef>
              <a:spcAft>
                <a:spcPts val="0"/>
              </a:spcAft>
              <a:buNone/>
            </a:pPr>
            <a:r>
              <a:t/>
            </a:r>
            <a:endParaRPr sz="2500">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grpSp>
        <p:nvGrpSpPr>
          <p:cNvPr id="216" name="Google Shape;216;g386ebc568c0_0_3"/>
          <p:cNvGrpSpPr/>
          <p:nvPr/>
        </p:nvGrpSpPr>
        <p:grpSpPr>
          <a:xfrm rot="4029767">
            <a:off x="11788775" y="-1029567"/>
            <a:ext cx="12346102" cy="12346102"/>
            <a:chOff x="0" y="0"/>
            <a:chExt cx="812800" cy="812800"/>
          </a:xfrm>
        </p:grpSpPr>
        <p:sp>
          <p:nvSpPr>
            <p:cNvPr id="217" name="Google Shape;217;g386ebc568c0_0_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3062FF"/>
                </a:gs>
                <a:gs pos="100000">
                  <a:srgbClr val="01338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g386ebc568c0_0_3"/>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997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9" name="Google Shape;219;g386ebc568c0_0_3"/>
          <p:cNvSpPr/>
          <p:nvPr/>
        </p:nvSpPr>
        <p:spPr>
          <a:xfrm>
            <a:off x="12992417" y="2710006"/>
            <a:ext cx="4968621" cy="4804029"/>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g386ebc568c0_0_3"/>
          <p:cNvSpPr txBox="1"/>
          <p:nvPr/>
        </p:nvSpPr>
        <p:spPr>
          <a:xfrm>
            <a:off x="840351" y="737450"/>
            <a:ext cx="12025500" cy="769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5000">
                <a:solidFill>
                  <a:srgbClr val="2758E6"/>
                </a:solidFill>
                <a:latin typeface="Poppins"/>
                <a:ea typeface="Poppins"/>
                <a:cs typeface="Poppins"/>
                <a:sym typeface="Poppins"/>
              </a:rPr>
              <a:t>LIMITACIONES </a:t>
            </a:r>
            <a:endParaRPr b="1" sz="5000">
              <a:solidFill>
                <a:srgbClr val="2758E6"/>
              </a:solidFill>
              <a:latin typeface="Poppins"/>
              <a:ea typeface="Poppins"/>
              <a:cs typeface="Poppins"/>
              <a:sym typeface="Poppins"/>
            </a:endParaRPr>
          </a:p>
        </p:txBody>
      </p:sp>
      <p:sp>
        <p:nvSpPr>
          <p:cNvPr id="221" name="Google Shape;221;g386ebc568c0_0_3"/>
          <p:cNvSpPr txBox="1"/>
          <p:nvPr/>
        </p:nvSpPr>
        <p:spPr>
          <a:xfrm>
            <a:off x="840350" y="1738825"/>
            <a:ext cx="10615200" cy="8196600"/>
          </a:xfrm>
          <a:prstGeom prst="rect">
            <a:avLst/>
          </a:prstGeom>
          <a:noFill/>
          <a:ln>
            <a:noFill/>
          </a:ln>
        </p:spPr>
        <p:txBody>
          <a:bodyPr anchorCtr="0" anchor="t" bIns="0" lIns="0" spcFirstLastPara="1" rIns="0" wrap="square" tIns="0">
            <a:spAutoFit/>
          </a:bodyPr>
          <a:lstStyle/>
          <a:p>
            <a:pPr indent="0" lvl="0" marL="0" marR="0" rtl="0" algn="just">
              <a:lnSpc>
                <a:spcPct val="145000"/>
              </a:lnSpc>
              <a:spcBef>
                <a:spcPts val="0"/>
              </a:spcBef>
              <a:spcAft>
                <a:spcPts val="0"/>
              </a:spcAft>
              <a:buNone/>
            </a:pPr>
            <a:r>
              <a:t/>
            </a:r>
            <a:endParaRPr sz="2500">
              <a:solidFill>
                <a:schemeClr val="dk1"/>
              </a:solidFill>
              <a:latin typeface="Poppins"/>
              <a:ea typeface="Poppins"/>
              <a:cs typeface="Poppins"/>
              <a:sym typeface="Poppins"/>
            </a:endParaRPr>
          </a:p>
          <a:p>
            <a:pPr indent="-387350" lvl="0" marL="457200" rtl="0" algn="just">
              <a:lnSpc>
                <a:spcPct val="145000"/>
              </a:lnSpc>
              <a:spcBef>
                <a:spcPts val="0"/>
              </a:spcBef>
              <a:spcAft>
                <a:spcPts val="0"/>
              </a:spcAft>
              <a:buClr>
                <a:schemeClr val="dk1"/>
              </a:buClr>
              <a:buSzPts val="2500"/>
              <a:buFont typeface="Poppins"/>
              <a:buChar char="●"/>
            </a:pPr>
            <a:r>
              <a:rPr i="1" lang="en-US" sz="2500">
                <a:solidFill>
                  <a:schemeClr val="dk1"/>
                </a:solidFill>
                <a:latin typeface="Poppins"/>
                <a:ea typeface="Poppins"/>
                <a:cs typeface="Poppins"/>
                <a:sym typeface="Poppins"/>
              </a:rPr>
              <a:t>La principal limitante es que los predictores que se seleccionaron, no predicen el resultado.</a:t>
            </a:r>
            <a:r>
              <a:rPr lang="en-US" sz="2500">
                <a:solidFill>
                  <a:schemeClr val="dk1"/>
                </a:solidFill>
                <a:latin typeface="Poppins"/>
                <a:ea typeface="Poppins"/>
                <a:cs typeface="Poppins"/>
                <a:sym typeface="Poppins"/>
              </a:rPr>
              <a:t>   Decision Tree, Logistic Regression y Random Forest son los modelos con mejor desempeño, pero en términos absolutos ninguno alcanza un nivel adecuado de predicción.</a:t>
            </a:r>
            <a:endParaRPr sz="2500">
              <a:solidFill>
                <a:schemeClr val="dk1"/>
              </a:solidFill>
              <a:latin typeface="Poppins"/>
              <a:ea typeface="Poppins"/>
              <a:cs typeface="Poppins"/>
              <a:sym typeface="Poppins"/>
            </a:endParaRPr>
          </a:p>
          <a:p>
            <a:pPr indent="-387350" lvl="0" marL="457200" rtl="0" algn="just">
              <a:lnSpc>
                <a:spcPct val="145000"/>
              </a:lnSpc>
              <a:spcBef>
                <a:spcPts val="0"/>
              </a:spcBef>
              <a:spcAft>
                <a:spcPts val="0"/>
              </a:spcAft>
              <a:buSzPts val="2500"/>
              <a:buFont typeface="Poppins"/>
              <a:buChar char="●"/>
            </a:pPr>
            <a:r>
              <a:rPr i="1" lang="en-US" sz="2500">
                <a:solidFill>
                  <a:schemeClr val="dk1"/>
                </a:solidFill>
                <a:latin typeface="Poppins"/>
                <a:ea typeface="Poppins"/>
                <a:cs typeface="Poppins"/>
                <a:sym typeface="Poppins"/>
              </a:rPr>
              <a:t>Riesgo de confundir correlación con causalidad: </a:t>
            </a:r>
            <a:r>
              <a:rPr lang="en-US" sz="2500">
                <a:solidFill>
                  <a:schemeClr val="dk1"/>
                </a:solidFill>
                <a:latin typeface="Poppins"/>
                <a:ea typeface="Poppins"/>
                <a:cs typeface="Poppins"/>
                <a:sym typeface="Poppins"/>
              </a:rPr>
              <a:t>Muchos predictores parecen ser señales asociadas, no causas directas. Por ejemplo, depresión, ansiedad, concentración o sueño pueden coexistir con la dificultad, pero el modelo no prueba que intervenir sobre una variable cambie el resultado.</a:t>
            </a:r>
            <a:endParaRPr sz="2500">
              <a:solidFill>
                <a:schemeClr val="dk1"/>
              </a:solidFill>
              <a:latin typeface="Poppins"/>
              <a:ea typeface="Poppins"/>
              <a:cs typeface="Poppins"/>
              <a:sym typeface="Poppins"/>
            </a:endParaRPr>
          </a:p>
          <a:p>
            <a:pPr indent="-387350" lvl="0" marL="457200" rtl="0" algn="just">
              <a:lnSpc>
                <a:spcPct val="145000"/>
              </a:lnSpc>
              <a:spcBef>
                <a:spcPts val="0"/>
              </a:spcBef>
              <a:spcAft>
                <a:spcPts val="0"/>
              </a:spcAft>
              <a:buSzPts val="2500"/>
              <a:buFont typeface="Poppins"/>
              <a:buChar char="●"/>
            </a:pPr>
            <a:r>
              <a:rPr i="1" lang="en-US" sz="2500">
                <a:solidFill>
                  <a:schemeClr val="dk1"/>
                </a:solidFill>
                <a:latin typeface="Poppins"/>
                <a:ea typeface="Poppins"/>
                <a:cs typeface="Poppins"/>
                <a:sym typeface="Poppins"/>
              </a:rPr>
              <a:t>Tamaño de muestra limitado para segmentación. </a:t>
            </a:r>
            <a:r>
              <a:rPr lang="en-US" sz="2500">
                <a:solidFill>
                  <a:schemeClr val="dk1"/>
                </a:solidFill>
                <a:latin typeface="Poppins"/>
                <a:ea typeface="Poppins"/>
                <a:cs typeface="Poppins"/>
                <a:sym typeface="Poppins"/>
              </a:rPr>
              <a:t>Al dividir por sexo y edad, cada submuestra queda relativamente pequeña.</a:t>
            </a:r>
            <a:endParaRPr sz="2500">
              <a:solidFill>
                <a:schemeClr val="dk1"/>
              </a:solidFill>
              <a:latin typeface="Poppins"/>
              <a:ea typeface="Poppins"/>
              <a:cs typeface="Poppins"/>
              <a:sym typeface="Poppins"/>
            </a:endParaRPr>
          </a:p>
          <a:p>
            <a:pPr indent="0" lvl="0" marL="0" rtl="0" algn="just">
              <a:lnSpc>
                <a:spcPct val="145000"/>
              </a:lnSpc>
              <a:spcBef>
                <a:spcPts val="0"/>
              </a:spcBef>
              <a:spcAft>
                <a:spcPts val="0"/>
              </a:spcAft>
              <a:buNone/>
            </a:pPr>
            <a:r>
              <a:t/>
            </a:r>
            <a:endParaRPr sz="2500">
              <a:solidFill>
                <a:schemeClr val="dk1"/>
              </a:solidFill>
              <a:latin typeface="Poppins"/>
              <a:ea typeface="Poppins"/>
              <a:cs typeface="Poppins"/>
              <a:sym typeface="Poppins"/>
            </a:endParaRPr>
          </a:p>
          <a:p>
            <a:pPr indent="0" lvl="0" marL="914400" marR="0" rtl="0" algn="just">
              <a:lnSpc>
                <a:spcPct val="145000"/>
              </a:lnSpc>
              <a:spcBef>
                <a:spcPts val="0"/>
              </a:spcBef>
              <a:spcAft>
                <a:spcPts val="0"/>
              </a:spcAft>
              <a:buNone/>
            </a:pPr>
            <a:r>
              <a:t/>
            </a:r>
            <a:endParaRPr sz="2500">
              <a:solidFill>
                <a:schemeClr val="dk1"/>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grpSp>
        <p:nvGrpSpPr>
          <p:cNvPr id="226" name="Google Shape;226;g3d44c00b686_0_137"/>
          <p:cNvGrpSpPr/>
          <p:nvPr/>
        </p:nvGrpSpPr>
        <p:grpSpPr>
          <a:xfrm>
            <a:off x="5445952" y="1867307"/>
            <a:ext cx="12406028" cy="7692663"/>
            <a:chOff x="7133175" y="6062907"/>
            <a:chExt cx="11449956" cy="4477685"/>
          </a:xfrm>
        </p:grpSpPr>
        <p:sp>
          <p:nvSpPr>
            <p:cNvPr id="227" name="Google Shape;227;g3d44c00b686_0_137"/>
            <p:cNvSpPr/>
            <p:nvPr/>
          </p:nvSpPr>
          <p:spPr>
            <a:xfrm>
              <a:off x="7133175" y="6062907"/>
              <a:ext cx="11449956" cy="4477685"/>
            </a:xfrm>
            <a:custGeom>
              <a:rect b="b" l="l" r="r" t="t"/>
              <a:pathLst>
                <a:path extrusionOk="0" h="1104238" w="3015130">
                  <a:moveTo>
                    <a:pt x="20288" y="0"/>
                  </a:moveTo>
                  <a:lnTo>
                    <a:pt x="2994842" y="0"/>
                  </a:lnTo>
                  <a:cubicBezTo>
                    <a:pt x="3000222" y="0"/>
                    <a:pt x="3005383" y="2137"/>
                    <a:pt x="3009187" y="5942"/>
                  </a:cubicBezTo>
                  <a:cubicBezTo>
                    <a:pt x="3012992" y="9747"/>
                    <a:pt x="3015130" y="14907"/>
                    <a:pt x="3015130" y="20288"/>
                  </a:cubicBezTo>
                  <a:lnTo>
                    <a:pt x="3015130" y="1083951"/>
                  </a:lnTo>
                  <a:cubicBezTo>
                    <a:pt x="3015130" y="1089331"/>
                    <a:pt x="3012992" y="1094492"/>
                    <a:pt x="3009187" y="1098296"/>
                  </a:cubicBezTo>
                  <a:cubicBezTo>
                    <a:pt x="3005383" y="1102101"/>
                    <a:pt x="3000222" y="1104238"/>
                    <a:pt x="2994842" y="1104238"/>
                  </a:cubicBezTo>
                  <a:lnTo>
                    <a:pt x="20288" y="1104238"/>
                  </a:lnTo>
                  <a:cubicBezTo>
                    <a:pt x="14907" y="1104238"/>
                    <a:pt x="9747" y="1102101"/>
                    <a:pt x="5942" y="1098296"/>
                  </a:cubicBezTo>
                  <a:cubicBezTo>
                    <a:pt x="2137" y="1094492"/>
                    <a:pt x="0" y="1089331"/>
                    <a:pt x="0" y="1083951"/>
                  </a:cubicBezTo>
                  <a:lnTo>
                    <a:pt x="0" y="20288"/>
                  </a:lnTo>
                  <a:cubicBezTo>
                    <a:pt x="0" y="14907"/>
                    <a:pt x="2137" y="9747"/>
                    <a:pt x="5942" y="5942"/>
                  </a:cubicBezTo>
                  <a:cubicBezTo>
                    <a:pt x="9747" y="2137"/>
                    <a:pt x="14907" y="0"/>
                    <a:pt x="20288" y="0"/>
                  </a:cubicBezTo>
                  <a:close/>
                </a:path>
              </a:pathLst>
            </a:custGeom>
            <a:gradFill>
              <a:gsLst>
                <a:gs pos="0">
                  <a:srgbClr val="3062FF"/>
                </a:gs>
                <a:gs pos="100000">
                  <a:srgbClr val="013388"/>
                </a:gs>
              </a:gsLst>
              <a:lin ang="2700006" scaled="0"/>
            </a:gradFill>
            <a:ln>
              <a:noFill/>
            </a:ln>
          </p:spPr>
          <p:txBody>
            <a:bodyPr anchorCtr="0" anchor="t" bIns="47725" lIns="95500" spcFirstLastPara="1" rIns="95500" wrap="square" tIns="47725">
              <a:noAutofit/>
            </a:bodyPr>
            <a:lstStyle/>
            <a:p>
              <a:pPr indent="0" lvl="0" marL="0" marR="0" rtl="0" algn="l">
                <a:spcBef>
                  <a:spcPts val="0"/>
                </a:spcBef>
                <a:spcAft>
                  <a:spcPts val="0"/>
                </a:spcAft>
                <a:buNone/>
              </a:pPr>
              <a:r>
                <a:t/>
              </a:r>
              <a:endParaRPr sz="1880">
                <a:solidFill>
                  <a:schemeClr val="dk1"/>
                </a:solidFill>
                <a:latin typeface="Calibri"/>
                <a:ea typeface="Calibri"/>
                <a:cs typeface="Calibri"/>
                <a:sym typeface="Calibri"/>
              </a:endParaRPr>
            </a:p>
          </p:txBody>
        </p:sp>
        <p:sp>
          <p:nvSpPr>
            <p:cNvPr id="228" name="Google Shape;228;g3d44c00b686_0_137"/>
            <p:cNvSpPr txBox="1"/>
            <p:nvPr/>
          </p:nvSpPr>
          <p:spPr>
            <a:xfrm>
              <a:off x="7667395" y="6247631"/>
              <a:ext cx="10379700" cy="4141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611">
                  <a:solidFill>
                    <a:srgbClr val="FFFFFF"/>
                  </a:solidFill>
                  <a:latin typeface="Poppins"/>
                  <a:ea typeface="Poppins"/>
                  <a:cs typeface="Poppins"/>
                  <a:sym typeface="Poppins"/>
                </a:rPr>
                <a:t>USO PRÁCTICO</a:t>
              </a:r>
              <a:endParaRPr b="1" sz="2611">
                <a:solidFill>
                  <a:srgbClr val="FFFFFF"/>
                </a:solidFill>
                <a:latin typeface="Poppins"/>
                <a:ea typeface="Poppins"/>
                <a:cs typeface="Poppins"/>
                <a:sym typeface="Poppins"/>
              </a:endParaRPr>
            </a:p>
            <a:p>
              <a:pPr indent="-404613" lvl="0" marL="477575" marR="0" rtl="0" algn="l">
                <a:lnSpc>
                  <a:spcPct val="115000"/>
                </a:lnSpc>
                <a:spcBef>
                  <a:spcPts val="0"/>
                </a:spcBef>
                <a:spcAft>
                  <a:spcPts val="0"/>
                </a:spcAft>
                <a:buClr>
                  <a:schemeClr val="lt1"/>
                </a:buClr>
                <a:buSzPts val="2611"/>
                <a:buFont typeface="Poppins"/>
                <a:buChar char="●"/>
              </a:pPr>
              <a:r>
                <a:rPr lang="en-US" sz="2298">
                  <a:solidFill>
                    <a:schemeClr val="lt1"/>
                  </a:solidFill>
                  <a:latin typeface="Poppins"/>
                  <a:ea typeface="Poppins"/>
                  <a:cs typeface="Poppins"/>
                  <a:sym typeface="Poppins"/>
                </a:rPr>
                <a:t>Definir el uso del modelo. El modelo NO sirve para etiquetar al adolescente, pero si para un acompañamiento preventivo.</a:t>
              </a:r>
              <a:endParaRPr sz="2298">
                <a:solidFill>
                  <a:schemeClr val="lt1"/>
                </a:solidFill>
                <a:latin typeface="Poppins"/>
                <a:ea typeface="Poppins"/>
                <a:cs typeface="Poppins"/>
                <a:sym typeface="Poppins"/>
              </a:endParaRPr>
            </a:p>
            <a:p>
              <a:pPr indent="-384714" lvl="0" marL="477575" rtl="0" algn="just">
                <a:lnSpc>
                  <a:spcPct val="115000"/>
                </a:lnSpc>
                <a:spcBef>
                  <a:spcPts val="0"/>
                </a:spcBef>
                <a:spcAft>
                  <a:spcPts val="0"/>
                </a:spcAft>
                <a:buClr>
                  <a:schemeClr val="lt1"/>
                </a:buClr>
                <a:buSzPts val="2298"/>
                <a:buFont typeface="Poppins"/>
                <a:buChar char="●"/>
              </a:pPr>
              <a:r>
                <a:rPr lang="en-US" sz="2298">
                  <a:solidFill>
                    <a:schemeClr val="lt1"/>
                  </a:solidFill>
                  <a:latin typeface="Poppins"/>
                  <a:ea typeface="Poppins"/>
                  <a:cs typeface="Poppins"/>
                  <a:sym typeface="Poppins"/>
                </a:rPr>
                <a:t>Genera un score de riesgo (0–1) que permite identificar adolescentes con mayor probabilidad de presentar dificultades de aprendizaje.</a:t>
              </a:r>
              <a:endParaRPr sz="2298">
                <a:solidFill>
                  <a:schemeClr val="lt1"/>
                </a:solidFill>
                <a:latin typeface="Poppins"/>
                <a:ea typeface="Poppins"/>
                <a:cs typeface="Poppins"/>
                <a:sym typeface="Poppins"/>
              </a:endParaRPr>
            </a:p>
            <a:p>
              <a:pPr indent="-384714" lvl="0" marL="477575" rtl="0" algn="just">
                <a:lnSpc>
                  <a:spcPct val="115000"/>
                </a:lnSpc>
                <a:spcBef>
                  <a:spcPts val="0"/>
                </a:spcBef>
                <a:spcAft>
                  <a:spcPts val="0"/>
                </a:spcAft>
                <a:buClr>
                  <a:schemeClr val="lt1"/>
                </a:buClr>
                <a:buSzPts val="2298"/>
                <a:buFont typeface="Poppins"/>
                <a:buChar char="●"/>
              </a:pPr>
              <a:r>
                <a:rPr lang="en-US" sz="2298">
                  <a:solidFill>
                    <a:schemeClr val="lt1"/>
                  </a:solidFill>
                  <a:latin typeface="Poppins"/>
                  <a:ea typeface="Poppins"/>
                  <a:cs typeface="Poppins"/>
                  <a:sym typeface="Poppins"/>
                </a:rPr>
                <a:t>Este score serviría para priorizar evaluaciones adicionales, no para tomar decisiones automáticas.</a:t>
              </a:r>
              <a:endParaRPr sz="1149">
                <a:solidFill>
                  <a:schemeClr val="lt1"/>
                </a:solidFill>
              </a:endParaRPr>
            </a:p>
            <a:p>
              <a:pPr indent="-384714" lvl="0" marL="477575" rtl="0" algn="just">
                <a:lnSpc>
                  <a:spcPct val="115000"/>
                </a:lnSpc>
                <a:spcBef>
                  <a:spcPts val="0"/>
                </a:spcBef>
                <a:spcAft>
                  <a:spcPts val="0"/>
                </a:spcAft>
                <a:buClr>
                  <a:schemeClr val="lt1"/>
                </a:buClr>
                <a:buSzPts val="2298"/>
                <a:buFont typeface="Poppins"/>
                <a:buChar char="●"/>
              </a:pPr>
              <a:r>
                <a:rPr lang="en-US" sz="2298">
                  <a:solidFill>
                    <a:schemeClr val="lt1"/>
                  </a:solidFill>
                  <a:latin typeface="Poppins"/>
                  <a:ea typeface="Poppins"/>
                  <a:cs typeface="Poppins"/>
                  <a:sym typeface="Poppins"/>
                </a:rPr>
                <a:t>Uso del modelo enfocado en: Escuelas y Programas de Salud Pública</a:t>
              </a:r>
              <a:endParaRPr sz="2298">
                <a:solidFill>
                  <a:schemeClr val="lt1"/>
                </a:solidFill>
                <a:latin typeface="Poppins"/>
                <a:ea typeface="Poppins"/>
                <a:cs typeface="Poppins"/>
                <a:sym typeface="Poppins"/>
              </a:endParaRPr>
            </a:p>
            <a:p>
              <a:pPr indent="-384714" lvl="0" marL="477575" rtl="0" algn="just">
                <a:lnSpc>
                  <a:spcPct val="115000"/>
                </a:lnSpc>
                <a:spcBef>
                  <a:spcPts val="0"/>
                </a:spcBef>
                <a:spcAft>
                  <a:spcPts val="0"/>
                </a:spcAft>
                <a:buClr>
                  <a:schemeClr val="lt1"/>
                </a:buClr>
                <a:buSzPts val="2298"/>
                <a:buFont typeface="Poppins"/>
                <a:buChar char="●"/>
              </a:pPr>
              <a:r>
                <a:rPr lang="en-US" sz="2298">
                  <a:solidFill>
                    <a:schemeClr val="lt1"/>
                  </a:solidFill>
                  <a:latin typeface="Poppins"/>
                  <a:ea typeface="Poppins"/>
                  <a:cs typeface="Poppins"/>
                  <a:sym typeface="Poppins"/>
                </a:rPr>
                <a:t>Apoyar en decisiones concretas: </a:t>
              </a:r>
              <a:endParaRPr sz="2298">
                <a:solidFill>
                  <a:schemeClr val="lt1"/>
                </a:solidFill>
                <a:latin typeface="Poppins"/>
                <a:ea typeface="Poppins"/>
                <a:cs typeface="Poppins"/>
                <a:sym typeface="Poppins"/>
              </a:endParaRPr>
            </a:p>
            <a:p>
              <a:pPr indent="-384714" lvl="1" marL="955149" rtl="0" algn="just">
                <a:lnSpc>
                  <a:spcPct val="115000"/>
                </a:lnSpc>
                <a:spcBef>
                  <a:spcPts val="0"/>
                </a:spcBef>
                <a:spcAft>
                  <a:spcPts val="0"/>
                </a:spcAft>
                <a:buClr>
                  <a:schemeClr val="lt1"/>
                </a:buClr>
                <a:buSzPts val="2298"/>
                <a:buFont typeface="Poppins"/>
                <a:buChar char="○"/>
              </a:pPr>
              <a:r>
                <a:rPr lang="en-US" sz="2298">
                  <a:solidFill>
                    <a:schemeClr val="lt1"/>
                  </a:solidFill>
                  <a:latin typeface="Poppins"/>
                  <a:ea typeface="Poppins"/>
                  <a:cs typeface="Poppins"/>
                  <a:sym typeface="Poppins"/>
                </a:rPr>
                <a:t>Priorización de Recursos</a:t>
              </a:r>
              <a:endParaRPr sz="2298">
                <a:solidFill>
                  <a:schemeClr val="lt1"/>
                </a:solidFill>
                <a:latin typeface="Poppins"/>
                <a:ea typeface="Poppins"/>
                <a:cs typeface="Poppins"/>
                <a:sym typeface="Poppins"/>
              </a:endParaRPr>
            </a:p>
            <a:p>
              <a:pPr indent="-384714" lvl="1" marL="955149" rtl="0" algn="just">
                <a:lnSpc>
                  <a:spcPct val="115000"/>
                </a:lnSpc>
                <a:spcBef>
                  <a:spcPts val="0"/>
                </a:spcBef>
                <a:spcAft>
                  <a:spcPts val="0"/>
                </a:spcAft>
                <a:buClr>
                  <a:schemeClr val="lt1"/>
                </a:buClr>
                <a:buSzPts val="2298"/>
                <a:buFont typeface="Poppins"/>
                <a:buChar char="○"/>
              </a:pPr>
              <a:r>
                <a:rPr lang="en-US" sz="2298">
                  <a:solidFill>
                    <a:schemeClr val="lt1"/>
                  </a:solidFill>
                  <a:latin typeface="Poppins"/>
                  <a:ea typeface="Poppins"/>
                  <a:cs typeface="Poppins"/>
                  <a:sym typeface="Poppins"/>
                </a:rPr>
                <a:t>Canalización de Casos</a:t>
              </a:r>
              <a:endParaRPr sz="2298">
                <a:solidFill>
                  <a:schemeClr val="lt1"/>
                </a:solidFill>
                <a:latin typeface="Poppins"/>
                <a:ea typeface="Poppins"/>
                <a:cs typeface="Poppins"/>
                <a:sym typeface="Poppins"/>
              </a:endParaRPr>
            </a:p>
            <a:p>
              <a:pPr indent="-384714" lvl="1" marL="955149" rtl="0" algn="just">
                <a:lnSpc>
                  <a:spcPct val="115000"/>
                </a:lnSpc>
                <a:spcBef>
                  <a:spcPts val="0"/>
                </a:spcBef>
                <a:spcAft>
                  <a:spcPts val="0"/>
                </a:spcAft>
                <a:buClr>
                  <a:schemeClr val="lt1"/>
                </a:buClr>
                <a:buSzPts val="2298"/>
                <a:buFont typeface="Poppins"/>
                <a:buChar char="○"/>
              </a:pPr>
              <a:r>
                <a:rPr lang="en-US" sz="2298">
                  <a:solidFill>
                    <a:schemeClr val="lt1"/>
                  </a:solidFill>
                  <a:latin typeface="Poppins"/>
                  <a:ea typeface="Poppins"/>
                  <a:cs typeface="Poppins"/>
                  <a:sym typeface="Poppins"/>
                </a:rPr>
                <a:t>Diseño de intervenciones focalizadas</a:t>
              </a:r>
              <a:endParaRPr sz="2298">
                <a:solidFill>
                  <a:schemeClr val="lt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611">
                <a:solidFill>
                  <a:srgbClr val="FFFFFF"/>
                </a:solidFill>
                <a:latin typeface="Poppins"/>
                <a:ea typeface="Poppins"/>
                <a:cs typeface="Poppins"/>
                <a:sym typeface="Poppins"/>
              </a:endParaRPr>
            </a:p>
            <a:p>
              <a:pPr indent="0" lvl="0" marL="0" marR="0" rtl="0" algn="l">
                <a:lnSpc>
                  <a:spcPct val="115000"/>
                </a:lnSpc>
                <a:spcBef>
                  <a:spcPts val="0"/>
                </a:spcBef>
                <a:spcAft>
                  <a:spcPts val="0"/>
                </a:spcAft>
                <a:buNone/>
              </a:pPr>
              <a:r>
                <a:rPr b="1" lang="en-US" sz="2611">
                  <a:solidFill>
                    <a:srgbClr val="FFFFFF"/>
                  </a:solidFill>
                  <a:latin typeface="Poppins"/>
                  <a:ea typeface="Poppins"/>
                  <a:cs typeface="Poppins"/>
                  <a:sym typeface="Poppins"/>
                </a:rPr>
                <a:t>PILOTO</a:t>
              </a:r>
              <a:endParaRPr sz="2611">
                <a:solidFill>
                  <a:srgbClr val="FFFFFF"/>
                </a:solidFill>
                <a:latin typeface="Poppins"/>
                <a:ea typeface="Poppins"/>
                <a:cs typeface="Poppins"/>
                <a:sym typeface="Poppins"/>
              </a:endParaRPr>
            </a:p>
            <a:p>
              <a:pPr indent="-381663" lvl="0" marL="477575" marR="0" rtl="0" algn="l">
                <a:lnSpc>
                  <a:spcPct val="115000"/>
                </a:lnSpc>
                <a:spcBef>
                  <a:spcPts val="0"/>
                </a:spcBef>
                <a:spcAft>
                  <a:spcPts val="0"/>
                </a:spcAft>
                <a:buClr>
                  <a:srgbClr val="FFFFFF"/>
                </a:buClr>
                <a:buSzPts val="2250"/>
                <a:buFont typeface="Poppins"/>
                <a:buChar char="●"/>
              </a:pPr>
              <a:r>
                <a:rPr lang="en-US" sz="2250">
                  <a:solidFill>
                    <a:srgbClr val="FFFFFF"/>
                  </a:solidFill>
                  <a:latin typeface="Poppins"/>
                  <a:ea typeface="Poppins"/>
                  <a:cs typeface="Poppins"/>
                  <a:sym typeface="Poppins"/>
                </a:rPr>
                <a:t>Se propone implementar un Piloto Controlado, antes de escalar el modelo y dividirlo en 3 Fases</a:t>
              </a:r>
              <a:endParaRPr sz="2250">
                <a:solidFill>
                  <a:srgbClr val="FFFFFF"/>
                </a:solidFill>
                <a:latin typeface="Poppins"/>
                <a:ea typeface="Poppins"/>
                <a:cs typeface="Poppins"/>
                <a:sym typeface="Poppins"/>
              </a:endParaRPr>
            </a:p>
            <a:p>
              <a:pPr indent="0" lvl="0" marL="477575" marR="0" rtl="0" algn="l">
                <a:lnSpc>
                  <a:spcPct val="115000"/>
                </a:lnSpc>
                <a:spcBef>
                  <a:spcPts val="0"/>
                </a:spcBef>
                <a:spcAft>
                  <a:spcPts val="0"/>
                </a:spcAft>
                <a:buNone/>
              </a:pPr>
              <a:r>
                <a:t/>
              </a:r>
              <a:endParaRPr sz="2611">
                <a:solidFill>
                  <a:srgbClr val="FFFFFF"/>
                </a:solidFill>
                <a:latin typeface="Poppins"/>
                <a:ea typeface="Poppins"/>
                <a:cs typeface="Poppins"/>
                <a:sym typeface="Poppins"/>
              </a:endParaRPr>
            </a:p>
          </p:txBody>
        </p:sp>
      </p:grpSp>
      <p:sp>
        <p:nvSpPr>
          <p:cNvPr id="229" name="Google Shape;229;g3d44c00b686_0_137"/>
          <p:cNvSpPr txBox="1"/>
          <p:nvPr/>
        </p:nvSpPr>
        <p:spPr>
          <a:xfrm>
            <a:off x="5975425" y="706700"/>
            <a:ext cx="11875200" cy="769500"/>
          </a:xfrm>
          <a:prstGeom prst="rect">
            <a:avLst/>
          </a:prstGeom>
          <a:noFill/>
          <a:ln>
            <a:noFill/>
          </a:ln>
        </p:spPr>
        <p:txBody>
          <a:bodyPr anchorCtr="0" anchor="t" bIns="0" lIns="0" spcFirstLastPara="1" rIns="0" wrap="square" tIns="0">
            <a:spAutoFit/>
          </a:bodyPr>
          <a:lstStyle/>
          <a:p>
            <a:pPr indent="0" lvl="0" marL="0" marR="0" rtl="0" algn="l">
              <a:lnSpc>
                <a:spcPct val="108001"/>
              </a:lnSpc>
              <a:spcBef>
                <a:spcPts val="0"/>
              </a:spcBef>
              <a:spcAft>
                <a:spcPts val="0"/>
              </a:spcAft>
              <a:buNone/>
            </a:pPr>
            <a:r>
              <a:rPr b="1" lang="en-US" sz="5000">
                <a:solidFill>
                  <a:srgbClr val="2758E6"/>
                </a:solidFill>
                <a:latin typeface="Poppins"/>
                <a:ea typeface="Poppins"/>
                <a:cs typeface="Poppins"/>
                <a:sym typeface="Poppins"/>
              </a:rPr>
              <a:t>IMPLEMENTACIÓN E IMPACTO</a:t>
            </a:r>
            <a:endParaRPr sz="5000">
              <a:latin typeface="Poppins"/>
              <a:ea typeface="Poppins"/>
              <a:cs typeface="Poppins"/>
              <a:sym typeface="Poppins"/>
            </a:endParaRPr>
          </a:p>
        </p:txBody>
      </p:sp>
      <p:sp>
        <p:nvSpPr>
          <p:cNvPr id="230" name="Google Shape;230;g3d44c00b686_0_137"/>
          <p:cNvSpPr/>
          <p:nvPr/>
        </p:nvSpPr>
        <p:spPr>
          <a:xfrm>
            <a:off x="-4372902" y="850118"/>
            <a:ext cx="9580768" cy="8586763"/>
          </a:xfrm>
          <a:custGeom>
            <a:rect b="b" l="l" r="r" t="t"/>
            <a:pathLst>
              <a:path extrusionOk="0" h="8586763" w="9580768">
                <a:moveTo>
                  <a:pt x="0" y="0"/>
                </a:moveTo>
                <a:lnTo>
                  <a:pt x="9580768" y="0"/>
                </a:lnTo>
                <a:lnTo>
                  <a:pt x="9580768" y="8586764"/>
                </a:lnTo>
                <a:lnTo>
                  <a:pt x="0" y="858676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grpSp>
        <p:nvGrpSpPr>
          <p:cNvPr id="235" name="Google Shape;235;g386ebc568c0_0_14"/>
          <p:cNvGrpSpPr/>
          <p:nvPr/>
        </p:nvGrpSpPr>
        <p:grpSpPr>
          <a:xfrm>
            <a:off x="5445950" y="1761976"/>
            <a:ext cx="12406028" cy="8260316"/>
            <a:chOff x="7133174" y="6001596"/>
            <a:chExt cx="11449956" cy="4808100"/>
          </a:xfrm>
        </p:grpSpPr>
        <p:sp>
          <p:nvSpPr>
            <p:cNvPr id="236" name="Google Shape;236;g386ebc568c0_0_14"/>
            <p:cNvSpPr/>
            <p:nvPr/>
          </p:nvSpPr>
          <p:spPr>
            <a:xfrm>
              <a:off x="7133174" y="6062902"/>
              <a:ext cx="11449956" cy="4651603"/>
            </a:xfrm>
            <a:custGeom>
              <a:rect b="b" l="l" r="r" t="t"/>
              <a:pathLst>
                <a:path extrusionOk="0" h="1104238" w="3015130">
                  <a:moveTo>
                    <a:pt x="20288" y="0"/>
                  </a:moveTo>
                  <a:lnTo>
                    <a:pt x="2994842" y="0"/>
                  </a:lnTo>
                  <a:cubicBezTo>
                    <a:pt x="3000222" y="0"/>
                    <a:pt x="3005383" y="2137"/>
                    <a:pt x="3009187" y="5942"/>
                  </a:cubicBezTo>
                  <a:cubicBezTo>
                    <a:pt x="3012992" y="9747"/>
                    <a:pt x="3015130" y="14907"/>
                    <a:pt x="3015130" y="20288"/>
                  </a:cubicBezTo>
                  <a:lnTo>
                    <a:pt x="3015130" y="1083951"/>
                  </a:lnTo>
                  <a:cubicBezTo>
                    <a:pt x="3015130" y="1089331"/>
                    <a:pt x="3012992" y="1094492"/>
                    <a:pt x="3009187" y="1098296"/>
                  </a:cubicBezTo>
                  <a:cubicBezTo>
                    <a:pt x="3005383" y="1102101"/>
                    <a:pt x="3000222" y="1104238"/>
                    <a:pt x="2994842" y="1104238"/>
                  </a:cubicBezTo>
                  <a:lnTo>
                    <a:pt x="20288" y="1104238"/>
                  </a:lnTo>
                  <a:cubicBezTo>
                    <a:pt x="14907" y="1104238"/>
                    <a:pt x="9747" y="1102101"/>
                    <a:pt x="5942" y="1098296"/>
                  </a:cubicBezTo>
                  <a:cubicBezTo>
                    <a:pt x="2137" y="1094492"/>
                    <a:pt x="0" y="1089331"/>
                    <a:pt x="0" y="1083951"/>
                  </a:cubicBezTo>
                  <a:lnTo>
                    <a:pt x="0" y="20288"/>
                  </a:lnTo>
                  <a:cubicBezTo>
                    <a:pt x="0" y="14907"/>
                    <a:pt x="2137" y="9747"/>
                    <a:pt x="5942" y="5942"/>
                  </a:cubicBezTo>
                  <a:cubicBezTo>
                    <a:pt x="9747" y="2137"/>
                    <a:pt x="14907" y="0"/>
                    <a:pt x="20288" y="0"/>
                  </a:cubicBezTo>
                  <a:close/>
                </a:path>
              </a:pathLst>
            </a:custGeom>
            <a:gradFill>
              <a:gsLst>
                <a:gs pos="0">
                  <a:srgbClr val="3062FF"/>
                </a:gs>
                <a:gs pos="100000">
                  <a:srgbClr val="013388"/>
                </a:gs>
              </a:gsLst>
              <a:lin ang="2700006" scaled="0"/>
            </a:gradFill>
            <a:ln>
              <a:noFill/>
            </a:ln>
          </p:spPr>
          <p:txBody>
            <a:bodyPr anchorCtr="0" anchor="t" bIns="47725" lIns="95500" spcFirstLastPara="1" rIns="95500" wrap="square" tIns="47725">
              <a:noAutofit/>
            </a:bodyPr>
            <a:lstStyle/>
            <a:p>
              <a:pPr indent="0" lvl="0" marL="0" marR="0" rtl="0" algn="l">
                <a:spcBef>
                  <a:spcPts val="0"/>
                </a:spcBef>
                <a:spcAft>
                  <a:spcPts val="0"/>
                </a:spcAft>
                <a:buNone/>
              </a:pPr>
              <a:r>
                <a:t/>
              </a:r>
              <a:endParaRPr sz="1880">
                <a:solidFill>
                  <a:schemeClr val="dk1"/>
                </a:solidFill>
                <a:latin typeface="Calibri"/>
                <a:ea typeface="Calibri"/>
                <a:cs typeface="Calibri"/>
                <a:sym typeface="Calibri"/>
              </a:endParaRPr>
            </a:p>
          </p:txBody>
        </p:sp>
        <p:sp>
          <p:nvSpPr>
            <p:cNvPr id="237" name="Google Shape;237;g386ebc568c0_0_14"/>
            <p:cNvSpPr txBox="1"/>
            <p:nvPr/>
          </p:nvSpPr>
          <p:spPr>
            <a:xfrm>
              <a:off x="7668295" y="6001596"/>
              <a:ext cx="10379700" cy="4808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t/>
              </a:r>
              <a:endParaRPr b="1" sz="2611">
                <a:solidFill>
                  <a:srgbClr val="FFFFFF"/>
                </a:solidFill>
                <a:latin typeface="Poppins"/>
                <a:ea typeface="Poppins"/>
                <a:cs typeface="Poppins"/>
                <a:sym typeface="Poppins"/>
              </a:endParaRPr>
            </a:p>
            <a:p>
              <a:pPr indent="0" lvl="0" marL="0" marR="0" rtl="0" algn="l">
                <a:lnSpc>
                  <a:spcPct val="115000"/>
                </a:lnSpc>
                <a:spcBef>
                  <a:spcPts val="0"/>
                </a:spcBef>
                <a:spcAft>
                  <a:spcPts val="0"/>
                </a:spcAft>
                <a:buNone/>
              </a:pPr>
              <a:r>
                <a:rPr b="1" lang="en-US" sz="2611">
                  <a:solidFill>
                    <a:srgbClr val="FFFFFF"/>
                  </a:solidFill>
                  <a:latin typeface="Poppins"/>
                  <a:ea typeface="Poppins"/>
                  <a:cs typeface="Poppins"/>
                  <a:sym typeface="Poppins"/>
                </a:rPr>
                <a:t>PILOTO</a:t>
              </a:r>
              <a:endParaRPr sz="2611">
                <a:solidFill>
                  <a:srgbClr val="FFFFFF"/>
                </a:solidFill>
                <a:latin typeface="Poppins"/>
                <a:ea typeface="Poppins"/>
                <a:cs typeface="Poppins"/>
                <a:sym typeface="Poppins"/>
              </a:endParaRPr>
            </a:p>
            <a:p>
              <a:pPr indent="-404613" lvl="0" marL="477575" marR="0" rtl="0" algn="l">
                <a:lnSpc>
                  <a:spcPct val="115000"/>
                </a:lnSpc>
                <a:spcBef>
                  <a:spcPts val="0"/>
                </a:spcBef>
                <a:spcAft>
                  <a:spcPts val="0"/>
                </a:spcAft>
                <a:buClr>
                  <a:srgbClr val="FFFFFF"/>
                </a:buClr>
                <a:buSzPts val="2611"/>
                <a:buFont typeface="Poppins"/>
                <a:buChar char="●"/>
              </a:pPr>
              <a:r>
                <a:rPr lang="en-US" sz="2611">
                  <a:solidFill>
                    <a:srgbClr val="FFFFFF"/>
                  </a:solidFill>
                  <a:latin typeface="Poppins"/>
                  <a:ea typeface="Poppins"/>
                  <a:cs typeface="Poppins"/>
                  <a:sym typeface="Poppins"/>
                </a:rPr>
                <a:t>Fase 1: Piloto</a:t>
              </a:r>
              <a:endParaRPr sz="2611">
                <a:solidFill>
                  <a:srgbClr val="FFFFFF"/>
                </a:solidFill>
                <a:latin typeface="Poppins"/>
                <a:ea typeface="Poppins"/>
                <a:cs typeface="Poppins"/>
                <a:sym typeface="Poppins"/>
              </a:endParaRPr>
            </a:p>
            <a:p>
              <a:pPr indent="-404613" lvl="1" marL="955149" marR="0" rtl="0" algn="l">
                <a:lnSpc>
                  <a:spcPct val="115000"/>
                </a:lnSpc>
                <a:spcBef>
                  <a:spcPts val="0"/>
                </a:spcBef>
                <a:spcAft>
                  <a:spcPts val="0"/>
                </a:spcAft>
                <a:buClr>
                  <a:srgbClr val="FFFFFF"/>
                </a:buClr>
                <a:buSzPts val="2611"/>
                <a:buFont typeface="Poppins"/>
                <a:buChar char="○"/>
              </a:pPr>
              <a:r>
                <a:rPr lang="en-US" sz="2611">
                  <a:solidFill>
                    <a:srgbClr val="FFFFFF"/>
                  </a:solidFill>
                  <a:latin typeface="Poppins"/>
                  <a:ea typeface="Poppins"/>
                  <a:cs typeface="Poppins"/>
                  <a:sym typeface="Poppins"/>
                </a:rPr>
                <a:t>Aplicaci</a:t>
              </a:r>
              <a:r>
                <a:rPr lang="en-US" sz="2611">
                  <a:solidFill>
                    <a:srgbClr val="FFFFFF"/>
                  </a:solidFill>
                  <a:latin typeface="Poppins"/>
                  <a:ea typeface="Poppins"/>
                  <a:cs typeface="Poppins"/>
                  <a:sym typeface="Poppins"/>
                </a:rPr>
                <a:t>ó</a:t>
              </a:r>
              <a:r>
                <a:rPr lang="en-US" sz="2611">
                  <a:solidFill>
                    <a:srgbClr val="FFFFFF"/>
                  </a:solidFill>
                  <a:latin typeface="Poppins"/>
                  <a:ea typeface="Poppins"/>
                  <a:cs typeface="Poppins"/>
                  <a:sym typeface="Poppins"/>
                </a:rPr>
                <a:t>n en un conjunto pequeño de escuelas</a:t>
              </a:r>
              <a:endParaRPr sz="2611">
                <a:solidFill>
                  <a:srgbClr val="FFFFFF"/>
                </a:solidFill>
                <a:latin typeface="Poppins"/>
                <a:ea typeface="Poppins"/>
                <a:cs typeface="Poppins"/>
                <a:sym typeface="Poppins"/>
              </a:endParaRPr>
            </a:p>
            <a:p>
              <a:pPr indent="-404613" lvl="1" marL="955149" marR="0" rtl="0" algn="l">
                <a:lnSpc>
                  <a:spcPct val="115000"/>
                </a:lnSpc>
                <a:spcBef>
                  <a:spcPts val="0"/>
                </a:spcBef>
                <a:spcAft>
                  <a:spcPts val="0"/>
                </a:spcAft>
                <a:buClr>
                  <a:srgbClr val="FFFFFF"/>
                </a:buClr>
                <a:buSzPts val="2611"/>
                <a:buFont typeface="Poppins"/>
                <a:buChar char="○"/>
              </a:pPr>
              <a:r>
                <a:rPr lang="en-US" sz="2611">
                  <a:solidFill>
                    <a:srgbClr val="FFFFFF"/>
                  </a:solidFill>
                  <a:latin typeface="Poppins"/>
                  <a:ea typeface="Poppins"/>
                  <a:cs typeface="Poppins"/>
                  <a:sym typeface="Poppins"/>
                </a:rPr>
                <a:t>Validación</a:t>
              </a:r>
              <a:r>
                <a:rPr lang="en-US" sz="2611">
                  <a:solidFill>
                    <a:srgbClr val="FFFFFF"/>
                  </a:solidFill>
                  <a:latin typeface="Poppins"/>
                  <a:ea typeface="Poppins"/>
                  <a:cs typeface="Poppins"/>
                  <a:sym typeface="Poppins"/>
                </a:rPr>
                <a:t> con profesionales</a:t>
              </a:r>
              <a:endParaRPr sz="2611">
                <a:solidFill>
                  <a:srgbClr val="FFFFFF"/>
                </a:solidFill>
                <a:latin typeface="Poppins"/>
                <a:ea typeface="Poppins"/>
                <a:cs typeface="Poppins"/>
                <a:sym typeface="Poppins"/>
              </a:endParaRPr>
            </a:p>
            <a:p>
              <a:pPr indent="0" lvl="0" marL="955149" marR="0" rtl="0" algn="l">
                <a:lnSpc>
                  <a:spcPct val="115000"/>
                </a:lnSpc>
                <a:spcBef>
                  <a:spcPts val="0"/>
                </a:spcBef>
                <a:spcAft>
                  <a:spcPts val="0"/>
                </a:spcAft>
                <a:buNone/>
              </a:pPr>
              <a:r>
                <a:t/>
              </a:r>
              <a:endParaRPr sz="2611">
                <a:solidFill>
                  <a:srgbClr val="FFFFFF"/>
                </a:solidFill>
                <a:latin typeface="Poppins"/>
                <a:ea typeface="Poppins"/>
                <a:cs typeface="Poppins"/>
                <a:sym typeface="Poppins"/>
              </a:endParaRPr>
            </a:p>
            <a:p>
              <a:pPr indent="-404613" lvl="0" marL="477575" marR="0" rtl="0" algn="l">
                <a:lnSpc>
                  <a:spcPct val="115000"/>
                </a:lnSpc>
                <a:spcBef>
                  <a:spcPts val="0"/>
                </a:spcBef>
                <a:spcAft>
                  <a:spcPts val="0"/>
                </a:spcAft>
                <a:buClr>
                  <a:srgbClr val="FFFFFF"/>
                </a:buClr>
                <a:buSzPts val="2611"/>
                <a:buFont typeface="Poppins"/>
                <a:buChar char="●"/>
              </a:pPr>
              <a:r>
                <a:rPr lang="en-US" sz="2611">
                  <a:solidFill>
                    <a:srgbClr val="FFFFFF"/>
                  </a:solidFill>
                  <a:latin typeface="Poppins"/>
                  <a:ea typeface="Poppins"/>
                  <a:cs typeface="Poppins"/>
                  <a:sym typeface="Poppins"/>
                </a:rPr>
                <a:t>Fase 2: Evaluación</a:t>
              </a:r>
              <a:endParaRPr sz="2611">
                <a:solidFill>
                  <a:srgbClr val="FFFFFF"/>
                </a:solidFill>
                <a:latin typeface="Poppins"/>
                <a:ea typeface="Poppins"/>
                <a:cs typeface="Poppins"/>
                <a:sym typeface="Poppins"/>
              </a:endParaRPr>
            </a:p>
            <a:p>
              <a:pPr indent="-404613" lvl="1" marL="955149" marR="0" rtl="0" algn="l">
                <a:lnSpc>
                  <a:spcPct val="115000"/>
                </a:lnSpc>
                <a:spcBef>
                  <a:spcPts val="0"/>
                </a:spcBef>
                <a:spcAft>
                  <a:spcPts val="0"/>
                </a:spcAft>
                <a:buClr>
                  <a:srgbClr val="FFFFFF"/>
                </a:buClr>
                <a:buSzPts val="2611"/>
                <a:buFont typeface="Poppins"/>
                <a:buChar char="○"/>
              </a:pPr>
              <a:r>
                <a:rPr lang="en-US" sz="2611">
                  <a:solidFill>
                    <a:srgbClr val="FFFFFF"/>
                  </a:solidFill>
                  <a:latin typeface="Poppins"/>
                  <a:ea typeface="Poppins"/>
                  <a:cs typeface="Poppins"/>
                  <a:sym typeface="Poppins"/>
                </a:rPr>
                <a:t>Comparar:</a:t>
              </a:r>
              <a:endParaRPr sz="2611">
                <a:solidFill>
                  <a:srgbClr val="FFFFFF"/>
                </a:solidFill>
                <a:latin typeface="Poppins"/>
                <a:ea typeface="Poppins"/>
                <a:cs typeface="Poppins"/>
                <a:sym typeface="Poppins"/>
              </a:endParaRPr>
            </a:p>
            <a:p>
              <a:pPr indent="-404613" lvl="2" marL="1432724" marR="0" rtl="0" algn="l">
                <a:lnSpc>
                  <a:spcPct val="115000"/>
                </a:lnSpc>
                <a:spcBef>
                  <a:spcPts val="0"/>
                </a:spcBef>
                <a:spcAft>
                  <a:spcPts val="0"/>
                </a:spcAft>
                <a:buClr>
                  <a:srgbClr val="FFFFFF"/>
                </a:buClr>
                <a:buSzPts val="2611"/>
                <a:buFont typeface="Poppins"/>
                <a:buChar char="■"/>
              </a:pPr>
              <a:r>
                <a:rPr lang="en-US" sz="2611">
                  <a:solidFill>
                    <a:srgbClr val="FFFFFF"/>
                  </a:solidFill>
                  <a:latin typeface="Poppins"/>
                  <a:ea typeface="Poppins"/>
                  <a:cs typeface="Poppins"/>
                  <a:sym typeface="Poppins"/>
                </a:rPr>
                <a:t>Casos detectados por el modelo vs métodos tradicionales</a:t>
              </a:r>
              <a:endParaRPr sz="2611">
                <a:solidFill>
                  <a:srgbClr val="FFFFFF"/>
                </a:solidFill>
                <a:latin typeface="Poppins"/>
                <a:ea typeface="Poppins"/>
                <a:cs typeface="Poppins"/>
                <a:sym typeface="Poppins"/>
              </a:endParaRPr>
            </a:p>
            <a:p>
              <a:pPr indent="-404613" lvl="2" marL="1432724" marR="0" rtl="0" algn="l">
                <a:lnSpc>
                  <a:spcPct val="115000"/>
                </a:lnSpc>
                <a:spcBef>
                  <a:spcPts val="0"/>
                </a:spcBef>
                <a:spcAft>
                  <a:spcPts val="0"/>
                </a:spcAft>
                <a:buClr>
                  <a:srgbClr val="FFFFFF"/>
                </a:buClr>
                <a:buSzPts val="2611"/>
                <a:buFont typeface="Poppins"/>
                <a:buChar char="■"/>
              </a:pPr>
              <a:r>
                <a:rPr lang="en-US" sz="2611">
                  <a:solidFill>
                    <a:srgbClr val="FFFFFF"/>
                  </a:solidFill>
                  <a:latin typeface="Poppins"/>
                  <a:ea typeface="Poppins"/>
                  <a:cs typeface="Poppins"/>
                  <a:sym typeface="Poppins"/>
                </a:rPr>
                <a:t>Precisión en la identificación de estudiantes con dificultades</a:t>
              </a:r>
              <a:endParaRPr sz="2611">
                <a:solidFill>
                  <a:srgbClr val="FFFFFF"/>
                </a:solidFill>
                <a:latin typeface="Poppins"/>
                <a:ea typeface="Poppins"/>
                <a:cs typeface="Poppins"/>
                <a:sym typeface="Poppins"/>
              </a:endParaRPr>
            </a:p>
            <a:p>
              <a:pPr indent="-404613" lvl="2" marL="1432724" marR="0" rtl="0" algn="l">
                <a:lnSpc>
                  <a:spcPct val="115000"/>
                </a:lnSpc>
                <a:spcBef>
                  <a:spcPts val="0"/>
                </a:spcBef>
                <a:spcAft>
                  <a:spcPts val="0"/>
                </a:spcAft>
                <a:buClr>
                  <a:srgbClr val="FFFFFF"/>
                </a:buClr>
                <a:buSzPts val="2611"/>
                <a:buFont typeface="Poppins"/>
                <a:buChar char="■"/>
              </a:pPr>
              <a:r>
                <a:rPr lang="en-US" sz="2611">
                  <a:solidFill>
                    <a:srgbClr val="FFFFFF"/>
                  </a:solidFill>
                  <a:latin typeface="Poppins"/>
                  <a:ea typeface="Poppins"/>
                  <a:cs typeface="Poppins"/>
                  <a:sym typeface="Poppins"/>
                </a:rPr>
                <a:t>Evaluar aceptación por: escuelas, familias y personal de salud</a:t>
              </a:r>
              <a:endParaRPr sz="2611">
                <a:solidFill>
                  <a:srgbClr val="FFFFFF"/>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611">
                <a:solidFill>
                  <a:srgbClr val="FFFFFF"/>
                </a:solidFill>
                <a:latin typeface="Poppins"/>
                <a:ea typeface="Poppins"/>
                <a:cs typeface="Poppins"/>
                <a:sym typeface="Poppins"/>
              </a:endParaRPr>
            </a:p>
            <a:p>
              <a:pPr indent="-404613" lvl="0" marL="477575" marR="0" rtl="0" algn="l">
                <a:lnSpc>
                  <a:spcPct val="115000"/>
                </a:lnSpc>
                <a:spcBef>
                  <a:spcPts val="0"/>
                </a:spcBef>
                <a:spcAft>
                  <a:spcPts val="0"/>
                </a:spcAft>
                <a:buClr>
                  <a:srgbClr val="FFFFFF"/>
                </a:buClr>
                <a:buSzPts val="2611"/>
                <a:buFont typeface="Poppins"/>
                <a:buChar char="●"/>
              </a:pPr>
              <a:r>
                <a:rPr lang="en-US" sz="2611">
                  <a:solidFill>
                    <a:srgbClr val="FFFFFF"/>
                  </a:solidFill>
                  <a:latin typeface="Poppins"/>
                  <a:ea typeface="Poppins"/>
                  <a:cs typeface="Poppins"/>
                  <a:sym typeface="Poppins"/>
                </a:rPr>
                <a:t>Fase 3: Iteración</a:t>
              </a:r>
              <a:endParaRPr sz="2611">
                <a:solidFill>
                  <a:srgbClr val="FFFFFF"/>
                </a:solidFill>
                <a:latin typeface="Poppins"/>
                <a:ea typeface="Poppins"/>
                <a:cs typeface="Poppins"/>
                <a:sym typeface="Poppins"/>
              </a:endParaRPr>
            </a:p>
            <a:p>
              <a:pPr indent="-404613" lvl="1" marL="955149" marR="0" rtl="0" algn="l">
                <a:lnSpc>
                  <a:spcPct val="115000"/>
                </a:lnSpc>
                <a:spcBef>
                  <a:spcPts val="0"/>
                </a:spcBef>
                <a:spcAft>
                  <a:spcPts val="0"/>
                </a:spcAft>
                <a:buClr>
                  <a:srgbClr val="FFFFFF"/>
                </a:buClr>
                <a:buSzPts val="2611"/>
                <a:buFont typeface="Poppins"/>
                <a:buChar char="○"/>
              </a:pPr>
              <a:r>
                <a:rPr lang="en-US" sz="2611">
                  <a:solidFill>
                    <a:srgbClr val="FFFFFF"/>
                  </a:solidFill>
                  <a:latin typeface="Poppins"/>
                  <a:ea typeface="Poppins"/>
                  <a:cs typeface="Poppins"/>
                  <a:sym typeface="Poppins"/>
                </a:rPr>
                <a:t>Ajustar: variables, </a:t>
              </a:r>
              <a:r>
                <a:rPr lang="en-US" sz="2611">
                  <a:solidFill>
                    <a:srgbClr val="FFFFFF"/>
                  </a:solidFill>
                  <a:latin typeface="Poppins"/>
                  <a:ea typeface="Poppins"/>
                  <a:cs typeface="Poppins"/>
                  <a:sym typeface="Poppins"/>
                </a:rPr>
                <a:t>definición</a:t>
              </a:r>
              <a:r>
                <a:rPr lang="en-US" sz="2611">
                  <a:solidFill>
                    <a:srgbClr val="FFFFFF"/>
                  </a:solidFill>
                  <a:latin typeface="Poppins"/>
                  <a:ea typeface="Poppins"/>
                  <a:cs typeface="Poppins"/>
                  <a:sym typeface="Poppins"/>
                </a:rPr>
                <a:t> de variable objetivo y umbrales de decisión</a:t>
              </a:r>
              <a:endParaRPr sz="2611">
                <a:solidFill>
                  <a:srgbClr val="FFFFFF"/>
                </a:solidFill>
                <a:latin typeface="Poppins"/>
                <a:ea typeface="Poppins"/>
                <a:cs typeface="Poppins"/>
                <a:sym typeface="Poppins"/>
              </a:endParaRPr>
            </a:p>
            <a:p>
              <a:pPr indent="0" lvl="0" marL="477575" marR="0" rtl="0" algn="l">
                <a:lnSpc>
                  <a:spcPct val="115000"/>
                </a:lnSpc>
                <a:spcBef>
                  <a:spcPts val="0"/>
                </a:spcBef>
                <a:spcAft>
                  <a:spcPts val="0"/>
                </a:spcAft>
                <a:buNone/>
              </a:pPr>
              <a:r>
                <a:t/>
              </a:r>
              <a:endParaRPr sz="2611">
                <a:solidFill>
                  <a:srgbClr val="FFFFFF"/>
                </a:solidFill>
                <a:latin typeface="Poppins"/>
                <a:ea typeface="Poppins"/>
                <a:cs typeface="Poppins"/>
                <a:sym typeface="Poppins"/>
              </a:endParaRPr>
            </a:p>
          </p:txBody>
        </p:sp>
      </p:grpSp>
      <p:sp>
        <p:nvSpPr>
          <p:cNvPr id="238" name="Google Shape;238;g386ebc568c0_0_14"/>
          <p:cNvSpPr txBox="1"/>
          <p:nvPr/>
        </p:nvSpPr>
        <p:spPr>
          <a:xfrm>
            <a:off x="5975425" y="706700"/>
            <a:ext cx="11875200" cy="769500"/>
          </a:xfrm>
          <a:prstGeom prst="rect">
            <a:avLst/>
          </a:prstGeom>
          <a:noFill/>
          <a:ln>
            <a:noFill/>
          </a:ln>
        </p:spPr>
        <p:txBody>
          <a:bodyPr anchorCtr="0" anchor="t" bIns="0" lIns="0" spcFirstLastPara="1" rIns="0" wrap="square" tIns="0">
            <a:spAutoFit/>
          </a:bodyPr>
          <a:lstStyle/>
          <a:p>
            <a:pPr indent="0" lvl="0" marL="0" marR="0" rtl="0" algn="l">
              <a:lnSpc>
                <a:spcPct val="108001"/>
              </a:lnSpc>
              <a:spcBef>
                <a:spcPts val="0"/>
              </a:spcBef>
              <a:spcAft>
                <a:spcPts val="0"/>
              </a:spcAft>
              <a:buNone/>
            </a:pPr>
            <a:r>
              <a:rPr b="1" lang="en-US" sz="5000">
                <a:solidFill>
                  <a:srgbClr val="2758E6"/>
                </a:solidFill>
                <a:latin typeface="Poppins"/>
                <a:ea typeface="Poppins"/>
                <a:cs typeface="Poppins"/>
                <a:sym typeface="Poppins"/>
              </a:rPr>
              <a:t>IMPLEMENTACIÓN E IMPACTO</a:t>
            </a:r>
            <a:endParaRPr sz="5000">
              <a:latin typeface="Poppins"/>
              <a:ea typeface="Poppins"/>
              <a:cs typeface="Poppins"/>
              <a:sym typeface="Poppins"/>
            </a:endParaRPr>
          </a:p>
        </p:txBody>
      </p:sp>
      <p:sp>
        <p:nvSpPr>
          <p:cNvPr id="239" name="Google Shape;239;g386ebc568c0_0_14"/>
          <p:cNvSpPr/>
          <p:nvPr/>
        </p:nvSpPr>
        <p:spPr>
          <a:xfrm>
            <a:off x="-4372902" y="850118"/>
            <a:ext cx="9580768" cy="8586763"/>
          </a:xfrm>
          <a:custGeom>
            <a:rect b="b" l="l" r="r" t="t"/>
            <a:pathLst>
              <a:path extrusionOk="0" h="8586763" w="9580768">
                <a:moveTo>
                  <a:pt x="0" y="0"/>
                </a:moveTo>
                <a:lnTo>
                  <a:pt x="9580768" y="0"/>
                </a:lnTo>
                <a:lnTo>
                  <a:pt x="9580768" y="8586764"/>
                </a:lnTo>
                <a:lnTo>
                  <a:pt x="0" y="858676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86ebc568c0_0_23"/>
          <p:cNvSpPr txBox="1"/>
          <p:nvPr/>
        </p:nvSpPr>
        <p:spPr>
          <a:xfrm>
            <a:off x="840350" y="1643699"/>
            <a:ext cx="10615200" cy="8754300"/>
          </a:xfrm>
          <a:prstGeom prst="rect">
            <a:avLst/>
          </a:prstGeom>
          <a:noFill/>
          <a:ln>
            <a:noFill/>
          </a:ln>
        </p:spPr>
        <p:txBody>
          <a:bodyPr anchorCtr="0" anchor="t" bIns="0" lIns="0" spcFirstLastPara="1" rIns="0" wrap="square" tIns="0">
            <a:spAutoFit/>
          </a:bodyPr>
          <a:lstStyle/>
          <a:p>
            <a:pPr indent="0" lvl="0" marL="0" marR="0" rtl="0" algn="just">
              <a:lnSpc>
                <a:spcPct val="145000"/>
              </a:lnSpc>
              <a:spcBef>
                <a:spcPts val="0"/>
              </a:spcBef>
              <a:spcAft>
                <a:spcPts val="0"/>
              </a:spcAft>
              <a:buNone/>
            </a:pPr>
            <a:r>
              <a:rPr b="1" lang="en-US" sz="2500">
                <a:solidFill>
                  <a:schemeClr val="dk1"/>
                </a:solidFill>
                <a:latin typeface="Poppins"/>
                <a:ea typeface="Poppins"/>
                <a:cs typeface="Poppins"/>
                <a:sym typeface="Poppins"/>
              </a:rPr>
              <a:t>INDICADORES DE IMPACTO</a:t>
            </a:r>
            <a:endParaRPr b="1" sz="2500">
              <a:solidFill>
                <a:schemeClr val="dk1"/>
              </a:solidFill>
              <a:latin typeface="Poppins"/>
              <a:ea typeface="Poppins"/>
              <a:cs typeface="Poppins"/>
              <a:sym typeface="Poppins"/>
            </a:endParaRPr>
          </a:p>
          <a:p>
            <a:pPr indent="-387350" lvl="0" marL="457200" marR="0" rtl="0" algn="just">
              <a:lnSpc>
                <a:spcPct val="145000"/>
              </a:lnSpc>
              <a:spcBef>
                <a:spcPts val="0"/>
              </a:spcBef>
              <a:spcAft>
                <a:spcPts val="0"/>
              </a:spcAft>
              <a:buClr>
                <a:schemeClr val="dk1"/>
              </a:buClr>
              <a:buSzPts val="2500"/>
              <a:buFont typeface="Poppins"/>
              <a:buAutoNum type="arabicPeriod"/>
            </a:pPr>
            <a:r>
              <a:rPr lang="en-US" sz="2500">
                <a:solidFill>
                  <a:schemeClr val="dk1"/>
                </a:solidFill>
                <a:latin typeface="Poppins"/>
                <a:ea typeface="Poppins"/>
                <a:cs typeface="Poppins"/>
                <a:sym typeface="Poppins"/>
              </a:rPr>
              <a:t>Desempeño del Modelo</a:t>
            </a:r>
            <a:endParaRPr sz="2500">
              <a:solidFill>
                <a:schemeClr val="dk1"/>
              </a:solidFill>
              <a:latin typeface="Poppins"/>
              <a:ea typeface="Poppins"/>
              <a:cs typeface="Poppins"/>
              <a:sym typeface="Poppins"/>
            </a:endParaRPr>
          </a:p>
          <a:p>
            <a:pPr indent="-387350" lvl="0" marL="914400" marR="0" rtl="0" algn="just">
              <a:lnSpc>
                <a:spcPct val="145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AUC, Precision, Recall, F1</a:t>
            </a:r>
            <a:endParaRPr sz="2500">
              <a:solidFill>
                <a:schemeClr val="dk1"/>
              </a:solidFill>
              <a:latin typeface="Poppins"/>
              <a:ea typeface="Poppins"/>
              <a:cs typeface="Poppins"/>
              <a:sym typeface="Poppins"/>
            </a:endParaRPr>
          </a:p>
          <a:p>
            <a:pPr indent="-387350" lvl="0" marL="914400" marR="0" rtl="0" algn="just">
              <a:lnSpc>
                <a:spcPct val="145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Calibración del score</a:t>
            </a:r>
            <a:endParaRPr sz="2500">
              <a:solidFill>
                <a:schemeClr val="dk1"/>
              </a:solidFill>
              <a:latin typeface="Poppins"/>
              <a:ea typeface="Poppins"/>
              <a:cs typeface="Poppins"/>
              <a:sym typeface="Poppins"/>
            </a:endParaRPr>
          </a:p>
          <a:p>
            <a:pPr indent="-387350" lvl="0" marL="914400" rtl="0" algn="l">
              <a:lnSpc>
                <a:spcPct val="145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Estabilidad en el tiempo</a:t>
            </a:r>
            <a:endParaRPr sz="2500">
              <a:solidFill>
                <a:schemeClr val="dk1"/>
              </a:solidFill>
              <a:latin typeface="Poppins"/>
              <a:ea typeface="Poppins"/>
              <a:cs typeface="Poppins"/>
              <a:sym typeface="Poppins"/>
            </a:endParaRPr>
          </a:p>
          <a:p>
            <a:pPr indent="0" lvl="0" marL="0" rtl="0" algn="l">
              <a:lnSpc>
                <a:spcPct val="145000"/>
              </a:lnSpc>
              <a:spcBef>
                <a:spcPts val="0"/>
              </a:spcBef>
              <a:spcAft>
                <a:spcPts val="0"/>
              </a:spcAft>
              <a:buNone/>
            </a:pPr>
            <a:r>
              <a:rPr lang="en-US" sz="2500">
                <a:solidFill>
                  <a:schemeClr val="dk1"/>
                </a:solidFill>
                <a:latin typeface="Poppins"/>
                <a:ea typeface="Poppins"/>
                <a:cs typeface="Poppins"/>
                <a:sym typeface="Poppins"/>
              </a:rPr>
              <a:t>2. Eficiencia operativa</a:t>
            </a:r>
            <a:endParaRPr sz="2500">
              <a:solidFill>
                <a:schemeClr val="dk1"/>
              </a:solidFill>
              <a:latin typeface="Poppins"/>
              <a:ea typeface="Poppins"/>
              <a:cs typeface="Poppins"/>
              <a:sym typeface="Poppins"/>
            </a:endParaRPr>
          </a:p>
          <a:p>
            <a:pPr indent="-387350" lvl="0" marL="914400" rtl="0" algn="l">
              <a:lnSpc>
                <a:spcPct val="145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 de casos correctamente priorizados</a:t>
            </a:r>
            <a:endParaRPr sz="2500">
              <a:solidFill>
                <a:schemeClr val="dk1"/>
              </a:solidFill>
              <a:latin typeface="Poppins"/>
              <a:ea typeface="Poppins"/>
              <a:cs typeface="Poppins"/>
              <a:sym typeface="Poppins"/>
            </a:endParaRPr>
          </a:p>
          <a:p>
            <a:pPr indent="-387350" lvl="0" marL="914400" rtl="0" algn="l">
              <a:lnSpc>
                <a:spcPct val="145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Reducción en tiempo de identificación de casos</a:t>
            </a:r>
            <a:endParaRPr sz="2500">
              <a:solidFill>
                <a:schemeClr val="dk1"/>
              </a:solidFill>
              <a:latin typeface="Poppins"/>
              <a:ea typeface="Poppins"/>
              <a:cs typeface="Poppins"/>
              <a:sym typeface="Poppins"/>
            </a:endParaRPr>
          </a:p>
          <a:p>
            <a:pPr indent="-387350" lvl="0" marL="914400" rtl="0" algn="l">
              <a:lnSpc>
                <a:spcPct val="145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Mejor focalización de recursos</a:t>
            </a:r>
            <a:endParaRPr sz="2500">
              <a:solidFill>
                <a:schemeClr val="dk1"/>
              </a:solidFill>
              <a:latin typeface="Poppins"/>
              <a:ea typeface="Poppins"/>
              <a:cs typeface="Poppins"/>
              <a:sym typeface="Poppins"/>
            </a:endParaRPr>
          </a:p>
          <a:p>
            <a:pPr indent="0" lvl="0" marL="0" rtl="0" algn="l">
              <a:lnSpc>
                <a:spcPct val="145000"/>
              </a:lnSpc>
              <a:spcBef>
                <a:spcPts val="0"/>
              </a:spcBef>
              <a:spcAft>
                <a:spcPts val="0"/>
              </a:spcAft>
              <a:buNone/>
            </a:pPr>
            <a:r>
              <a:rPr lang="en-US" sz="2500">
                <a:solidFill>
                  <a:schemeClr val="dk1"/>
                </a:solidFill>
                <a:latin typeface="Poppins"/>
                <a:ea typeface="Poppins"/>
                <a:cs typeface="Poppins"/>
                <a:sym typeface="Poppins"/>
              </a:rPr>
              <a:t>3. Impacto social</a:t>
            </a:r>
            <a:endParaRPr sz="2500">
              <a:solidFill>
                <a:schemeClr val="dk1"/>
              </a:solidFill>
              <a:latin typeface="Poppins"/>
              <a:ea typeface="Poppins"/>
              <a:cs typeface="Poppins"/>
              <a:sym typeface="Poppins"/>
            </a:endParaRPr>
          </a:p>
          <a:p>
            <a:pPr indent="-387350" lvl="0" marL="914400" marR="0" rtl="0" algn="just">
              <a:lnSpc>
                <a:spcPct val="145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Mejora en desempeño académico y bienestar emocional</a:t>
            </a:r>
            <a:endParaRPr sz="2500">
              <a:solidFill>
                <a:schemeClr val="dk1"/>
              </a:solidFill>
              <a:latin typeface="Poppins"/>
              <a:ea typeface="Poppins"/>
              <a:cs typeface="Poppins"/>
              <a:sym typeface="Poppins"/>
            </a:endParaRPr>
          </a:p>
          <a:p>
            <a:pPr indent="0" lvl="0" marL="0" marR="0" rtl="0" algn="just">
              <a:lnSpc>
                <a:spcPct val="145000"/>
              </a:lnSpc>
              <a:spcBef>
                <a:spcPts val="0"/>
              </a:spcBef>
              <a:spcAft>
                <a:spcPts val="0"/>
              </a:spcAft>
              <a:buNone/>
            </a:pPr>
            <a:r>
              <a:t/>
            </a:r>
            <a:endParaRPr sz="2500">
              <a:solidFill>
                <a:schemeClr val="dk1"/>
              </a:solidFill>
              <a:latin typeface="Poppins"/>
              <a:ea typeface="Poppins"/>
              <a:cs typeface="Poppins"/>
              <a:sym typeface="Poppins"/>
            </a:endParaRPr>
          </a:p>
          <a:p>
            <a:pPr indent="0" lvl="0" marL="0" marR="0" rtl="0" algn="just">
              <a:lnSpc>
                <a:spcPct val="145000"/>
              </a:lnSpc>
              <a:spcBef>
                <a:spcPts val="0"/>
              </a:spcBef>
              <a:spcAft>
                <a:spcPts val="0"/>
              </a:spcAft>
              <a:buNone/>
            </a:pPr>
            <a:r>
              <a:rPr lang="en-US" sz="2500">
                <a:solidFill>
                  <a:schemeClr val="dk1"/>
                </a:solidFill>
                <a:latin typeface="Poppins"/>
                <a:ea typeface="Poppins"/>
                <a:cs typeface="Poppins"/>
                <a:sym typeface="Poppins"/>
              </a:rPr>
              <a:t>Dado que los resultados sugieren que los predictores actuales tienen bajo poder discriminativo, el impacto del modelo dependerá más de la mejora en la calidad de los datos que del uso de modelos más complejos.</a:t>
            </a:r>
            <a:endParaRPr sz="2500">
              <a:solidFill>
                <a:schemeClr val="dk1"/>
              </a:solidFill>
              <a:latin typeface="Poppins"/>
              <a:ea typeface="Poppins"/>
              <a:cs typeface="Poppins"/>
              <a:sym typeface="Poppins"/>
            </a:endParaRPr>
          </a:p>
        </p:txBody>
      </p:sp>
      <p:grpSp>
        <p:nvGrpSpPr>
          <p:cNvPr id="245" name="Google Shape;245;g386ebc568c0_0_23"/>
          <p:cNvGrpSpPr/>
          <p:nvPr/>
        </p:nvGrpSpPr>
        <p:grpSpPr>
          <a:xfrm rot="4029767">
            <a:off x="11788775" y="-1029567"/>
            <a:ext cx="12346102" cy="12346102"/>
            <a:chOff x="0" y="0"/>
            <a:chExt cx="812800" cy="812800"/>
          </a:xfrm>
        </p:grpSpPr>
        <p:sp>
          <p:nvSpPr>
            <p:cNvPr id="246" name="Google Shape;246;g386ebc568c0_0_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3062FF"/>
                </a:gs>
                <a:gs pos="100000">
                  <a:srgbClr val="01338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g386ebc568c0_0_23"/>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997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8" name="Google Shape;248;g386ebc568c0_0_23"/>
          <p:cNvSpPr/>
          <p:nvPr/>
        </p:nvSpPr>
        <p:spPr>
          <a:xfrm>
            <a:off x="12992417" y="2710006"/>
            <a:ext cx="4968621" cy="4804029"/>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g386ebc568c0_0_23"/>
          <p:cNvSpPr txBox="1"/>
          <p:nvPr/>
        </p:nvSpPr>
        <p:spPr>
          <a:xfrm>
            <a:off x="840351" y="737450"/>
            <a:ext cx="12025500" cy="769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5000">
                <a:solidFill>
                  <a:srgbClr val="2758E6"/>
                </a:solidFill>
                <a:latin typeface="Poppins"/>
                <a:ea typeface="Poppins"/>
                <a:cs typeface="Poppins"/>
                <a:sym typeface="Poppins"/>
              </a:rPr>
              <a:t>IMPLEMENTACIÓN E IMPACTO</a:t>
            </a:r>
            <a:endParaRPr b="1" sz="5000">
              <a:solidFill>
                <a:srgbClr val="2758E6"/>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7"/>
          <p:cNvSpPr txBox="1"/>
          <p:nvPr/>
        </p:nvSpPr>
        <p:spPr>
          <a:xfrm>
            <a:off x="3693205" y="3471051"/>
            <a:ext cx="11413967" cy="1539524"/>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None/>
            </a:pPr>
            <a:r>
              <a:rPr b="1" lang="en-US" sz="11000">
                <a:solidFill>
                  <a:srgbClr val="2758E6"/>
                </a:solidFill>
                <a:latin typeface="Poppins"/>
                <a:ea typeface="Poppins"/>
                <a:cs typeface="Poppins"/>
                <a:sym typeface="Poppins"/>
              </a:rPr>
              <a:t>GRACIAS</a:t>
            </a:r>
            <a:endParaRPr/>
          </a:p>
        </p:txBody>
      </p:sp>
      <p:sp>
        <p:nvSpPr>
          <p:cNvPr id="255" name="Google Shape;255;p7"/>
          <p:cNvSpPr txBox="1"/>
          <p:nvPr/>
        </p:nvSpPr>
        <p:spPr>
          <a:xfrm>
            <a:off x="2602991" y="6078974"/>
            <a:ext cx="4256178" cy="369316"/>
          </a:xfrm>
          <a:prstGeom prst="rect">
            <a:avLst/>
          </a:prstGeom>
          <a:noFill/>
          <a:ln>
            <a:noFill/>
          </a:ln>
        </p:spPr>
        <p:txBody>
          <a:bodyPr anchorCtr="0" anchor="t" bIns="0" lIns="0" spcFirstLastPara="1" rIns="0" wrap="square" tIns="0">
            <a:spAutoFit/>
          </a:bodyPr>
          <a:lstStyle/>
          <a:p>
            <a:pPr indent="0" lvl="0" marL="0" marR="0" rtl="0" algn="ctr">
              <a:lnSpc>
                <a:spcPct val="124010"/>
              </a:lnSpc>
              <a:spcBef>
                <a:spcPts val="0"/>
              </a:spcBef>
              <a:spcAft>
                <a:spcPts val="0"/>
              </a:spcAft>
              <a:buNone/>
            </a:pPr>
            <a:r>
              <a:rPr lang="en-US" sz="2299">
                <a:solidFill>
                  <a:srgbClr val="282A2A"/>
                </a:solidFill>
                <a:latin typeface="Poppins"/>
                <a:ea typeface="Poppins"/>
                <a:cs typeface="Poppins"/>
                <a:sym typeface="Poppins"/>
              </a:rPr>
              <a:t>Adriana Ale Huesca</a:t>
            </a:r>
            <a:endParaRPr/>
          </a:p>
        </p:txBody>
      </p:sp>
      <p:sp>
        <p:nvSpPr>
          <p:cNvPr id="256" name="Google Shape;256;p7"/>
          <p:cNvSpPr txBox="1"/>
          <p:nvPr/>
        </p:nvSpPr>
        <p:spPr>
          <a:xfrm>
            <a:off x="6859169" y="6078974"/>
            <a:ext cx="4256178" cy="369316"/>
          </a:xfrm>
          <a:prstGeom prst="rect">
            <a:avLst/>
          </a:prstGeom>
          <a:noFill/>
          <a:ln>
            <a:noFill/>
          </a:ln>
        </p:spPr>
        <p:txBody>
          <a:bodyPr anchorCtr="0" anchor="t" bIns="0" lIns="0" spcFirstLastPara="1" rIns="0" wrap="square" tIns="0">
            <a:spAutoFit/>
          </a:bodyPr>
          <a:lstStyle/>
          <a:p>
            <a:pPr indent="0" lvl="0" marL="0" marR="0" rtl="0" algn="ctr">
              <a:lnSpc>
                <a:spcPct val="124010"/>
              </a:lnSpc>
              <a:spcBef>
                <a:spcPts val="0"/>
              </a:spcBef>
              <a:spcAft>
                <a:spcPts val="0"/>
              </a:spcAft>
              <a:buNone/>
            </a:pPr>
            <a:r>
              <a:rPr lang="en-US" sz="2299">
                <a:solidFill>
                  <a:srgbClr val="282A2A"/>
                </a:solidFill>
                <a:latin typeface="Poppins"/>
                <a:ea typeface="Poppins"/>
                <a:cs typeface="Poppins"/>
                <a:sym typeface="Poppins"/>
              </a:rPr>
              <a:t>Margarita Ojeda Hernández</a:t>
            </a:r>
            <a:endParaRPr/>
          </a:p>
        </p:txBody>
      </p:sp>
      <p:sp>
        <p:nvSpPr>
          <p:cNvPr id="257" name="Google Shape;257;p7"/>
          <p:cNvSpPr txBox="1"/>
          <p:nvPr/>
        </p:nvSpPr>
        <p:spPr>
          <a:xfrm>
            <a:off x="11603834" y="6078974"/>
            <a:ext cx="4256178" cy="369316"/>
          </a:xfrm>
          <a:prstGeom prst="rect">
            <a:avLst/>
          </a:prstGeom>
          <a:noFill/>
          <a:ln>
            <a:noFill/>
          </a:ln>
        </p:spPr>
        <p:txBody>
          <a:bodyPr anchorCtr="0" anchor="t" bIns="0" lIns="0" spcFirstLastPara="1" rIns="0" wrap="square" tIns="0">
            <a:spAutoFit/>
          </a:bodyPr>
          <a:lstStyle/>
          <a:p>
            <a:pPr indent="0" lvl="0" marL="0" marR="0" rtl="0" algn="ctr">
              <a:lnSpc>
                <a:spcPct val="124010"/>
              </a:lnSpc>
              <a:spcBef>
                <a:spcPts val="0"/>
              </a:spcBef>
              <a:spcAft>
                <a:spcPts val="0"/>
              </a:spcAft>
              <a:buNone/>
            </a:pPr>
            <a:r>
              <a:rPr lang="en-US" sz="2299">
                <a:solidFill>
                  <a:srgbClr val="282A2A"/>
                </a:solidFill>
                <a:latin typeface="Poppins"/>
                <a:ea typeface="Poppins"/>
                <a:cs typeface="Poppins"/>
                <a:sym typeface="Poppins"/>
              </a:rPr>
              <a:t>Omar Jacobo Tueme Márquez</a:t>
            </a:r>
            <a:endParaRPr/>
          </a:p>
        </p:txBody>
      </p:sp>
      <p:grpSp>
        <p:nvGrpSpPr>
          <p:cNvPr id="258" name="Google Shape;258;p7"/>
          <p:cNvGrpSpPr/>
          <p:nvPr/>
        </p:nvGrpSpPr>
        <p:grpSpPr>
          <a:xfrm rot="-3478742">
            <a:off x="13119251" y="-10499928"/>
            <a:ext cx="13646281" cy="14590260"/>
            <a:chOff x="0" y="-19050"/>
            <a:chExt cx="3594082" cy="3842702"/>
          </a:xfrm>
        </p:grpSpPr>
        <p:sp>
          <p:nvSpPr>
            <p:cNvPr id="259" name="Google Shape;259;p7"/>
            <p:cNvSpPr/>
            <p:nvPr/>
          </p:nvSpPr>
          <p:spPr>
            <a:xfrm>
              <a:off x="0" y="0"/>
              <a:ext cx="3594082" cy="3823652"/>
            </a:xfrm>
            <a:custGeom>
              <a:rect b="b" l="l" r="r" t="t"/>
              <a:pathLst>
                <a:path extrusionOk="0" h="3823652" w="3594082">
                  <a:moveTo>
                    <a:pt x="0" y="0"/>
                  </a:moveTo>
                  <a:lnTo>
                    <a:pt x="3594082" y="0"/>
                  </a:lnTo>
                  <a:lnTo>
                    <a:pt x="3594082" y="3823652"/>
                  </a:lnTo>
                  <a:lnTo>
                    <a:pt x="0" y="3823652"/>
                  </a:lnTo>
                  <a:close/>
                </a:path>
              </a:pathLst>
            </a:custGeom>
            <a:gradFill>
              <a:gsLst>
                <a:gs pos="0">
                  <a:srgbClr val="3062FF"/>
                </a:gs>
                <a:gs pos="100000">
                  <a:srgbClr val="01338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7"/>
            <p:cNvSpPr txBox="1"/>
            <p:nvPr/>
          </p:nvSpPr>
          <p:spPr>
            <a:xfrm>
              <a:off x="0" y="-19050"/>
              <a:ext cx="3594082" cy="3842702"/>
            </a:xfrm>
            <a:prstGeom prst="rect">
              <a:avLst/>
            </a:prstGeom>
            <a:noFill/>
            <a:ln>
              <a:noFill/>
            </a:ln>
          </p:spPr>
          <p:txBody>
            <a:bodyPr anchorCtr="0" anchor="ctr" bIns="50800" lIns="50800" spcFirstLastPara="1" rIns="50800" wrap="square" tIns="50800">
              <a:noAutofit/>
            </a:bodyPr>
            <a:lstStyle/>
            <a:p>
              <a:pPr indent="0" lvl="0" marL="0" marR="0" rtl="0" algn="ctr">
                <a:lnSpc>
                  <a:spcPct val="158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61" name="Google Shape;261;p7"/>
          <p:cNvGrpSpPr/>
          <p:nvPr/>
        </p:nvGrpSpPr>
        <p:grpSpPr>
          <a:xfrm rot="-3478742">
            <a:off x="-6853803" y="7463139"/>
            <a:ext cx="13646281" cy="14590260"/>
            <a:chOff x="0" y="-19050"/>
            <a:chExt cx="3594082" cy="3842702"/>
          </a:xfrm>
        </p:grpSpPr>
        <p:sp>
          <p:nvSpPr>
            <p:cNvPr id="262" name="Google Shape;262;p7"/>
            <p:cNvSpPr/>
            <p:nvPr/>
          </p:nvSpPr>
          <p:spPr>
            <a:xfrm>
              <a:off x="0" y="0"/>
              <a:ext cx="3594082" cy="3823652"/>
            </a:xfrm>
            <a:custGeom>
              <a:rect b="b" l="l" r="r" t="t"/>
              <a:pathLst>
                <a:path extrusionOk="0" h="3823652" w="3594082">
                  <a:moveTo>
                    <a:pt x="0" y="0"/>
                  </a:moveTo>
                  <a:lnTo>
                    <a:pt x="3594082" y="0"/>
                  </a:lnTo>
                  <a:lnTo>
                    <a:pt x="3594082" y="3823652"/>
                  </a:lnTo>
                  <a:lnTo>
                    <a:pt x="0" y="3823652"/>
                  </a:lnTo>
                  <a:close/>
                </a:path>
              </a:pathLst>
            </a:custGeom>
            <a:gradFill>
              <a:gsLst>
                <a:gs pos="0">
                  <a:srgbClr val="3062FF"/>
                </a:gs>
                <a:gs pos="100000">
                  <a:srgbClr val="01338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7"/>
            <p:cNvSpPr txBox="1"/>
            <p:nvPr/>
          </p:nvSpPr>
          <p:spPr>
            <a:xfrm>
              <a:off x="0" y="-19050"/>
              <a:ext cx="3594082" cy="3842702"/>
            </a:xfrm>
            <a:prstGeom prst="rect">
              <a:avLst/>
            </a:prstGeom>
            <a:noFill/>
            <a:ln>
              <a:noFill/>
            </a:ln>
          </p:spPr>
          <p:txBody>
            <a:bodyPr anchorCtr="0" anchor="ctr" bIns="50800" lIns="50800" spcFirstLastPara="1" rIns="50800" wrap="square" tIns="50800">
              <a:noAutofit/>
            </a:bodyPr>
            <a:lstStyle/>
            <a:p>
              <a:pPr indent="0" lvl="0" marL="0" marR="0" rtl="0" algn="ctr">
                <a:lnSpc>
                  <a:spcPct val="158388"/>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7" name="Shape 267"/>
        <p:cNvGrpSpPr/>
        <p:nvPr/>
      </p:nvGrpSpPr>
      <p:grpSpPr>
        <a:xfrm>
          <a:off x="0" y="0"/>
          <a:ext cx="0" cy="0"/>
          <a:chOff x="0" y="0"/>
          <a:chExt cx="0" cy="0"/>
        </a:xfrm>
      </p:grpSpPr>
      <p:grpSp>
        <p:nvGrpSpPr>
          <p:cNvPr id="268" name="Google Shape;268;g3d44c00b686_0_0"/>
          <p:cNvGrpSpPr/>
          <p:nvPr/>
        </p:nvGrpSpPr>
        <p:grpSpPr>
          <a:xfrm rot="4029767">
            <a:off x="11086258" y="-1029567"/>
            <a:ext cx="12346102" cy="12346102"/>
            <a:chOff x="0" y="0"/>
            <a:chExt cx="812800" cy="812800"/>
          </a:xfrm>
        </p:grpSpPr>
        <p:sp>
          <p:nvSpPr>
            <p:cNvPr id="269" name="Google Shape;269;g3d44c00b686_0_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3062FF"/>
                </a:gs>
                <a:gs pos="100000">
                  <a:srgbClr val="01338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g3d44c00b686_0_0"/>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997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1" name="Google Shape;271;g3d44c00b686_0_0"/>
          <p:cNvSpPr txBox="1"/>
          <p:nvPr/>
        </p:nvSpPr>
        <p:spPr>
          <a:xfrm>
            <a:off x="840346" y="2500819"/>
            <a:ext cx="10058100" cy="6525600"/>
          </a:xfrm>
          <a:prstGeom prst="rect">
            <a:avLst/>
          </a:prstGeom>
          <a:noFill/>
          <a:ln>
            <a:noFill/>
          </a:ln>
        </p:spPr>
        <p:txBody>
          <a:bodyPr anchorCtr="0" anchor="t" bIns="0" lIns="0" spcFirstLastPara="1" rIns="0" wrap="square" tIns="0">
            <a:spAutoFit/>
          </a:bodyPr>
          <a:lstStyle/>
          <a:p>
            <a:pPr indent="0" lvl="0" marL="0" marR="0" rtl="0" algn="just">
              <a:lnSpc>
                <a:spcPct val="145000"/>
              </a:lnSpc>
              <a:spcBef>
                <a:spcPts val="0"/>
              </a:spcBef>
              <a:spcAft>
                <a:spcPts val="0"/>
              </a:spcAft>
              <a:buNone/>
            </a:pPr>
            <a:r>
              <a:rPr lang="en-US" sz="3000">
                <a:latin typeface="Poppins"/>
                <a:ea typeface="Poppins"/>
                <a:cs typeface="Poppins"/>
                <a:sym typeface="Poppins"/>
              </a:rPr>
              <a:t>Actualmente no estamos identificando de forma temprana a adolescentes con dificultades de aprendizaje, pese a que millones están expuestos a condiciones ambientales y conductuales adversas. Nuestro modelo </a:t>
            </a:r>
            <a:r>
              <a:rPr lang="en-US" sz="3000">
                <a:solidFill>
                  <a:schemeClr val="dk1"/>
                </a:solidFill>
                <a:latin typeface="Poppins"/>
                <a:ea typeface="Poppins"/>
                <a:cs typeface="Poppins"/>
                <a:sym typeface="Poppins"/>
              </a:rPr>
              <a:t>da la posibilidad de priorizar intervenciones preventivas que mejoren el aprendizaje, optimizando recursos y aumentando la efectividad de las acciones de acompañamiento</a:t>
            </a:r>
            <a:r>
              <a:rPr lang="en-US" sz="3000">
                <a:latin typeface="Poppins"/>
                <a:ea typeface="Poppins"/>
                <a:cs typeface="Poppins"/>
                <a:sym typeface="Poppins"/>
              </a:rPr>
              <a:t>.</a:t>
            </a:r>
            <a:endParaRPr sz="3000">
              <a:latin typeface="Poppins"/>
              <a:ea typeface="Poppins"/>
              <a:cs typeface="Poppins"/>
              <a:sym typeface="Poppins"/>
            </a:endParaRPr>
          </a:p>
          <a:p>
            <a:pPr indent="0" lvl="0" marL="0" marR="0" rtl="0" algn="just">
              <a:lnSpc>
                <a:spcPct val="145000"/>
              </a:lnSpc>
              <a:spcBef>
                <a:spcPts val="0"/>
              </a:spcBef>
              <a:spcAft>
                <a:spcPts val="0"/>
              </a:spcAft>
              <a:buNone/>
            </a:pPr>
            <a:r>
              <a:t/>
            </a:r>
            <a:endParaRPr sz="3100">
              <a:solidFill>
                <a:srgbClr val="000000"/>
              </a:solidFill>
              <a:latin typeface="Poppins"/>
              <a:ea typeface="Poppins"/>
              <a:cs typeface="Poppins"/>
              <a:sym typeface="Poppins"/>
            </a:endParaRPr>
          </a:p>
          <a:p>
            <a:pPr indent="0" lvl="0" marL="0" marR="0" rtl="0" algn="just">
              <a:lnSpc>
                <a:spcPct val="145000"/>
              </a:lnSpc>
              <a:spcBef>
                <a:spcPts val="0"/>
              </a:spcBef>
              <a:spcAft>
                <a:spcPts val="0"/>
              </a:spcAft>
              <a:buNone/>
            </a:pPr>
            <a:r>
              <a:t/>
            </a:r>
            <a:endParaRPr sz="3100">
              <a:solidFill>
                <a:srgbClr val="000000"/>
              </a:solidFill>
              <a:latin typeface="Poppins"/>
              <a:ea typeface="Poppins"/>
              <a:cs typeface="Poppins"/>
              <a:sym typeface="Poppins"/>
            </a:endParaRPr>
          </a:p>
        </p:txBody>
      </p:sp>
      <p:sp>
        <p:nvSpPr>
          <p:cNvPr id="272" name="Google Shape;272;g3d44c00b686_0_0"/>
          <p:cNvSpPr/>
          <p:nvPr/>
        </p:nvSpPr>
        <p:spPr>
          <a:xfrm>
            <a:off x="13144500" y="2605594"/>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g3d44c00b686_0_0"/>
          <p:cNvSpPr txBox="1"/>
          <p:nvPr/>
        </p:nvSpPr>
        <p:spPr>
          <a:xfrm>
            <a:off x="840346" y="737449"/>
            <a:ext cx="9150900" cy="1522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5000">
                <a:solidFill>
                  <a:srgbClr val="2758E6"/>
                </a:solidFill>
                <a:latin typeface="Poppins"/>
                <a:ea typeface="Poppins"/>
                <a:cs typeface="Poppins"/>
                <a:sym typeface="Poppins"/>
              </a:rPr>
              <a:t>¿QUÉ ESTÁ PASANDO?</a:t>
            </a:r>
            <a:endParaRPr b="1" sz="5000">
              <a:solidFill>
                <a:srgbClr val="2758E6"/>
              </a:solidFill>
              <a:latin typeface="Poppins"/>
              <a:ea typeface="Poppins"/>
              <a:cs typeface="Poppins"/>
              <a:sym typeface="Poppins"/>
            </a:endParaRPr>
          </a:p>
          <a:p>
            <a:pPr indent="0" lvl="0" marL="0" marR="0" rtl="0" algn="ctr">
              <a:lnSpc>
                <a:spcPct val="123985"/>
              </a:lnSpc>
              <a:spcBef>
                <a:spcPts val="0"/>
              </a:spcBef>
              <a:spcAft>
                <a:spcPts val="0"/>
              </a:spcAft>
              <a:buNone/>
            </a:pPr>
            <a:r>
              <a:t/>
            </a:r>
            <a:endParaRPr b="1" sz="4140">
              <a:solidFill>
                <a:srgbClr val="2758E6"/>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7" name="Shape 277"/>
        <p:cNvGrpSpPr/>
        <p:nvPr/>
      </p:nvGrpSpPr>
      <p:grpSpPr>
        <a:xfrm>
          <a:off x="0" y="0"/>
          <a:ext cx="0" cy="0"/>
          <a:chOff x="0" y="0"/>
          <a:chExt cx="0" cy="0"/>
        </a:xfrm>
      </p:grpSpPr>
      <p:grpSp>
        <p:nvGrpSpPr>
          <p:cNvPr id="278" name="Google Shape;278;p3"/>
          <p:cNvGrpSpPr/>
          <p:nvPr/>
        </p:nvGrpSpPr>
        <p:grpSpPr>
          <a:xfrm rot="8407050">
            <a:off x="-8966778" y="-1029551"/>
            <a:ext cx="12346100" cy="12346100"/>
            <a:chOff x="0" y="0"/>
            <a:chExt cx="812800" cy="812800"/>
          </a:xfrm>
        </p:grpSpPr>
        <p:sp>
          <p:nvSpPr>
            <p:cNvPr id="279" name="Google Shape;279;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3062FF"/>
                </a:gs>
                <a:gs pos="100000">
                  <a:srgbClr val="01338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3"/>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997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81" name="Google Shape;281;p3"/>
          <p:cNvSpPr/>
          <p:nvPr/>
        </p:nvSpPr>
        <p:spPr>
          <a:xfrm>
            <a:off x="-1831850" y="2822398"/>
            <a:ext cx="4733086" cy="4392549"/>
          </a:xfrm>
          <a:custGeom>
            <a:rect b="b" l="l" r="r" t="t"/>
            <a:pathLst>
              <a:path extrusionOk="0" h="4114800" w="4264041">
                <a:moveTo>
                  <a:pt x="0" y="0"/>
                </a:moveTo>
                <a:lnTo>
                  <a:pt x="4264042" y="0"/>
                </a:lnTo>
                <a:lnTo>
                  <a:pt x="4264042"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3"/>
          <p:cNvSpPr txBox="1"/>
          <p:nvPr/>
        </p:nvSpPr>
        <p:spPr>
          <a:xfrm>
            <a:off x="6683501" y="413462"/>
            <a:ext cx="9923700" cy="1600800"/>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None/>
            </a:pPr>
            <a:r>
              <a:rPr b="1" lang="en-US" sz="5000">
                <a:solidFill>
                  <a:srgbClr val="2758E6"/>
                </a:solidFill>
                <a:latin typeface="Poppins"/>
                <a:ea typeface="Poppins"/>
                <a:cs typeface="Poppins"/>
                <a:sym typeface="Poppins"/>
              </a:rPr>
              <a:t>¿QUÉ PASA SI NO HACEMOS NADA?</a:t>
            </a:r>
            <a:endParaRPr/>
          </a:p>
        </p:txBody>
      </p:sp>
      <p:sp>
        <p:nvSpPr>
          <p:cNvPr id="283" name="Google Shape;283;p3"/>
          <p:cNvSpPr txBox="1"/>
          <p:nvPr/>
        </p:nvSpPr>
        <p:spPr>
          <a:xfrm>
            <a:off x="3611225" y="2537675"/>
            <a:ext cx="14334300" cy="5310300"/>
          </a:xfrm>
          <a:prstGeom prst="rect">
            <a:avLst/>
          </a:prstGeom>
          <a:noFill/>
          <a:ln>
            <a:noFill/>
          </a:ln>
        </p:spPr>
        <p:txBody>
          <a:bodyPr anchorCtr="0" anchor="t" bIns="0" lIns="0" spcFirstLastPara="1" rIns="0" wrap="square" tIns="0">
            <a:spAutoFit/>
          </a:bodyPr>
          <a:lstStyle/>
          <a:p>
            <a:pPr indent="-419100" lvl="0" marL="457200" rtl="0" algn="just">
              <a:lnSpc>
                <a:spcPct val="150000"/>
              </a:lnSpc>
              <a:spcBef>
                <a:spcPts val="1200"/>
              </a:spcBef>
              <a:spcAft>
                <a:spcPts val="0"/>
              </a:spcAft>
              <a:buClr>
                <a:schemeClr val="dk1"/>
              </a:buClr>
              <a:buSzPts val="3000"/>
              <a:buFont typeface="Poppins"/>
              <a:buChar char="●"/>
            </a:pPr>
            <a:r>
              <a:rPr lang="en-US" sz="3000">
                <a:solidFill>
                  <a:schemeClr val="dk1"/>
                </a:solidFill>
                <a:latin typeface="Poppins"/>
                <a:ea typeface="Poppins"/>
                <a:cs typeface="Poppins"/>
                <a:sym typeface="Poppins"/>
              </a:rPr>
              <a:t>Bajo rendimiento académico, que limita el aprendizaje significativo.</a:t>
            </a:r>
            <a:endParaRPr sz="3000">
              <a:solidFill>
                <a:schemeClr val="dk1"/>
              </a:solidFill>
              <a:latin typeface="Poppins"/>
              <a:ea typeface="Poppins"/>
              <a:cs typeface="Poppins"/>
              <a:sym typeface="Poppins"/>
            </a:endParaRPr>
          </a:p>
          <a:p>
            <a:pPr indent="-419100" lvl="0" marL="457200" rtl="0" algn="just">
              <a:lnSpc>
                <a:spcPct val="150000"/>
              </a:lnSpc>
              <a:spcBef>
                <a:spcPts val="0"/>
              </a:spcBef>
              <a:spcAft>
                <a:spcPts val="0"/>
              </a:spcAft>
              <a:buClr>
                <a:schemeClr val="dk1"/>
              </a:buClr>
              <a:buSzPts val="3000"/>
              <a:buFont typeface="Poppins"/>
              <a:buChar char="●"/>
            </a:pPr>
            <a:r>
              <a:rPr lang="en-US" sz="3000">
                <a:solidFill>
                  <a:schemeClr val="dk1"/>
                </a:solidFill>
                <a:latin typeface="Poppins"/>
                <a:ea typeface="Poppins"/>
                <a:cs typeface="Poppins"/>
                <a:sym typeface="Poppins"/>
              </a:rPr>
              <a:t>Mayor deserción escolar, reduciendo oportunidades educativas.</a:t>
            </a:r>
            <a:endParaRPr sz="3000">
              <a:solidFill>
                <a:schemeClr val="dk1"/>
              </a:solidFill>
              <a:latin typeface="Poppins"/>
              <a:ea typeface="Poppins"/>
              <a:cs typeface="Poppins"/>
              <a:sym typeface="Poppins"/>
            </a:endParaRPr>
          </a:p>
          <a:p>
            <a:pPr indent="-419100" lvl="0" marL="457200" rtl="0" algn="just">
              <a:lnSpc>
                <a:spcPct val="150000"/>
              </a:lnSpc>
              <a:spcBef>
                <a:spcPts val="0"/>
              </a:spcBef>
              <a:spcAft>
                <a:spcPts val="0"/>
              </a:spcAft>
              <a:buClr>
                <a:schemeClr val="dk1"/>
              </a:buClr>
              <a:buSzPts val="3000"/>
              <a:buFont typeface="Poppins"/>
              <a:buChar char="●"/>
            </a:pPr>
            <a:r>
              <a:rPr lang="en-US" sz="3000">
                <a:solidFill>
                  <a:schemeClr val="dk1"/>
                </a:solidFill>
                <a:latin typeface="Poppins"/>
                <a:ea typeface="Poppins"/>
                <a:cs typeface="Poppins"/>
                <a:sym typeface="Poppins"/>
              </a:rPr>
              <a:t>Reproducción de desigualdades sociales.</a:t>
            </a:r>
            <a:endParaRPr sz="3000">
              <a:solidFill>
                <a:schemeClr val="dk1"/>
              </a:solidFill>
              <a:latin typeface="Poppins"/>
              <a:ea typeface="Poppins"/>
              <a:cs typeface="Poppins"/>
              <a:sym typeface="Poppins"/>
            </a:endParaRPr>
          </a:p>
          <a:p>
            <a:pPr indent="-419100" lvl="0" marL="457200" rtl="0" algn="just">
              <a:lnSpc>
                <a:spcPct val="150000"/>
              </a:lnSpc>
              <a:spcBef>
                <a:spcPts val="0"/>
              </a:spcBef>
              <a:spcAft>
                <a:spcPts val="0"/>
              </a:spcAft>
              <a:buClr>
                <a:schemeClr val="dk1"/>
              </a:buClr>
              <a:buSzPts val="3000"/>
              <a:buFont typeface="Poppins"/>
              <a:buChar char="●"/>
            </a:pPr>
            <a:r>
              <a:rPr lang="en-US" sz="3000">
                <a:solidFill>
                  <a:schemeClr val="dk1"/>
                </a:solidFill>
                <a:latin typeface="Poppins"/>
                <a:ea typeface="Poppins"/>
                <a:cs typeface="Poppins"/>
                <a:sym typeface="Poppins"/>
              </a:rPr>
              <a:t>Menores oportunidades laborales futuras.</a:t>
            </a:r>
            <a:endParaRPr sz="3000">
              <a:solidFill>
                <a:schemeClr val="dk1"/>
              </a:solidFill>
              <a:latin typeface="Poppins"/>
              <a:ea typeface="Poppins"/>
              <a:cs typeface="Poppins"/>
              <a:sym typeface="Poppins"/>
            </a:endParaRPr>
          </a:p>
          <a:p>
            <a:pPr indent="-419100" lvl="0" marL="457200" rtl="0" algn="just">
              <a:lnSpc>
                <a:spcPct val="150000"/>
              </a:lnSpc>
              <a:spcBef>
                <a:spcPts val="0"/>
              </a:spcBef>
              <a:spcAft>
                <a:spcPts val="0"/>
              </a:spcAft>
              <a:buClr>
                <a:schemeClr val="dk1"/>
              </a:buClr>
              <a:buSzPts val="3000"/>
              <a:buFont typeface="Poppins"/>
              <a:buChar char="●"/>
            </a:pPr>
            <a:r>
              <a:rPr lang="en-US" sz="3000">
                <a:solidFill>
                  <a:schemeClr val="dk1"/>
                </a:solidFill>
                <a:latin typeface="Poppins"/>
                <a:ea typeface="Poppins"/>
                <a:cs typeface="Poppins"/>
                <a:sym typeface="Poppins"/>
              </a:rPr>
              <a:t>Aumento de conductas de riesgo, por falta de éxito escolar y exclusión social.</a:t>
            </a:r>
            <a:endParaRPr sz="3000">
              <a:solidFill>
                <a:schemeClr val="dk1"/>
              </a:solidFill>
              <a:latin typeface="Poppins"/>
              <a:ea typeface="Poppins"/>
              <a:cs typeface="Poppins"/>
              <a:sym typeface="Poppins"/>
            </a:endParaRPr>
          </a:p>
          <a:p>
            <a:pPr indent="-419100" lvl="0" marL="457200" rtl="0" algn="just">
              <a:lnSpc>
                <a:spcPct val="150000"/>
              </a:lnSpc>
              <a:spcBef>
                <a:spcPts val="0"/>
              </a:spcBef>
              <a:spcAft>
                <a:spcPts val="0"/>
              </a:spcAft>
              <a:buClr>
                <a:schemeClr val="dk1"/>
              </a:buClr>
              <a:buSzPts val="3000"/>
              <a:buFont typeface="Poppins"/>
              <a:buChar char="●"/>
            </a:pPr>
            <a:r>
              <a:rPr lang="en-US" sz="3000">
                <a:solidFill>
                  <a:schemeClr val="dk1"/>
                </a:solidFill>
                <a:latin typeface="Poppins"/>
                <a:ea typeface="Poppins"/>
                <a:cs typeface="Poppins"/>
                <a:sym typeface="Poppins"/>
              </a:rPr>
              <a:t>Uso ineficiente de recursos públicos, al no focalizar intervenciones en poblaciones de mayor riesgo.</a:t>
            </a:r>
            <a:endParaRPr sz="3099">
              <a:solidFill>
                <a:srgbClr val="282A2A"/>
              </a:solidFill>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7" name="Shape 287"/>
        <p:cNvGrpSpPr/>
        <p:nvPr/>
      </p:nvGrpSpPr>
      <p:grpSpPr>
        <a:xfrm>
          <a:off x="0" y="0"/>
          <a:ext cx="0" cy="0"/>
          <a:chOff x="0" y="0"/>
          <a:chExt cx="0" cy="0"/>
        </a:xfrm>
      </p:grpSpPr>
      <p:grpSp>
        <p:nvGrpSpPr>
          <p:cNvPr id="288" name="Google Shape;288;p4"/>
          <p:cNvGrpSpPr/>
          <p:nvPr/>
        </p:nvGrpSpPr>
        <p:grpSpPr>
          <a:xfrm>
            <a:off x="5466336" y="-924828"/>
            <a:ext cx="13646370" cy="14590355"/>
            <a:chOff x="0" y="-19050"/>
            <a:chExt cx="3594082" cy="3842702"/>
          </a:xfrm>
        </p:grpSpPr>
        <p:sp>
          <p:nvSpPr>
            <p:cNvPr id="289" name="Google Shape;289;p4"/>
            <p:cNvSpPr/>
            <p:nvPr/>
          </p:nvSpPr>
          <p:spPr>
            <a:xfrm>
              <a:off x="0" y="0"/>
              <a:ext cx="3594082" cy="3823652"/>
            </a:xfrm>
            <a:custGeom>
              <a:rect b="b" l="l" r="r" t="t"/>
              <a:pathLst>
                <a:path extrusionOk="0" h="3823652" w="3594082">
                  <a:moveTo>
                    <a:pt x="0" y="0"/>
                  </a:moveTo>
                  <a:lnTo>
                    <a:pt x="3594082" y="0"/>
                  </a:lnTo>
                  <a:lnTo>
                    <a:pt x="3594082" y="3823652"/>
                  </a:lnTo>
                  <a:lnTo>
                    <a:pt x="0" y="3823652"/>
                  </a:lnTo>
                  <a:close/>
                </a:path>
              </a:pathLst>
            </a:custGeom>
            <a:gradFill>
              <a:gsLst>
                <a:gs pos="0">
                  <a:srgbClr val="3062FF"/>
                </a:gs>
                <a:gs pos="100000">
                  <a:srgbClr val="013388"/>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4"/>
            <p:cNvSpPr txBox="1"/>
            <p:nvPr/>
          </p:nvSpPr>
          <p:spPr>
            <a:xfrm>
              <a:off x="0" y="-19050"/>
              <a:ext cx="3594082" cy="3842702"/>
            </a:xfrm>
            <a:prstGeom prst="rect">
              <a:avLst/>
            </a:prstGeom>
            <a:noFill/>
            <a:ln>
              <a:noFill/>
            </a:ln>
          </p:spPr>
          <p:txBody>
            <a:bodyPr anchorCtr="0" anchor="ctr" bIns="50800" lIns="50800" spcFirstLastPara="1" rIns="50800" wrap="square" tIns="50800">
              <a:noAutofit/>
            </a:bodyPr>
            <a:lstStyle/>
            <a:p>
              <a:pPr indent="0" lvl="0" marL="0" marR="0" rtl="0" algn="ctr">
                <a:lnSpc>
                  <a:spcPct val="158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1" name="Google Shape;291;p4"/>
          <p:cNvSpPr/>
          <p:nvPr/>
        </p:nvSpPr>
        <p:spPr>
          <a:xfrm>
            <a:off x="-4372902" y="850118"/>
            <a:ext cx="9580768" cy="8586763"/>
          </a:xfrm>
          <a:custGeom>
            <a:rect b="b" l="l" r="r" t="t"/>
            <a:pathLst>
              <a:path extrusionOk="0" h="8586763" w="9580768">
                <a:moveTo>
                  <a:pt x="0" y="0"/>
                </a:moveTo>
                <a:lnTo>
                  <a:pt x="9580768" y="0"/>
                </a:lnTo>
                <a:lnTo>
                  <a:pt x="9580768" y="8586764"/>
                </a:lnTo>
                <a:lnTo>
                  <a:pt x="0" y="858676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4"/>
          <p:cNvSpPr txBox="1"/>
          <p:nvPr/>
        </p:nvSpPr>
        <p:spPr>
          <a:xfrm>
            <a:off x="9988475" y="350257"/>
            <a:ext cx="4602000" cy="769500"/>
          </a:xfrm>
          <a:prstGeom prst="rect">
            <a:avLst/>
          </a:prstGeom>
          <a:noFill/>
          <a:ln>
            <a:noFill/>
          </a:ln>
        </p:spPr>
        <p:txBody>
          <a:bodyPr anchorCtr="0" anchor="t" bIns="0" lIns="0" spcFirstLastPara="1" rIns="0" wrap="square" tIns="0">
            <a:spAutoFit/>
          </a:bodyPr>
          <a:lstStyle/>
          <a:p>
            <a:pPr indent="0" lvl="0" marL="0" marR="0" rtl="0" algn="ctr">
              <a:lnSpc>
                <a:spcPct val="123985"/>
              </a:lnSpc>
              <a:spcBef>
                <a:spcPts val="0"/>
              </a:spcBef>
              <a:spcAft>
                <a:spcPts val="0"/>
              </a:spcAft>
              <a:buNone/>
            </a:pPr>
            <a:r>
              <a:rPr b="1" lang="en-US" sz="5000">
                <a:solidFill>
                  <a:srgbClr val="F0EFEF"/>
                </a:solidFill>
                <a:latin typeface="Poppins"/>
                <a:ea typeface="Poppins"/>
                <a:cs typeface="Poppins"/>
                <a:sym typeface="Poppins"/>
              </a:rPr>
              <a:t>OBJETIVO</a:t>
            </a:r>
            <a:endParaRPr sz="5000">
              <a:latin typeface="Poppins"/>
              <a:ea typeface="Poppins"/>
              <a:cs typeface="Poppins"/>
              <a:sym typeface="Poppins"/>
            </a:endParaRPr>
          </a:p>
        </p:txBody>
      </p:sp>
      <p:sp>
        <p:nvSpPr>
          <p:cNvPr id="293" name="Google Shape;293;p4"/>
          <p:cNvSpPr txBox="1"/>
          <p:nvPr/>
        </p:nvSpPr>
        <p:spPr>
          <a:xfrm>
            <a:off x="6384451" y="1593100"/>
            <a:ext cx="11698200" cy="2239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US" sz="3000">
                <a:solidFill>
                  <a:schemeClr val="lt1"/>
                </a:solidFill>
                <a:latin typeface="Poppins"/>
                <a:ea typeface="Poppins"/>
                <a:cs typeface="Poppins"/>
                <a:sym typeface="Poppins"/>
              </a:rPr>
              <a:t>Desarrollar un modelo predictivo que estime la capacidad </a:t>
            </a:r>
            <a:r>
              <a:rPr lang="en-US" sz="3000">
                <a:solidFill>
                  <a:schemeClr val="lt1"/>
                </a:solidFill>
                <a:latin typeface="Poppins"/>
                <a:ea typeface="Poppins"/>
                <a:cs typeface="Poppins"/>
                <a:sym typeface="Poppins"/>
              </a:rPr>
              <a:t>autopercibida</a:t>
            </a:r>
            <a:r>
              <a:rPr lang="en-US" sz="3000">
                <a:solidFill>
                  <a:schemeClr val="lt1"/>
                </a:solidFill>
                <a:latin typeface="Poppins"/>
                <a:ea typeface="Poppins"/>
                <a:cs typeface="Poppins"/>
                <a:sym typeface="Poppins"/>
              </a:rPr>
              <a:t>  de aprender en adolescentes de 10 a 17 años en México, a partir de características ambientales y conductuales</a:t>
            </a:r>
            <a:endParaRPr sz="3000">
              <a:solidFill>
                <a:schemeClr val="lt1"/>
              </a:solidFill>
              <a:latin typeface="Poppins"/>
              <a:ea typeface="Poppins"/>
              <a:cs typeface="Poppins"/>
              <a:sym typeface="Poppins"/>
            </a:endParaRPr>
          </a:p>
        </p:txBody>
      </p:sp>
      <p:sp>
        <p:nvSpPr>
          <p:cNvPr id="294" name="Google Shape;294;p4"/>
          <p:cNvSpPr txBox="1"/>
          <p:nvPr/>
        </p:nvSpPr>
        <p:spPr>
          <a:xfrm>
            <a:off x="6384451" y="5151396"/>
            <a:ext cx="11538900" cy="3986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US" sz="3000">
                <a:solidFill>
                  <a:schemeClr val="lt1"/>
                </a:solidFill>
                <a:latin typeface="Poppins"/>
                <a:ea typeface="Poppins"/>
                <a:cs typeface="Poppins"/>
                <a:sym typeface="Poppins"/>
              </a:rPr>
              <a:t>El modelo podrá apoyar decisiones como:</a:t>
            </a:r>
            <a:endParaRPr sz="3000">
              <a:solidFill>
                <a:schemeClr val="lt1"/>
              </a:solidFill>
              <a:latin typeface="Poppins"/>
              <a:ea typeface="Poppins"/>
              <a:cs typeface="Poppins"/>
              <a:sym typeface="Poppins"/>
            </a:endParaRPr>
          </a:p>
          <a:p>
            <a:pPr indent="-419100" lvl="0" marL="457200" rtl="0" algn="just">
              <a:lnSpc>
                <a:spcPct val="115000"/>
              </a:lnSpc>
              <a:spcBef>
                <a:spcPts val="1200"/>
              </a:spcBef>
              <a:spcAft>
                <a:spcPts val="0"/>
              </a:spcAft>
              <a:buClr>
                <a:schemeClr val="lt1"/>
              </a:buClr>
              <a:buSzPts val="3000"/>
              <a:buFont typeface="Poppins"/>
              <a:buChar char="●"/>
            </a:pPr>
            <a:r>
              <a:rPr lang="en-US" sz="3000">
                <a:solidFill>
                  <a:schemeClr val="lt1"/>
                </a:solidFill>
                <a:latin typeface="Poppins"/>
                <a:ea typeface="Poppins"/>
                <a:cs typeface="Poppins"/>
                <a:sym typeface="Poppins"/>
              </a:rPr>
              <a:t>Diseñar intervenciones de salud preventiva (nutrición, sueño, consumo de sustancias, salud mental).</a:t>
            </a:r>
            <a:endParaRPr sz="3000">
              <a:solidFill>
                <a:schemeClr val="lt1"/>
              </a:solidFill>
              <a:latin typeface="Poppins"/>
              <a:ea typeface="Poppins"/>
              <a:cs typeface="Poppins"/>
              <a:sym typeface="Poppins"/>
            </a:endParaRPr>
          </a:p>
          <a:p>
            <a:pPr indent="-419100" lvl="0" marL="457200" rtl="0" algn="just">
              <a:lnSpc>
                <a:spcPct val="115000"/>
              </a:lnSpc>
              <a:spcBef>
                <a:spcPts val="0"/>
              </a:spcBef>
              <a:spcAft>
                <a:spcPts val="0"/>
              </a:spcAft>
              <a:buClr>
                <a:schemeClr val="lt1"/>
              </a:buClr>
              <a:buSzPts val="3000"/>
              <a:buFont typeface="Poppins"/>
              <a:buChar char="●"/>
            </a:pPr>
            <a:r>
              <a:rPr lang="en-US" sz="3000">
                <a:solidFill>
                  <a:schemeClr val="lt1"/>
                </a:solidFill>
                <a:latin typeface="Poppins"/>
                <a:ea typeface="Poppins"/>
                <a:cs typeface="Poppins"/>
                <a:sym typeface="Poppins"/>
              </a:rPr>
              <a:t>Implementar programas de prevención de violencia en entornos con alto impacto cognitivo.</a:t>
            </a:r>
            <a:endParaRPr sz="3000">
              <a:solidFill>
                <a:schemeClr val="lt1"/>
              </a:solidFill>
              <a:latin typeface="Poppins"/>
              <a:ea typeface="Poppins"/>
              <a:cs typeface="Poppins"/>
              <a:sym typeface="Poppins"/>
            </a:endParaRPr>
          </a:p>
          <a:p>
            <a:pPr indent="-419100" lvl="0" marL="457200" rtl="0" algn="just">
              <a:lnSpc>
                <a:spcPct val="115000"/>
              </a:lnSpc>
              <a:spcBef>
                <a:spcPts val="0"/>
              </a:spcBef>
              <a:spcAft>
                <a:spcPts val="0"/>
              </a:spcAft>
              <a:buClr>
                <a:schemeClr val="lt1"/>
              </a:buClr>
              <a:buSzPts val="3000"/>
              <a:buFont typeface="Poppins"/>
              <a:buChar char="●"/>
            </a:pPr>
            <a:r>
              <a:rPr lang="en-US" sz="3000">
                <a:solidFill>
                  <a:schemeClr val="lt1"/>
                </a:solidFill>
                <a:latin typeface="Poppins"/>
                <a:ea typeface="Poppins"/>
                <a:cs typeface="Poppins"/>
                <a:sym typeface="Poppins"/>
              </a:rPr>
              <a:t>Priorizar recursos públicos en zonas con mayor vulnerabilidad cognitiva.</a:t>
            </a:r>
            <a:endParaRPr sz="3000">
              <a:solidFill>
                <a:schemeClr val="lt1"/>
              </a:solidFill>
              <a:latin typeface="Poppins"/>
              <a:ea typeface="Poppins"/>
              <a:cs typeface="Poppins"/>
              <a:sym typeface="Poppins"/>
            </a:endParaRPr>
          </a:p>
        </p:txBody>
      </p:sp>
      <p:sp>
        <p:nvSpPr>
          <p:cNvPr id="295" name="Google Shape;295;p4"/>
          <p:cNvSpPr/>
          <p:nvPr/>
        </p:nvSpPr>
        <p:spPr>
          <a:xfrm>
            <a:off x="11573601" y="3941430"/>
            <a:ext cx="1502100" cy="864900"/>
          </a:xfrm>
          <a:prstGeom prst="downArrow">
            <a:avLst>
              <a:gd fmla="val 50000" name="adj1"/>
              <a:gd fmla="val 50000" name="adj2"/>
            </a:avLst>
          </a:prstGeom>
          <a:solidFill>
            <a:srgbClr val="FF00FF"/>
          </a:solid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6" name="Google Shape;296;p4"/>
          <p:cNvSpPr txBox="1"/>
          <p:nvPr/>
        </p:nvSpPr>
        <p:spPr>
          <a:xfrm>
            <a:off x="15430728" y="4146250"/>
            <a:ext cx="10467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0" name="Shape 300"/>
        <p:cNvGrpSpPr/>
        <p:nvPr/>
      </p:nvGrpSpPr>
      <p:grpSpPr>
        <a:xfrm>
          <a:off x="0" y="0"/>
          <a:ext cx="0" cy="0"/>
          <a:chOff x="0" y="0"/>
          <a:chExt cx="0" cy="0"/>
        </a:xfrm>
      </p:grpSpPr>
      <p:grpSp>
        <p:nvGrpSpPr>
          <p:cNvPr id="301" name="Google Shape;301;p5"/>
          <p:cNvGrpSpPr/>
          <p:nvPr/>
        </p:nvGrpSpPr>
        <p:grpSpPr>
          <a:xfrm rot="4029768">
            <a:off x="11086236" y="-1029564"/>
            <a:ext cx="12346127" cy="12346127"/>
            <a:chOff x="0" y="0"/>
            <a:chExt cx="812800" cy="812800"/>
          </a:xfrm>
        </p:grpSpPr>
        <p:sp>
          <p:nvSpPr>
            <p:cNvPr id="302" name="Google Shape;302;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3062FF"/>
                </a:gs>
                <a:gs pos="100000">
                  <a:srgbClr val="01338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5"/>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997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4" name="Google Shape;304;p5"/>
          <p:cNvSpPr txBox="1"/>
          <p:nvPr/>
        </p:nvSpPr>
        <p:spPr>
          <a:xfrm>
            <a:off x="895679" y="677189"/>
            <a:ext cx="9150900" cy="769500"/>
          </a:xfrm>
          <a:prstGeom prst="rect">
            <a:avLst/>
          </a:prstGeom>
          <a:noFill/>
          <a:ln>
            <a:noFill/>
          </a:ln>
        </p:spPr>
        <p:txBody>
          <a:bodyPr anchorCtr="0" anchor="t" bIns="0" lIns="0" spcFirstLastPara="1" rIns="0" wrap="square" tIns="0">
            <a:spAutoFit/>
          </a:bodyPr>
          <a:lstStyle/>
          <a:p>
            <a:pPr indent="0" lvl="0" marL="0" marR="0" rtl="0" algn="ctr">
              <a:lnSpc>
                <a:spcPct val="123985"/>
              </a:lnSpc>
              <a:spcBef>
                <a:spcPts val="0"/>
              </a:spcBef>
              <a:spcAft>
                <a:spcPts val="0"/>
              </a:spcAft>
              <a:buNone/>
            </a:pPr>
            <a:r>
              <a:rPr b="1" lang="en-US" sz="5000">
                <a:solidFill>
                  <a:srgbClr val="2758E6"/>
                </a:solidFill>
                <a:latin typeface="Poppins"/>
                <a:ea typeface="Poppins"/>
                <a:cs typeface="Poppins"/>
                <a:sym typeface="Poppins"/>
              </a:rPr>
              <a:t>ESTADO ACTUAL</a:t>
            </a:r>
            <a:endParaRPr sz="5000">
              <a:latin typeface="Poppins"/>
              <a:ea typeface="Poppins"/>
              <a:cs typeface="Poppins"/>
              <a:sym typeface="Poppins"/>
            </a:endParaRPr>
          </a:p>
        </p:txBody>
      </p:sp>
      <p:sp>
        <p:nvSpPr>
          <p:cNvPr id="305" name="Google Shape;305;p5"/>
          <p:cNvSpPr/>
          <p:nvPr/>
        </p:nvSpPr>
        <p:spPr>
          <a:xfrm>
            <a:off x="12289900" y="2710006"/>
            <a:ext cx="4968621" cy="4804029"/>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5"/>
          <p:cNvSpPr txBox="1"/>
          <p:nvPr/>
        </p:nvSpPr>
        <p:spPr>
          <a:xfrm>
            <a:off x="895675" y="2105250"/>
            <a:ext cx="10005900" cy="3001500"/>
          </a:xfrm>
          <a:prstGeom prst="rect">
            <a:avLst/>
          </a:prstGeom>
          <a:noFill/>
          <a:ln>
            <a:noFill/>
          </a:ln>
        </p:spPr>
        <p:txBody>
          <a:bodyPr anchorCtr="0" anchor="t" bIns="0" lIns="0" spcFirstLastPara="1" rIns="0" wrap="square" tIns="0">
            <a:spAutoFit/>
          </a:bodyPr>
          <a:lstStyle/>
          <a:p>
            <a:pPr indent="0" lvl="0" marL="0" rtl="0" algn="just">
              <a:lnSpc>
                <a:spcPct val="150000"/>
              </a:lnSpc>
              <a:spcBef>
                <a:spcPts val="1200"/>
              </a:spcBef>
              <a:spcAft>
                <a:spcPts val="0"/>
              </a:spcAft>
              <a:buNone/>
            </a:pPr>
            <a:r>
              <a:rPr lang="en-US" sz="3000">
                <a:solidFill>
                  <a:schemeClr val="dk1"/>
                </a:solidFill>
                <a:latin typeface="Poppins"/>
                <a:ea typeface="Poppins"/>
                <a:cs typeface="Poppins"/>
                <a:sym typeface="Poppins"/>
              </a:rPr>
              <a:t>Enfoques existentes:</a:t>
            </a:r>
            <a:endParaRPr sz="3000">
              <a:solidFill>
                <a:schemeClr val="dk1"/>
              </a:solidFill>
              <a:latin typeface="Poppins"/>
              <a:ea typeface="Poppins"/>
              <a:cs typeface="Poppins"/>
              <a:sym typeface="Poppins"/>
            </a:endParaRPr>
          </a:p>
          <a:p>
            <a:pPr indent="0" lvl="0" marL="457200" rtl="0" algn="just">
              <a:lnSpc>
                <a:spcPct val="150000"/>
              </a:lnSpc>
              <a:spcBef>
                <a:spcPts val="1200"/>
              </a:spcBef>
              <a:spcAft>
                <a:spcPts val="0"/>
              </a:spcAft>
              <a:buNone/>
            </a:pPr>
            <a:r>
              <a:rPr lang="en-US" sz="3000">
                <a:solidFill>
                  <a:schemeClr val="dk1"/>
                </a:solidFill>
                <a:latin typeface="Poppins"/>
                <a:ea typeface="Poppins"/>
                <a:cs typeface="Poppins"/>
                <a:sym typeface="Poppins"/>
              </a:rPr>
              <a:t>i) </a:t>
            </a:r>
            <a:r>
              <a:rPr lang="en-US" sz="3000">
                <a:solidFill>
                  <a:schemeClr val="dk1"/>
                </a:solidFill>
                <a:latin typeface="Poppins"/>
                <a:ea typeface="Poppins"/>
                <a:cs typeface="Poppins"/>
                <a:sym typeface="Poppins"/>
              </a:rPr>
              <a:t>Evaluaciones educativas estandarizadas.</a:t>
            </a:r>
            <a:endParaRPr sz="3000">
              <a:solidFill>
                <a:schemeClr val="dk1"/>
              </a:solidFill>
              <a:latin typeface="Poppins"/>
              <a:ea typeface="Poppins"/>
              <a:cs typeface="Poppins"/>
              <a:sym typeface="Poppins"/>
            </a:endParaRPr>
          </a:p>
          <a:p>
            <a:pPr indent="0" lvl="0" marL="457200" rtl="0" algn="just">
              <a:lnSpc>
                <a:spcPct val="150000"/>
              </a:lnSpc>
              <a:spcBef>
                <a:spcPts val="1200"/>
              </a:spcBef>
              <a:spcAft>
                <a:spcPts val="0"/>
              </a:spcAft>
              <a:buNone/>
            </a:pPr>
            <a:r>
              <a:rPr lang="en-US" sz="3000">
                <a:solidFill>
                  <a:schemeClr val="dk1"/>
                </a:solidFill>
                <a:latin typeface="Poppins"/>
                <a:ea typeface="Poppins"/>
                <a:cs typeface="Poppins"/>
                <a:sym typeface="Poppins"/>
              </a:rPr>
              <a:t>ii) </a:t>
            </a:r>
            <a:r>
              <a:rPr lang="en-US" sz="3000">
                <a:solidFill>
                  <a:schemeClr val="dk1"/>
                </a:solidFill>
                <a:latin typeface="Poppins"/>
                <a:ea typeface="Poppins"/>
                <a:cs typeface="Poppins"/>
                <a:sym typeface="Poppins"/>
              </a:rPr>
              <a:t>Enfoques psicológicos.</a:t>
            </a:r>
            <a:endParaRPr sz="3000">
              <a:solidFill>
                <a:schemeClr val="dk1"/>
              </a:solidFill>
              <a:latin typeface="Poppins"/>
              <a:ea typeface="Poppins"/>
              <a:cs typeface="Poppins"/>
              <a:sym typeface="Poppins"/>
            </a:endParaRPr>
          </a:p>
          <a:p>
            <a:pPr indent="0" lvl="0" marL="457200" rtl="0" algn="just">
              <a:lnSpc>
                <a:spcPct val="150000"/>
              </a:lnSpc>
              <a:spcBef>
                <a:spcPts val="1200"/>
              </a:spcBef>
              <a:spcAft>
                <a:spcPts val="1200"/>
              </a:spcAft>
              <a:buNone/>
            </a:pPr>
            <a:r>
              <a:rPr lang="en-US" sz="3000">
                <a:solidFill>
                  <a:schemeClr val="dk1"/>
                </a:solidFill>
                <a:latin typeface="Poppins"/>
                <a:ea typeface="Poppins"/>
                <a:cs typeface="Poppins"/>
                <a:sym typeface="Poppins"/>
              </a:rPr>
              <a:t>iii) </a:t>
            </a:r>
            <a:r>
              <a:rPr lang="en-US" sz="3000">
                <a:solidFill>
                  <a:schemeClr val="dk1"/>
                </a:solidFill>
                <a:latin typeface="Poppins"/>
                <a:ea typeface="Poppins"/>
                <a:cs typeface="Poppins"/>
                <a:sym typeface="Poppins"/>
              </a:rPr>
              <a:t>Políticas públicas educativas y sociales.</a:t>
            </a:r>
            <a:endParaRPr sz="3099">
              <a:solidFill>
                <a:srgbClr val="282A2A"/>
              </a:solidFill>
              <a:latin typeface="Poppins"/>
              <a:ea typeface="Poppins"/>
              <a:cs typeface="Poppins"/>
              <a:sym typeface="Poppins"/>
            </a:endParaRPr>
          </a:p>
        </p:txBody>
      </p:sp>
      <p:sp>
        <p:nvSpPr>
          <p:cNvPr id="307" name="Google Shape;307;p5"/>
          <p:cNvSpPr txBox="1"/>
          <p:nvPr/>
        </p:nvSpPr>
        <p:spPr>
          <a:xfrm>
            <a:off x="895675" y="5560475"/>
            <a:ext cx="10005900" cy="4079100"/>
          </a:xfrm>
          <a:prstGeom prst="rect">
            <a:avLst/>
          </a:prstGeom>
          <a:noFill/>
          <a:ln>
            <a:noFill/>
          </a:ln>
        </p:spPr>
        <p:txBody>
          <a:bodyPr anchorCtr="0" anchor="t" bIns="0" lIns="0" spcFirstLastPara="1" rIns="0" wrap="square" tIns="0">
            <a:spAutoFit/>
          </a:bodyPr>
          <a:lstStyle/>
          <a:p>
            <a:pPr indent="0" lvl="0" marL="0" rtl="0" algn="just">
              <a:lnSpc>
                <a:spcPct val="150000"/>
              </a:lnSpc>
              <a:spcBef>
                <a:spcPts val="1200"/>
              </a:spcBef>
              <a:spcAft>
                <a:spcPts val="0"/>
              </a:spcAft>
              <a:buNone/>
            </a:pPr>
            <a:r>
              <a:rPr lang="en-US" sz="3000">
                <a:solidFill>
                  <a:schemeClr val="dk1"/>
                </a:solidFill>
                <a:latin typeface="Poppins"/>
                <a:ea typeface="Poppins"/>
                <a:cs typeface="Poppins"/>
                <a:sym typeface="Poppins"/>
              </a:rPr>
              <a:t>Principales </a:t>
            </a:r>
            <a:r>
              <a:rPr b="1" lang="en-US" sz="3000">
                <a:solidFill>
                  <a:schemeClr val="dk1"/>
                </a:solidFill>
                <a:latin typeface="Poppins"/>
                <a:ea typeface="Poppins"/>
                <a:cs typeface="Poppins"/>
                <a:sym typeface="Poppins"/>
              </a:rPr>
              <a:t>limitaciones </a:t>
            </a:r>
            <a:r>
              <a:rPr lang="en-US" sz="3000">
                <a:solidFill>
                  <a:schemeClr val="dk1"/>
                </a:solidFill>
                <a:latin typeface="Poppins"/>
                <a:ea typeface="Poppins"/>
                <a:cs typeface="Poppins"/>
                <a:sym typeface="Poppins"/>
              </a:rPr>
              <a:t>de estos enfoques:</a:t>
            </a:r>
            <a:endParaRPr sz="3000">
              <a:solidFill>
                <a:schemeClr val="dk1"/>
              </a:solidFill>
              <a:latin typeface="Poppins"/>
              <a:ea typeface="Poppins"/>
              <a:cs typeface="Poppins"/>
              <a:sym typeface="Poppins"/>
            </a:endParaRPr>
          </a:p>
          <a:p>
            <a:pPr indent="-419100" lvl="0" marL="914400" rtl="0" algn="just">
              <a:lnSpc>
                <a:spcPct val="150000"/>
              </a:lnSpc>
              <a:spcBef>
                <a:spcPts val="1200"/>
              </a:spcBef>
              <a:spcAft>
                <a:spcPts val="0"/>
              </a:spcAft>
              <a:buClr>
                <a:schemeClr val="dk1"/>
              </a:buClr>
              <a:buSzPts val="3000"/>
              <a:buFont typeface="Poppins"/>
              <a:buChar char="●"/>
            </a:pPr>
            <a:r>
              <a:rPr lang="en-US" sz="3000">
                <a:solidFill>
                  <a:schemeClr val="dk1"/>
                </a:solidFill>
                <a:latin typeface="Poppins"/>
                <a:ea typeface="Poppins"/>
                <a:cs typeface="Poppins"/>
                <a:sym typeface="Poppins"/>
              </a:rPr>
              <a:t>Son r</a:t>
            </a:r>
            <a:r>
              <a:rPr lang="en-US" sz="3000">
                <a:solidFill>
                  <a:schemeClr val="dk1"/>
                </a:solidFill>
                <a:latin typeface="Poppins"/>
                <a:ea typeface="Poppins"/>
                <a:cs typeface="Poppins"/>
                <a:sym typeface="Poppins"/>
              </a:rPr>
              <a:t>eactivos y no preventivos.</a:t>
            </a:r>
            <a:endParaRPr sz="3000">
              <a:solidFill>
                <a:schemeClr val="dk1"/>
              </a:solidFill>
              <a:latin typeface="Poppins"/>
              <a:ea typeface="Poppins"/>
              <a:cs typeface="Poppins"/>
              <a:sym typeface="Poppins"/>
            </a:endParaRPr>
          </a:p>
          <a:p>
            <a:pPr indent="-419100" lvl="0" marL="914400" rtl="0" algn="just">
              <a:lnSpc>
                <a:spcPct val="150000"/>
              </a:lnSpc>
              <a:spcBef>
                <a:spcPts val="0"/>
              </a:spcBef>
              <a:spcAft>
                <a:spcPts val="0"/>
              </a:spcAft>
              <a:buClr>
                <a:schemeClr val="dk1"/>
              </a:buClr>
              <a:buSzPts val="3000"/>
              <a:buFont typeface="Poppins"/>
              <a:buChar char="●"/>
            </a:pPr>
            <a:r>
              <a:rPr lang="en-US" sz="3000">
                <a:solidFill>
                  <a:schemeClr val="dk1"/>
                </a:solidFill>
                <a:latin typeface="Poppins"/>
                <a:ea typeface="Poppins"/>
                <a:cs typeface="Poppins"/>
                <a:sym typeface="Poppins"/>
              </a:rPr>
              <a:t>Análisis univariados o descriptivos</a:t>
            </a:r>
            <a:endParaRPr sz="3000">
              <a:solidFill>
                <a:schemeClr val="dk1"/>
              </a:solidFill>
              <a:latin typeface="Poppins"/>
              <a:ea typeface="Poppins"/>
              <a:cs typeface="Poppins"/>
              <a:sym typeface="Poppins"/>
            </a:endParaRPr>
          </a:p>
          <a:p>
            <a:pPr indent="-419100" lvl="0" marL="914400" rtl="0" algn="just">
              <a:lnSpc>
                <a:spcPct val="150000"/>
              </a:lnSpc>
              <a:spcBef>
                <a:spcPts val="0"/>
              </a:spcBef>
              <a:spcAft>
                <a:spcPts val="0"/>
              </a:spcAft>
              <a:buClr>
                <a:schemeClr val="dk1"/>
              </a:buClr>
              <a:buSzPts val="3000"/>
              <a:buFont typeface="Poppins"/>
              <a:buChar char="●"/>
            </a:pPr>
            <a:r>
              <a:rPr lang="en-US" sz="3000">
                <a:solidFill>
                  <a:schemeClr val="dk1"/>
                </a:solidFill>
                <a:latin typeface="Poppins"/>
                <a:ea typeface="Poppins"/>
                <a:cs typeface="Poppins"/>
                <a:sym typeface="Poppins"/>
              </a:rPr>
              <a:t>Poca integración de múltiples dimensiones.</a:t>
            </a:r>
            <a:endParaRPr sz="3000">
              <a:solidFill>
                <a:schemeClr val="dk1"/>
              </a:solidFill>
              <a:latin typeface="Poppins"/>
              <a:ea typeface="Poppins"/>
              <a:cs typeface="Poppins"/>
              <a:sym typeface="Poppins"/>
            </a:endParaRPr>
          </a:p>
          <a:p>
            <a:pPr indent="-419100" lvl="0" marL="914400" rtl="0" algn="just">
              <a:lnSpc>
                <a:spcPct val="150000"/>
              </a:lnSpc>
              <a:spcBef>
                <a:spcPts val="0"/>
              </a:spcBef>
              <a:spcAft>
                <a:spcPts val="0"/>
              </a:spcAft>
              <a:buClr>
                <a:schemeClr val="dk1"/>
              </a:buClr>
              <a:buSzPts val="3000"/>
              <a:buFont typeface="Poppins"/>
              <a:buChar char="●"/>
            </a:pPr>
            <a:r>
              <a:rPr lang="en-US" sz="3000">
                <a:solidFill>
                  <a:schemeClr val="dk1"/>
                </a:solidFill>
                <a:latin typeface="Poppins"/>
                <a:ea typeface="Poppins"/>
                <a:cs typeface="Poppins"/>
                <a:sym typeface="Poppins"/>
              </a:rPr>
              <a:t>Escasa focalización.</a:t>
            </a:r>
            <a:endParaRPr sz="3000">
              <a:solidFill>
                <a:schemeClr val="dk1"/>
              </a:solidFill>
              <a:latin typeface="Poppins"/>
              <a:ea typeface="Poppins"/>
              <a:cs typeface="Poppins"/>
              <a:sym typeface="Poppins"/>
            </a:endParaRPr>
          </a:p>
          <a:p>
            <a:pPr indent="-419100" lvl="0" marL="914400" rtl="0" algn="just">
              <a:lnSpc>
                <a:spcPct val="150000"/>
              </a:lnSpc>
              <a:spcBef>
                <a:spcPts val="0"/>
              </a:spcBef>
              <a:spcAft>
                <a:spcPts val="0"/>
              </a:spcAft>
              <a:buClr>
                <a:schemeClr val="dk1"/>
              </a:buClr>
              <a:buSzPts val="3000"/>
              <a:buFont typeface="Poppins"/>
              <a:buChar char="●"/>
            </a:pPr>
            <a:r>
              <a:rPr lang="en-US" sz="3000">
                <a:solidFill>
                  <a:schemeClr val="dk1"/>
                </a:solidFill>
                <a:latin typeface="Poppins"/>
                <a:ea typeface="Poppins"/>
                <a:cs typeface="Poppins"/>
                <a:sym typeface="Poppins"/>
              </a:rPr>
              <a:t>Limitaciones de escalabilidad.</a:t>
            </a:r>
            <a:endParaRPr sz="3000">
              <a:solidFill>
                <a:schemeClr val="dk1"/>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1" name="Shape 311"/>
        <p:cNvGrpSpPr/>
        <p:nvPr/>
      </p:nvGrpSpPr>
      <p:grpSpPr>
        <a:xfrm>
          <a:off x="0" y="0"/>
          <a:ext cx="0" cy="0"/>
          <a:chOff x="0" y="0"/>
          <a:chExt cx="0" cy="0"/>
        </a:xfrm>
      </p:grpSpPr>
      <p:grpSp>
        <p:nvGrpSpPr>
          <p:cNvPr id="312" name="Google Shape;312;p6"/>
          <p:cNvGrpSpPr/>
          <p:nvPr/>
        </p:nvGrpSpPr>
        <p:grpSpPr>
          <a:xfrm>
            <a:off x="10325227" y="5243240"/>
            <a:ext cx="1519084" cy="1324977"/>
            <a:chOff x="0" y="0"/>
            <a:chExt cx="812800" cy="708941"/>
          </a:xfrm>
        </p:grpSpPr>
        <p:sp>
          <p:nvSpPr>
            <p:cNvPr id="313" name="Google Shape;313;p6"/>
            <p:cNvSpPr/>
            <p:nvPr/>
          </p:nvSpPr>
          <p:spPr>
            <a:xfrm>
              <a:off x="0" y="0"/>
              <a:ext cx="812800" cy="708941"/>
            </a:xfrm>
            <a:custGeom>
              <a:rect b="b" l="l" r="r" t="t"/>
              <a:pathLst>
                <a:path extrusionOk="0" h="708941" w="812800">
                  <a:moveTo>
                    <a:pt x="406400" y="708941"/>
                  </a:moveTo>
                  <a:lnTo>
                    <a:pt x="0" y="302541"/>
                  </a:lnTo>
                  <a:lnTo>
                    <a:pt x="203200" y="302541"/>
                  </a:lnTo>
                  <a:lnTo>
                    <a:pt x="203200" y="0"/>
                  </a:lnTo>
                  <a:lnTo>
                    <a:pt x="609600" y="0"/>
                  </a:lnTo>
                  <a:lnTo>
                    <a:pt x="609600" y="302541"/>
                  </a:lnTo>
                  <a:lnTo>
                    <a:pt x="812800" y="302541"/>
                  </a:lnTo>
                  <a:lnTo>
                    <a:pt x="406400" y="708941"/>
                  </a:lnTo>
                  <a:close/>
                </a:path>
              </a:pathLst>
            </a:custGeom>
            <a:solidFill>
              <a:srgbClr val="21388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6"/>
            <p:cNvSpPr txBox="1"/>
            <p:nvPr/>
          </p:nvSpPr>
          <p:spPr>
            <a:xfrm>
              <a:off x="203200" y="19050"/>
              <a:ext cx="406400" cy="588291"/>
            </a:xfrm>
            <a:prstGeom prst="rect">
              <a:avLst/>
            </a:prstGeom>
            <a:noFill/>
            <a:ln>
              <a:noFill/>
            </a:ln>
          </p:spPr>
          <p:txBody>
            <a:bodyPr anchorCtr="0" anchor="ctr" bIns="50800" lIns="50800" spcFirstLastPara="1" rIns="50800" wrap="square" tIns="50800">
              <a:noAutofit/>
            </a:bodyPr>
            <a:lstStyle/>
            <a:p>
              <a:pPr indent="0" lvl="0" marL="0" marR="0" rtl="0" algn="ctr">
                <a:lnSpc>
                  <a:spcPct val="1358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5" name="Google Shape;315;p6"/>
          <p:cNvGrpSpPr/>
          <p:nvPr/>
        </p:nvGrpSpPr>
        <p:grpSpPr>
          <a:xfrm>
            <a:off x="6120275" y="2315474"/>
            <a:ext cx="11448147" cy="4555494"/>
            <a:chOff x="0" y="-19050"/>
            <a:chExt cx="3015130" cy="1123288"/>
          </a:xfrm>
        </p:grpSpPr>
        <p:sp>
          <p:nvSpPr>
            <p:cNvPr id="316" name="Google Shape;316;p6"/>
            <p:cNvSpPr/>
            <p:nvPr/>
          </p:nvSpPr>
          <p:spPr>
            <a:xfrm>
              <a:off x="0" y="0"/>
              <a:ext cx="3015130" cy="1104238"/>
            </a:xfrm>
            <a:custGeom>
              <a:rect b="b" l="l" r="r" t="t"/>
              <a:pathLst>
                <a:path extrusionOk="0" h="1104238" w="3015130">
                  <a:moveTo>
                    <a:pt x="20288" y="0"/>
                  </a:moveTo>
                  <a:lnTo>
                    <a:pt x="2994842" y="0"/>
                  </a:lnTo>
                  <a:cubicBezTo>
                    <a:pt x="3000222" y="0"/>
                    <a:pt x="3005383" y="2137"/>
                    <a:pt x="3009187" y="5942"/>
                  </a:cubicBezTo>
                  <a:cubicBezTo>
                    <a:pt x="3012992" y="9747"/>
                    <a:pt x="3015130" y="14907"/>
                    <a:pt x="3015130" y="20288"/>
                  </a:cubicBezTo>
                  <a:lnTo>
                    <a:pt x="3015130" y="1083951"/>
                  </a:lnTo>
                  <a:cubicBezTo>
                    <a:pt x="3015130" y="1089331"/>
                    <a:pt x="3012992" y="1094492"/>
                    <a:pt x="3009187" y="1098296"/>
                  </a:cubicBezTo>
                  <a:cubicBezTo>
                    <a:pt x="3005383" y="1102101"/>
                    <a:pt x="3000222" y="1104238"/>
                    <a:pt x="2994842" y="1104238"/>
                  </a:cubicBezTo>
                  <a:lnTo>
                    <a:pt x="20288" y="1104238"/>
                  </a:lnTo>
                  <a:cubicBezTo>
                    <a:pt x="14907" y="1104238"/>
                    <a:pt x="9747" y="1102101"/>
                    <a:pt x="5942" y="1098296"/>
                  </a:cubicBezTo>
                  <a:cubicBezTo>
                    <a:pt x="2137" y="1094492"/>
                    <a:pt x="0" y="1089331"/>
                    <a:pt x="0" y="1083951"/>
                  </a:cubicBezTo>
                  <a:lnTo>
                    <a:pt x="0" y="20288"/>
                  </a:lnTo>
                  <a:cubicBezTo>
                    <a:pt x="0" y="14907"/>
                    <a:pt x="2137" y="9747"/>
                    <a:pt x="5942" y="5942"/>
                  </a:cubicBezTo>
                  <a:cubicBezTo>
                    <a:pt x="9747" y="2137"/>
                    <a:pt x="14907" y="0"/>
                    <a:pt x="20288" y="0"/>
                  </a:cubicBezTo>
                  <a:close/>
                </a:path>
              </a:pathLst>
            </a:custGeom>
            <a:gradFill>
              <a:gsLst>
                <a:gs pos="0">
                  <a:srgbClr val="3062FF"/>
                </a:gs>
                <a:gs pos="100000">
                  <a:srgbClr val="013388"/>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6"/>
            <p:cNvSpPr txBox="1"/>
            <p:nvPr/>
          </p:nvSpPr>
          <p:spPr>
            <a:xfrm>
              <a:off x="0" y="-19050"/>
              <a:ext cx="3015130" cy="1123288"/>
            </a:xfrm>
            <a:prstGeom prst="rect">
              <a:avLst/>
            </a:prstGeom>
            <a:noFill/>
            <a:ln>
              <a:noFill/>
            </a:ln>
          </p:spPr>
          <p:txBody>
            <a:bodyPr anchorCtr="0" anchor="ctr" bIns="50800" lIns="50800" spcFirstLastPara="1" rIns="50800" wrap="square" tIns="50800">
              <a:noAutofit/>
            </a:bodyPr>
            <a:lstStyle/>
            <a:p>
              <a:pPr indent="0" lvl="0" marL="0" marR="0" rtl="0" algn="ctr">
                <a:lnSpc>
                  <a:spcPct val="158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8" name="Google Shape;318;p6"/>
          <p:cNvSpPr/>
          <p:nvPr/>
        </p:nvSpPr>
        <p:spPr>
          <a:xfrm>
            <a:off x="-2446710" y="0"/>
            <a:ext cx="9515405" cy="8968269"/>
          </a:xfrm>
          <a:custGeom>
            <a:rect b="b" l="l" r="r" t="t"/>
            <a:pathLst>
              <a:path extrusionOk="0" h="8968269" w="9515405">
                <a:moveTo>
                  <a:pt x="0" y="0"/>
                </a:moveTo>
                <a:lnTo>
                  <a:pt x="9515405" y="0"/>
                </a:lnTo>
                <a:lnTo>
                  <a:pt x="9515405" y="8968269"/>
                </a:lnTo>
                <a:lnTo>
                  <a:pt x="0" y="896826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6"/>
          <p:cNvSpPr txBox="1"/>
          <p:nvPr/>
        </p:nvSpPr>
        <p:spPr>
          <a:xfrm>
            <a:off x="5488903" y="1028700"/>
            <a:ext cx="11191731" cy="815721"/>
          </a:xfrm>
          <a:prstGeom prst="rect">
            <a:avLst/>
          </a:prstGeom>
          <a:noFill/>
          <a:ln>
            <a:noFill/>
          </a:ln>
        </p:spPr>
        <p:txBody>
          <a:bodyPr anchorCtr="0" anchor="t" bIns="0" lIns="0" spcFirstLastPara="1" rIns="0" wrap="square" tIns="0">
            <a:spAutoFit/>
          </a:bodyPr>
          <a:lstStyle/>
          <a:p>
            <a:pPr indent="0" lvl="0" marL="0" marR="0" rtl="0" algn="ctr">
              <a:lnSpc>
                <a:spcPct val="108001"/>
              </a:lnSpc>
              <a:spcBef>
                <a:spcPts val="0"/>
              </a:spcBef>
              <a:spcAft>
                <a:spcPts val="0"/>
              </a:spcAft>
              <a:buNone/>
            </a:pPr>
            <a:r>
              <a:rPr b="1" lang="en-US" sz="5399">
                <a:solidFill>
                  <a:srgbClr val="2758E6"/>
                </a:solidFill>
                <a:latin typeface="Poppins"/>
                <a:ea typeface="Poppins"/>
                <a:cs typeface="Poppins"/>
                <a:sym typeface="Poppins"/>
              </a:rPr>
              <a:t>DATOS</a:t>
            </a:r>
            <a:endParaRPr/>
          </a:p>
        </p:txBody>
      </p:sp>
      <p:sp>
        <p:nvSpPr>
          <p:cNvPr id="320" name="Google Shape;320;p6"/>
          <p:cNvSpPr txBox="1"/>
          <p:nvPr/>
        </p:nvSpPr>
        <p:spPr>
          <a:xfrm>
            <a:off x="6485427" y="8012964"/>
            <a:ext cx="1959959" cy="404248"/>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None/>
            </a:pPr>
            <a:r>
              <a:rPr lang="en-US" sz="2316">
                <a:solidFill>
                  <a:srgbClr val="FFFFFF"/>
                </a:solidFill>
                <a:latin typeface="Poppins"/>
                <a:ea typeface="Poppins"/>
                <a:cs typeface="Poppins"/>
                <a:sym typeface="Poppins"/>
              </a:rPr>
              <a:t>Discretion</a:t>
            </a:r>
            <a:endParaRPr/>
          </a:p>
        </p:txBody>
      </p:sp>
      <p:sp>
        <p:nvSpPr>
          <p:cNvPr id="321" name="Google Shape;321;p6"/>
          <p:cNvSpPr txBox="1"/>
          <p:nvPr/>
        </p:nvSpPr>
        <p:spPr>
          <a:xfrm>
            <a:off x="7068695" y="2610831"/>
            <a:ext cx="10379700" cy="4108800"/>
          </a:xfrm>
          <a:prstGeom prst="rect">
            <a:avLst/>
          </a:prstGeom>
          <a:noFill/>
          <a:ln>
            <a:noFill/>
          </a:ln>
        </p:spPr>
        <p:txBody>
          <a:bodyPr anchorCtr="0" anchor="t" bIns="0" lIns="0" spcFirstLastPara="1" rIns="0" wrap="square" tIns="0">
            <a:spAutoFit/>
          </a:bodyPr>
          <a:lstStyle/>
          <a:p>
            <a:pPr indent="-419037" lvl="0" marL="457200" marR="0" rtl="0" algn="l">
              <a:lnSpc>
                <a:spcPct val="158019"/>
              </a:lnSpc>
              <a:spcBef>
                <a:spcPts val="0"/>
              </a:spcBef>
              <a:spcAft>
                <a:spcPts val="0"/>
              </a:spcAft>
              <a:buClr>
                <a:srgbClr val="FFFFFF"/>
              </a:buClr>
              <a:buSzPts val="2999"/>
              <a:buFont typeface="Poppins"/>
              <a:buChar char="●"/>
            </a:pPr>
            <a:r>
              <a:rPr lang="en-US" sz="2999">
                <a:solidFill>
                  <a:srgbClr val="FFFFFF"/>
                </a:solidFill>
                <a:latin typeface="Poppins"/>
                <a:ea typeface="Poppins"/>
                <a:cs typeface="Poppins"/>
                <a:sym typeface="Poppins"/>
              </a:rPr>
              <a:t>ENSANUT 2024- Cuestionario de salud de adolescentes (10 a 19 años)</a:t>
            </a:r>
            <a:endParaRPr/>
          </a:p>
          <a:p>
            <a:pPr indent="-419037" lvl="0" marL="457200" marR="0" rtl="0" algn="l">
              <a:lnSpc>
                <a:spcPct val="158019"/>
              </a:lnSpc>
              <a:spcBef>
                <a:spcPts val="0"/>
              </a:spcBef>
              <a:spcAft>
                <a:spcPts val="0"/>
              </a:spcAft>
              <a:buClr>
                <a:srgbClr val="FFFFFF"/>
              </a:buClr>
              <a:buSzPts val="2999"/>
              <a:buFont typeface="Poppins"/>
              <a:buChar char="●"/>
            </a:pPr>
            <a:r>
              <a:rPr lang="en-US" sz="2999">
                <a:solidFill>
                  <a:srgbClr val="FFFFFF"/>
                </a:solidFill>
                <a:latin typeface="Poppins"/>
                <a:ea typeface="Poppins"/>
                <a:cs typeface="Poppins"/>
                <a:sym typeface="Poppins"/>
              </a:rPr>
              <a:t>3,730 observaciones iniciales → 3,010 observaciones</a:t>
            </a:r>
            <a:endParaRPr/>
          </a:p>
          <a:p>
            <a:pPr indent="-419037" lvl="0" marL="457200" marR="0" rtl="0" algn="l">
              <a:lnSpc>
                <a:spcPct val="158019"/>
              </a:lnSpc>
              <a:spcBef>
                <a:spcPts val="0"/>
              </a:spcBef>
              <a:spcAft>
                <a:spcPts val="0"/>
              </a:spcAft>
              <a:buClr>
                <a:srgbClr val="FFFFFF"/>
              </a:buClr>
              <a:buSzPts val="2999"/>
              <a:buFont typeface="Poppins"/>
              <a:buChar char="●"/>
            </a:pPr>
            <a:r>
              <a:rPr lang="en-US" sz="2999">
                <a:solidFill>
                  <a:srgbClr val="FFFFFF"/>
                </a:solidFill>
                <a:latin typeface="Poppins"/>
                <a:ea typeface="Poppins"/>
                <a:cs typeface="Poppins"/>
                <a:sym typeface="Poppins"/>
              </a:rPr>
              <a:t>”</a:t>
            </a:r>
            <a:r>
              <a:rPr lang="en-US" sz="2999">
                <a:solidFill>
                  <a:srgbClr val="FFFFFF"/>
                </a:solidFill>
                <a:latin typeface="Poppins"/>
                <a:ea typeface="Poppins"/>
                <a:cs typeface="Poppins"/>
                <a:sym typeface="Poppins"/>
              </a:rPr>
              <a:t>Dificultad para aprender” autopercibida como objetivo y </a:t>
            </a:r>
            <a:r>
              <a:rPr lang="en-US" sz="2999">
                <a:solidFill>
                  <a:srgbClr val="FFFFFF"/>
                </a:solidFill>
                <a:latin typeface="Poppins"/>
                <a:ea typeface="Poppins"/>
                <a:cs typeface="Poppins"/>
                <a:sym typeface="Poppins"/>
              </a:rPr>
              <a:t>22 variables </a:t>
            </a:r>
            <a:r>
              <a:rPr lang="en-US" sz="2999">
                <a:solidFill>
                  <a:srgbClr val="FFFFFF"/>
                </a:solidFill>
                <a:latin typeface="Poppins"/>
                <a:ea typeface="Poppins"/>
                <a:cs typeface="Poppins"/>
                <a:sym typeface="Poppins"/>
              </a:rPr>
              <a:t>predictoras</a:t>
            </a:r>
            <a:endParaRPr/>
          </a:p>
          <a:p>
            <a:pPr indent="-419037" lvl="0" marL="457200" marR="0" rtl="0" algn="l">
              <a:lnSpc>
                <a:spcPct val="158019"/>
              </a:lnSpc>
              <a:spcBef>
                <a:spcPts val="0"/>
              </a:spcBef>
              <a:spcAft>
                <a:spcPts val="0"/>
              </a:spcAft>
              <a:buClr>
                <a:srgbClr val="FFFFFF"/>
              </a:buClr>
              <a:buSzPts val="2999"/>
              <a:buFont typeface="Poppins"/>
              <a:buChar char="●"/>
            </a:pPr>
            <a:r>
              <a:rPr lang="en-US" sz="2999">
                <a:solidFill>
                  <a:srgbClr val="FFFFFF"/>
                </a:solidFill>
                <a:latin typeface="Poppins"/>
                <a:ea typeface="Poppins"/>
                <a:cs typeface="Poppins"/>
                <a:sym typeface="Poppins"/>
              </a:rPr>
              <a:t>Segmentación por edad y sexo</a:t>
            </a:r>
            <a:endParaRPr sz="2999">
              <a:solidFill>
                <a:srgbClr val="FFFFFF"/>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5" name="Shape 325"/>
        <p:cNvGrpSpPr/>
        <p:nvPr/>
      </p:nvGrpSpPr>
      <p:grpSpPr>
        <a:xfrm>
          <a:off x="0" y="0"/>
          <a:ext cx="0" cy="0"/>
          <a:chOff x="0" y="0"/>
          <a:chExt cx="0" cy="0"/>
        </a:xfrm>
      </p:grpSpPr>
      <p:grpSp>
        <p:nvGrpSpPr>
          <p:cNvPr id="326" name="Google Shape;326;g3d24565a1a3_0_3"/>
          <p:cNvGrpSpPr/>
          <p:nvPr/>
        </p:nvGrpSpPr>
        <p:grpSpPr>
          <a:xfrm rot="4029767">
            <a:off x="11086258" y="-1029567"/>
            <a:ext cx="12346102" cy="12346102"/>
            <a:chOff x="0" y="0"/>
            <a:chExt cx="812800" cy="812800"/>
          </a:xfrm>
        </p:grpSpPr>
        <p:sp>
          <p:nvSpPr>
            <p:cNvPr id="327" name="Google Shape;327;g3d24565a1a3_0_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3062FF"/>
                </a:gs>
                <a:gs pos="100000">
                  <a:srgbClr val="01338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g3d24565a1a3_0_3"/>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997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9" name="Google Shape;329;g3d24565a1a3_0_3"/>
          <p:cNvSpPr txBox="1"/>
          <p:nvPr/>
        </p:nvSpPr>
        <p:spPr>
          <a:xfrm>
            <a:off x="850175" y="2007075"/>
            <a:ext cx="9778200" cy="7142100"/>
          </a:xfrm>
          <a:prstGeom prst="rect">
            <a:avLst/>
          </a:prstGeom>
          <a:noFill/>
          <a:ln>
            <a:noFill/>
          </a:ln>
        </p:spPr>
        <p:txBody>
          <a:bodyPr anchorCtr="0" anchor="t" bIns="0" lIns="0" spcFirstLastPara="1" rIns="0" wrap="square" tIns="0">
            <a:spAutoFit/>
          </a:bodyPr>
          <a:lstStyle/>
          <a:p>
            <a:pPr indent="0" lvl="0" marL="0" rtl="0" algn="just">
              <a:lnSpc>
                <a:spcPct val="150000"/>
              </a:lnSpc>
              <a:spcBef>
                <a:spcPts val="0"/>
              </a:spcBef>
              <a:spcAft>
                <a:spcPts val="0"/>
              </a:spcAft>
              <a:buNone/>
            </a:pPr>
            <a:r>
              <a:rPr lang="en-US" sz="2900">
                <a:solidFill>
                  <a:schemeClr val="dk1"/>
                </a:solidFill>
                <a:latin typeface="Poppins"/>
                <a:ea typeface="Poppins"/>
                <a:cs typeface="Poppins"/>
                <a:sym typeface="Poppins"/>
              </a:rPr>
              <a:t>Al concluir la limpieza y preparación de datos obtenemos tres bases de datos:</a:t>
            </a:r>
            <a:endParaRPr sz="2900">
              <a:solidFill>
                <a:schemeClr val="dk1"/>
              </a:solidFill>
              <a:latin typeface="Poppins"/>
              <a:ea typeface="Poppins"/>
              <a:cs typeface="Poppins"/>
              <a:sym typeface="Poppins"/>
            </a:endParaRPr>
          </a:p>
          <a:p>
            <a:pPr indent="-412750" lvl="0" marL="457200" rtl="0" algn="just">
              <a:lnSpc>
                <a:spcPct val="150000"/>
              </a:lnSpc>
              <a:spcBef>
                <a:spcPts val="0"/>
              </a:spcBef>
              <a:spcAft>
                <a:spcPts val="0"/>
              </a:spcAft>
              <a:buClr>
                <a:schemeClr val="dk1"/>
              </a:buClr>
              <a:buSzPts val="2900"/>
              <a:buFont typeface="Poppins"/>
              <a:buChar char="●"/>
            </a:pPr>
            <a:r>
              <a:rPr lang="en-US" sz="2900">
                <a:solidFill>
                  <a:schemeClr val="dk1"/>
                </a:solidFill>
                <a:latin typeface="Poppins"/>
                <a:ea typeface="Poppins"/>
                <a:cs typeface="Poppins"/>
                <a:sym typeface="Poppins"/>
              </a:rPr>
              <a:t>Una base de datos de niños de 10 y 11 años con 795 observaciones y 11 variables, incluyendo la variable objetivo.</a:t>
            </a:r>
            <a:endParaRPr sz="2900">
              <a:solidFill>
                <a:schemeClr val="dk1"/>
              </a:solidFill>
              <a:latin typeface="Poppins"/>
              <a:ea typeface="Poppins"/>
              <a:cs typeface="Poppins"/>
              <a:sym typeface="Poppins"/>
            </a:endParaRPr>
          </a:p>
          <a:p>
            <a:pPr indent="-412750" lvl="0" marL="457200" rtl="0" algn="just">
              <a:lnSpc>
                <a:spcPct val="150000"/>
              </a:lnSpc>
              <a:spcBef>
                <a:spcPts val="0"/>
              </a:spcBef>
              <a:spcAft>
                <a:spcPts val="0"/>
              </a:spcAft>
              <a:buClr>
                <a:schemeClr val="dk1"/>
              </a:buClr>
              <a:buSzPts val="2900"/>
              <a:buFont typeface="Poppins"/>
              <a:buChar char="●"/>
            </a:pPr>
            <a:r>
              <a:rPr lang="en-US" sz="2900">
                <a:solidFill>
                  <a:schemeClr val="dk1"/>
                </a:solidFill>
                <a:latin typeface="Poppins"/>
                <a:ea typeface="Poppins"/>
                <a:cs typeface="Poppins"/>
                <a:sym typeface="Poppins"/>
              </a:rPr>
              <a:t>Una base de datos de jóvenes varones de 12 a 17 años con 1,124 observaciones y 19 de variables, incluyendo la variable objetivo.</a:t>
            </a:r>
            <a:endParaRPr sz="2900">
              <a:solidFill>
                <a:schemeClr val="dk1"/>
              </a:solidFill>
              <a:latin typeface="Poppins"/>
              <a:ea typeface="Poppins"/>
              <a:cs typeface="Poppins"/>
              <a:sym typeface="Poppins"/>
            </a:endParaRPr>
          </a:p>
          <a:p>
            <a:pPr indent="-412750" lvl="0" marL="457200" rtl="0" algn="just">
              <a:lnSpc>
                <a:spcPct val="150000"/>
              </a:lnSpc>
              <a:spcBef>
                <a:spcPts val="0"/>
              </a:spcBef>
              <a:spcAft>
                <a:spcPts val="0"/>
              </a:spcAft>
              <a:buClr>
                <a:schemeClr val="dk1"/>
              </a:buClr>
              <a:buSzPts val="2900"/>
              <a:buFont typeface="Poppins"/>
              <a:buChar char="●"/>
            </a:pPr>
            <a:r>
              <a:rPr lang="en-US" sz="2900">
                <a:solidFill>
                  <a:schemeClr val="dk1"/>
                </a:solidFill>
                <a:latin typeface="Poppins"/>
                <a:ea typeface="Poppins"/>
                <a:cs typeface="Poppins"/>
                <a:sym typeface="Poppins"/>
              </a:rPr>
              <a:t>Una base de datos de jóvenes mujeres de 12 a 17 años con 1,091 observaciones y 19 variables, incluyendo la variable objetivo.</a:t>
            </a:r>
            <a:endParaRPr sz="2900">
              <a:latin typeface="Poppins"/>
              <a:ea typeface="Poppins"/>
              <a:cs typeface="Poppins"/>
              <a:sym typeface="Poppins"/>
            </a:endParaRPr>
          </a:p>
        </p:txBody>
      </p:sp>
      <p:sp>
        <p:nvSpPr>
          <p:cNvPr id="330" name="Google Shape;330;g3d24565a1a3_0_3"/>
          <p:cNvSpPr txBox="1"/>
          <p:nvPr/>
        </p:nvSpPr>
        <p:spPr>
          <a:xfrm>
            <a:off x="1098929" y="699939"/>
            <a:ext cx="9150900" cy="769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5000">
                <a:solidFill>
                  <a:srgbClr val="2758E6"/>
                </a:solidFill>
                <a:latin typeface="Poppins"/>
                <a:ea typeface="Poppins"/>
                <a:cs typeface="Poppins"/>
                <a:sym typeface="Poppins"/>
              </a:rPr>
              <a:t>ANÁLISIS EXPLORATORIO</a:t>
            </a:r>
            <a:endParaRPr sz="5000">
              <a:latin typeface="Poppins"/>
              <a:ea typeface="Poppins"/>
              <a:cs typeface="Poppins"/>
              <a:sym typeface="Poppins"/>
            </a:endParaRPr>
          </a:p>
        </p:txBody>
      </p:sp>
      <p:pic>
        <p:nvPicPr>
          <p:cNvPr id="331" name="Google Shape;331;g3d24565a1a3_0_3"/>
          <p:cNvPicPr preferRelativeResize="0"/>
          <p:nvPr/>
        </p:nvPicPr>
        <p:blipFill>
          <a:blip r:embed="rId3">
            <a:alphaModFix/>
          </a:blip>
          <a:stretch>
            <a:fillRect/>
          </a:stretch>
        </p:blipFill>
        <p:spPr>
          <a:xfrm>
            <a:off x="12060475" y="2560025"/>
            <a:ext cx="5122575" cy="49608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5" name="Shape 335"/>
        <p:cNvGrpSpPr/>
        <p:nvPr/>
      </p:nvGrpSpPr>
      <p:grpSpPr>
        <a:xfrm>
          <a:off x="0" y="0"/>
          <a:ext cx="0" cy="0"/>
          <a:chOff x="0" y="0"/>
          <a:chExt cx="0" cy="0"/>
        </a:xfrm>
      </p:grpSpPr>
      <p:sp>
        <p:nvSpPr>
          <p:cNvPr id="336" name="Google Shape;336;g3d24565a1a3_0_12"/>
          <p:cNvSpPr/>
          <p:nvPr/>
        </p:nvSpPr>
        <p:spPr>
          <a:xfrm>
            <a:off x="5080075" y="2125200"/>
            <a:ext cx="12736500" cy="7495200"/>
          </a:xfrm>
          <a:prstGeom prst="rect">
            <a:avLst/>
          </a:prstGeom>
          <a:solidFill>
            <a:srgbClr val="2758E6"/>
          </a:solidFill>
          <a:ln cap="flat" cmpd="sng" w="9525">
            <a:solidFill>
              <a:srgbClr val="2758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37" name="Google Shape;337;g3d24565a1a3_0_12"/>
          <p:cNvSpPr/>
          <p:nvPr/>
        </p:nvSpPr>
        <p:spPr>
          <a:xfrm>
            <a:off x="-2446700" y="0"/>
            <a:ext cx="6827303" cy="6927988"/>
          </a:xfrm>
          <a:custGeom>
            <a:rect b="b" l="l" r="r" t="t"/>
            <a:pathLst>
              <a:path extrusionOk="0" h="8968269" w="9515405">
                <a:moveTo>
                  <a:pt x="0" y="0"/>
                </a:moveTo>
                <a:lnTo>
                  <a:pt x="9515405" y="0"/>
                </a:lnTo>
                <a:lnTo>
                  <a:pt x="9515405" y="8968269"/>
                </a:lnTo>
                <a:lnTo>
                  <a:pt x="0" y="896826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g3d24565a1a3_0_12"/>
          <p:cNvSpPr txBox="1"/>
          <p:nvPr/>
        </p:nvSpPr>
        <p:spPr>
          <a:xfrm>
            <a:off x="5852428" y="596275"/>
            <a:ext cx="11191800" cy="769500"/>
          </a:xfrm>
          <a:prstGeom prst="rect">
            <a:avLst/>
          </a:prstGeom>
          <a:noFill/>
          <a:ln>
            <a:noFill/>
          </a:ln>
        </p:spPr>
        <p:txBody>
          <a:bodyPr anchorCtr="0" anchor="t" bIns="0" lIns="0" spcFirstLastPara="1" rIns="0" wrap="square" tIns="0">
            <a:spAutoFit/>
          </a:bodyPr>
          <a:lstStyle/>
          <a:p>
            <a:pPr indent="0" lvl="0" marL="0" marR="0" rtl="0" algn="ctr">
              <a:lnSpc>
                <a:spcPct val="108001"/>
              </a:lnSpc>
              <a:spcBef>
                <a:spcPts val="0"/>
              </a:spcBef>
              <a:spcAft>
                <a:spcPts val="0"/>
              </a:spcAft>
              <a:buNone/>
            </a:pPr>
            <a:r>
              <a:rPr b="1" lang="en-US" sz="5000">
                <a:solidFill>
                  <a:srgbClr val="2758E6"/>
                </a:solidFill>
                <a:latin typeface="Poppins"/>
                <a:ea typeface="Poppins"/>
                <a:cs typeface="Poppins"/>
                <a:sym typeface="Poppins"/>
              </a:rPr>
              <a:t>EDA</a:t>
            </a:r>
            <a:endParaRPr sz="5000">
              <a:latin typeface="Poppins"/>
              <a:ea typeface="Poppins"/>
              <a:cs typeface="Poppins"/>
              <a:sym typeface="Poppins"/>
            </a:endParaRPr>
          </a:p>
        </p:txBody>
      </p:sp>
      <p:sp>
        <p:nvSpPr>
          <p:cNvPr id="339" name="Google Shape;339;g3d24565a1a3_0_12"/>
          <p:cNvSpPr txBox="1"/>
          <p:nvPr/>
        </p:nvSpPr>
        <p:spPr>
          <a:xfrm>
            <a:off x="6485427" y="8012964"/>
            <a:ext cx="1959900" cy="2154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None/>
            </a:pPr>
            <a:r>
              <a:t/>
            </a:r>
            <a:endParaRPr/>
          </a:p>
        </p:txBody>
      </p:sp>
      <p:sp>
        <p:nvSpPr>
          <p:cNvPr id="340" name="Google Shape;340;g3d24565a1a3_0_12"/>
          <p:cNvSpPr txBox="1"/>
          <p:nvPr/>
        </p:nvSpPr>
        <p:spPr>
          <a:xfrm>
            <a:off x="5251075" y="2401675"/>
            <a:ext cx="12394500" cy="7988700"/>
          </a:xfrm>
          <a:prstGeom prst="rect">
            <a:avLst/>
          </a:prstGeom>
          <a:noFill/>
          <a:ln>
            <a:noFill/>
          </a:ln>
        </p:spPr>
        <p:txBody>
          <a:bodyPr anchorCtr="0" anchor="t" bIns="0" lIns="0" spcFirstLastPara="1" rIns="0" wrap="square" tIns="0">
            <a:spAutoFit/>
          </a:bodyPr>
          <a:lstStyle/>
          <a:p>
            <a:pPr indent="0" lvl="0" marL="0" marR="0" rtl="0" algn="l">
              <a:lnSpc>
                <a:spcPct val="158019"/>
              </a:lnSpc>
              <a:spcBef>
                <a:spcPts val="0"/>
              </a:spcBef>
              <a:spcAft>
                <a:spcPts val="0"/>
              </a:spcAft>
              <a:buNone/>
            </a:pPr>
            <a:r>
              <a:rPr lang="en-US" sz="2600">
                <a:solidFill>
                  <a:srgbClr val="FFFFFF"/>
                </a:solidFill>
                <a:latin typeface="Poppins"/>
                <a:ea typeface="Poppins"/>
                <a:cs typeface="Poppins"/>
                <a:sym typeface="Poppins"/>
              </a:rPr>
              <a:t>Se observa que en</a:t>
            </a:r>
            <a:r>
              <a:rPr lang="en-US" sz="2600">
                <a:solidFill>
                  <a:srgbClr val="FFFFFF"/>
                </a:solidFill>
                <a:latin typeface="Poppins"/>
                <a:ea typeface="Poppins"/>
                <a:cs typeface="Poppins"/>
                <a:sym typeface="Poppins"/>
              </a:rPr>
              <a:t> la m</a:t>
            </a:r>
            <a:r>
              <a:rPr lang="en-US" sz="2600">
                <a:solidFill>
                  <a:srgbClr val="FFFFFF"/>
                </a:solidFill>
                <a:latin typeface="Poppins"/>
                <a:ea typeface="Poppins"/>
                <a:cs typeface="Poppins"/>
                <a:sym typeface="Poppins"/>
              </a:rPr>
              <a:t>uestra de niños entre 10 y 11 años, las variables que aumentan el </a:t>
            </a:r>
            <a:r>
              <a:rPr lang="en-US" sz="2600">
                <a:solidFill>
                  <a:srgbClr val="FFFFFF"/>
                </a:solidFill>
                <a:latin typeface="Poppins"/>
                <a:ea typeface="Poppins"/>
                <a:cs typeface="Poppins"/>
                <a:sym typeface="Poppins"/>
              </a:rPr>
              <a:t>submuestra</a:t>
            </a:r>
            <a:r>
              <a:rPr lang="en-US" sz="2600">
                <a:solidFill>
                  <a:srgbClr val="FFFFFF"/>
                </a:solidFill>
                <a:latin typeface="Poppins"/>
                <a:ea typeface="Poppins"/>
                <a:cs typeface="Poppins"/>
                <a:sym typeface="Poppins"/>
              </a:rPr>
              <a:t> para aprender son:</a:t>
            </a:r>
            <a:endParaRPr sz="2600">
              <a:solidFill>
                <a:srgbClr val="FFFFFF"/>
              </a:solidFill>
              <a:latin typeface="Poppins"/>
              <a:ea typeface="Poppins"/>
              <a:cs typeface="Poppins"/>
              <a:sym typeface="Poppins"/>
            </a:endParaRPr>
          </a:p>
          <a:p>
            <a:pPr indent="-393700" lvl="1" marL="914400" marR="0" rtl="0" algn="l">
              <a:lnSpc>
                <a:spcPct val="158019"/>
              </a:lnSpc>
              <a:spcBef>
                <a:spcPts val="0"/>
              </a:spcBef>
              <a:spcAft>
                <a:spcPts val="0"/>
              </a:spcAft>
              <a:buClr>
                <a:srgbClr val="FFFFFF"/>
              </a:buClr>
              <a:buSzPts val="2600"/>
              <a:buFont typeface="Poppins"/>
              <a:buChar char="○"/>
            </a:pPr>
            <a:r>
              <a:rPr lang="en-US" sz="2600">
                <a:solidFill>
                  <a:srgbClr val="FFFFFF"/>
                </a:solidFill>
                <a:latin typeface="Poppins"/>
                <a:ea typeface="Poppins"/>
                <a:cs typeface="Poppins"/>
                <a:sym typeface="Poppins"/>
              </a:rPr>
              <a:t>Ansiedad</a:t>
            </a:r>
            <a:endParaRPr sz="2600">
              <a:solidFill>
                <a:srgbClr val="FFFFFF"/>
              </a:solidFill>
              <a:latin typeface="Poppins"/>
              <a:ea typeface="Poppins"/>
              <a:cs typeface="Poppins"/>
              <a:sym typeface="Poppins"/>
            </a:endParaRPr>
          </a:p>
          <a:p>
            <a:pPr indent="-393700" lvl="1" marL="914400" marR="0" rtl="0" algn="l">
              <a:lnSpc>
                <a:spcPct val="158019"/>
              </a:lnSpc>
              <a:spcBef>
                <a:spcPts val="0"/>
              </a:spcBef>
              <a:spcAft>
                <a:spcPts val="0"/>
              </a:spcAft>
              <a:buClr>
                <a:srgbClr val="FFFFFF"/>
              </a:buClr>
              <a:buSzPts val="2600"/>
              <a:buFont typeface="Poppins"/>
              <a:buChar char="○"/>
            </a:pPr>
            <a:r>
              <a:rPr lang="en-US" sz="2600">
                <a:solidFill>
                  <a:srgbClr val="FFFFFF"/>
                </a:solidFill>
                <a:latin typeface="Poppins"/>
                <a:ea typeface="Poppins"/>
                <a:cs typeface="Poppins"/>
                <a:sym typeface="Poppins"/>
              </a:rPr>
              <a:t>Depresión</a:t>
            </a:r>
            <a:endParaRPr sz="2600">
              <a:solidFill>
                <a:srgbClr val="FFFFFF"/>
              </a:solidFill>
              <a:latin typeface="Poppins"/>
              <a:ea typeface="Poppins"/>
              <a:cs typeface="Poppins"/>
              <a:sym typeface="Poppins"/>
            </a:endParaRPr>
          </a:p>
          <a:p>
            <a:pPr indent="-393700" lvl="1" marL="914400" marR="0" rtl="0" algn="l">
              <a:lnSpc>
                <a:spcPct val="158019"/>
              </a:lnSpc>
              <a:spcBef>
                <a:spcPts val="0"/>
              </a:spcBef>
              <a:spcAft>
                <a:spcPts val="0"/>
              </a:spcAft>
              <a:buClr>
                <a:srgbClr val="FFFFFF"/>
              </a:buClr>
              <a:buSzPts val="2600"/>
              <a:buFont typeface="Poppins"/>
              <a:buChar char="○"/>
            </a:pPr>
            <a:r>
              <a:rPr lang="en-US" sz="2600">
                <a:solidFill>
                  <a:srgbClr val="FFFFFF"/>
                </a:solidFill>
                <a:latin typeface="Poppins"/>
                <a:ea typeface="Poppins"/>
                <a:cs typeface="Poppins"/>
                <a:sym typeface="Poppins"/>
              </a:rPr>
              <a:t>Dificultad</a:t>
            </a:r>
            <a:r>
              <a:rPr lang="en-US" sz="2600">
                <a:solidFill>
                  <a:srgbClr val="FFFFFF"/>
                </a:solidFill>
                <a:latin typeface="Poppins"/>
                <a:ea typeface="Poppins"/>
                <a:cs typeface="Poppins"/>
                <a:sym typeface="Poppins"/>
              </a:rPr>
              <a:t> para concentración</a:t>
            </a:r>
            <a:endParaRPr sz="2600">
              <a:solidFill>
                <a:srgbClr val="FFFFFF"/>
              </a:solidFill>
              <a:latin typeface="Poppins"/>
              <a:ea typeface="Poppins"/>
              <a:cs typeface="Poppins"/>
              <a:sym typeface="Poppins"/>
            </a:endParaRPr>
          </a:p>
          <a:p>
            <a:pPr indent="0" lvl="0" marL="0" marR="0" rtl="0" algn="l">
              <a:lnSpc>
                <a:spcPct val="158019"/>
              </a:lnSpc>
              <a:spcBef>
                <a:spcPts val="0"/>
              </a:spcBef>
              <a:spcAft>
                <a:spcPts val="0"/>
              </a:spcAft>
              <a:buNone/>
            </a:pPr>
            <a:r>
              <a:rPr lang="en-US" sz="2600">
                <a:solidFill>
                  <a:srgbClr val="FFFFFF"/>
                </a:solidFill>
                <a:latin typeface="Poppins"/>
                <a:ea typeface="Poppins"/>
                <a:cs typeface="Poppins"/>
                <a:sym typeface="Poppins"/>
              </a:rPr>
              <a:t>Para jóvenes varones entre 12 y 17 años:</a:t>
            </a:r>
            <a:endParaRPr sz="2600">
              <a:solidFill>
                <a:srgbClr val="FFFFFF"/>
              </a:solidFill>
              <a:latin typeface="Poppins"/>
              <a:ea typeface="Poppins"/>
              <a:cs typeface="Poppins"/>
              <a:sym typeface="Poppins"/>
            </a:endParaRPr>
          </a:p>
          <a:p>
            <a:pPr indent="-393700" lvl="0" marL="914400" marR="0" rtl="0" algn="l">
              <a:lnSpc>
                <a:spcPct val="158019"/>
              </a:lnSpc>
              <a:spcBef>
                <a:spcPts val="0"/>
              </a:spcBef>
              <a:spcAft>
                <a:spcPts val="0"/>
              </a:spcAft>
              <a:buClr>
                <a:srgbClr val="FFFFFF"/>
              </a:buClr>
              <a:buSzPts val="2600"/>
              <a:buFont typeface="Poppins"/>
              <a:buChar char="●"/>
            </a:pPr>
            <a:r>
              <a:rPr lang="en-US" sz="2600">
                <a:solidFill>
                  <a:srgbClr val="FFFFFF"/>
                </a:solidFill>
                <a:latin typeface="Poppins"/>
                <a:ea typeface="Poppins"/>
                <a:cs typeface="Poppins"/>
                <a:sym typeface="Poppins"/>
              </a:rPr>
              <a:t>Depresión</a:t>
            </a:r>
            <a:endParaRPr sz="2600">
              <a:solidFill>
                <a:srgbClr val="FFFFFF"/>
              </a:solidFill>
              <a:latin typeface="Poppins"/>
              <a:ea typeface="Poppins"/>
              <a:cs typeface="Poppins"/>
              <a:sym typeface="Poppins"/>
            </a:endParaRPr>
          </a:p>
          <a:p>
            <a:pPr indent="-393700" lvl="0" marL="914400" marR="0" rtl="0" algn="l">
              <a:lnSpc>
                <a:spcPct val="158019"/>
              </a:lnSpc>
              <a:spcBef>
                <a:spcPts val="0"/>
              </a:spcBef>
              <a:spcAft>
                <a:spcPts val="0"/>
              </a:spcAft>
              <a:buClr>
                <a:srgbClr val="FFFFFF"/>
              </a:buClr>
              <a:buSzPts val="2600"/>
              <a:buFont typeface="Poppins"/>
              <a:buChar char="●"/>
            </a:pPr>
            <a:r>
              <a:rPr lang="en-US" sz="2600">
                <a:solidFill>
                  <a:srgbClr val="FFFFFF"/>
                </a:solidFill>
                <a:latin typeface="Poppins"/>
                <a:ea typeface="Poppins"/>
                <a:cs typeface="Poppins"/>
                <a:sym typeface="Poppins"/>
              </a:rPr>
              <a:t>Dificultad de concentración</a:t>
            </a:r>
            <a:endParaRPr sz="2600">
              <a:solidFill>
                <a:srgbClr val="FFFFFF"/>
              </a:solidFill>
              <a:latin typeface="Poppins"/>
              <a:ea typeface="Poppins"/>
              <a:cs typeface="Poppins"/>
              <a:sym typeface="Poppins"/>
            </a:endParaRPr>
          </a:p>
          <a:p>
            <a:pPr indent="0" lvl="0" marL="0" marR="0" rtl="0" algn="l">
              <a:lnSpc>
                <a:spcPct val="158019"/>
              </a:lnSpc>
              <a:spcBef>
                <a:spcPts val="0"/>
              </a:spcBef>
              <a:spcAft>
                <a:spcPts val="0"/>
              </a:spcAft>
              <a:buNone/>
            </a:pPr>
            <a:r>
              <a:rPr lang="en-US" sz="2600">
                <a:solidFill>
                  <a:srgbClr val="FFFFFF"/>
                </a:solidFill>
                <a:latin typeface="Poppins"/>
                <a:ea typeface="Poppins"/>
                <a:cs typeface="Poppins"/>
                <a:sym typeface="Poppins"/>
              </a:rPr>
              <a:t>Para la muestra de </a:t>
            </a:r>
            <a:r>
              <a:rPr lang="en-US" sz="2600">
                <a:solidFill>
                  <a:srgbClr val="FFFFFF"/>
                </a:solidFill>
                <a:latin typeface="Poppins"/>
                <a:ea typeface="Poppins"/>
                <a:cs typeface="Poppins"/>
                <a:sym typeface="Poppins"/>
              </a:rPr>
              <a:t>jóvenes</a:t>
            </a:r>
            <a:r>
              <a:rPr lang="en-US" sz="2600">
                <a:solidFill>
                  <a:srgbClr val="FFFFFF"/>
                </a:solidFill>
                <a:latin typeface="Poppins"/>
                <a:ea typeface="Poppins"/>
                <a:cs typeface="Poppins"/>
                <a:sym typeface="Poppins"/>
              </a:rPr>
              <a:t> mujeres de 12 y 17 años:</a:t>
            </a:r>
            <a:endParaRPr sz="2600">
              <a:solidFill>
                <a:srgbClr val="FFFFFF"/>
              </a:solidFill>
              <a:latin typeface="Poppins"/>
              <a:ea typeface="Poppins"/>
              <a:cs typeface="Poppins"/>
              <a:sym typeface="Poppins"/>
            </a:endParaRPr>
          </a:p>
          <a:p>
            <a:pPr indent="-393700" lvl="0" marL="914400" marR="0" rtl="0" algn="l">
              <a:lnSpc>
                <a:spcPct val="158019"/>
              </a:lnSpc>
              <a:spcBef>
                <a:spcPts val="0"/>
              </a:spcBef>
              <a:spcAft>
                <a:spcPts val="0"/>
              </a:spcAft>
              <a:buClr>
                <a:srgbClr val="FFFFFF"/>
              </a:buClr>
              <a:buSzPts val="2600"/>
              <a:buFont typeface="Poppins"/>
              <a:buChar char="●"/>
            </a:pPr>
            <a:r>
              <a:rPr lang="en-US" sz="2600">
                <a:solidFill>
                  <a:srgbClr val="FFFFFF"/>
                </a:solidFill>
                <a:latin typeface="Poppins"/>
                <a:ea typeface="Poppins"/>
                <a:cs typeface="Poppins"/>
                <a:sym typeface="Poppins"/>
              </a:rPr>
              <a:t>Ninguna variable fue tan significativa como las anteriormente mencionadas</a:t>
            </a:r>
            <a:endParaRPr sz="2600">
              <a:solidFill>
                <a:srgbClr val="FFFFFF"/>
              </a:solidFill>
              <a:latin typeface="Poppins"/>
              <a:ea typeface="Poppins"/>
              <a:cs typeface="Poppins"/>
              <a:sym typeface="Poppins"/>
            </a:endParaRPr>
          </a:p>
          <a:p>
            <a:pPr indent="0" lvl="0" marL="0" marR="0" rtl="0" algn="l">
              <a:lnSpc>
                <a:spcPct val="158019"/>
              </a:lnSpc>
              <a:spcBef>
                <a:spcPts val="0"/>
              </a:spcBef>
              <a:spcAft>
                <a:spcPts val="0"/>
              </a:spcAft>
              <a:buNone/>
            </a:pPr>
            <a:r>
              <a:t/>
            </a:r>
            <a:endParaRPr sz="2599">
              <a:solidFill>
                <a:srgbClr val="FFFFFF"/>
              </a:solidFill>
              <a:latin typeface="Poppins"/>
              <a:ea typeface="Poppins"/>
              <a:cs typeface="Poppins"/>
              <a:sym typeface="Poppins"/>
            </a:endParaRPr>
          </a:p>
          <a:p>
            <a:pPr indent="0" lvl="0" marL="0" marR="0" rtl="0" algn="l">
              <a:lnSpc>
                <a:spcPct val="158019"/>
              </a:lnSpc>
              <a:spcBef>
                <a:spcPts val="0"/>
              </a:spcBef>
              <a:spcAft>
                <a:spcPts val="0"/>
              </a:spcAft>
              <a:buNone/>
            </a:pPr>
            <a:r>
              <a:t/>
            </a:r>
            <a:endParaRPr sz="2599">
              <a:solidFill>
                <a:srgbClr val="FFFFFF"/>
              </a:solidFill>
              <a:latin typeface="Poppins"/>
              <a:ea typeface="Poppins"/>
              <a:cs typeface="Poppins"/>
              <a:sym typeface="Poppi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4" name="Shape 344"/>
        <p:cNvGrpSpPr/>
        <p:nvPr/>
      </p:nvGrpSpPr>
      <p:grpSpPr>
        <a:xfrm>
          <a:off x="0" y="0"/>
          <a:ext cx="0" cy="0"/>
          <a:chOff x="0" y="0"/>
          <a:chExt cx="0" cy="0"/>
        </a:xfrm>
      </p:grpSpPr>
      <p:grpSp>
        <p:nvGrpSpPr>
          <p:cNvPr id="345" name="Google Shape;345;g3d24565a1a3_0_32"/>
          <p:cNvGrpSpPr/>
          <p:nvPr/>
        </p:nvGrpSpPr>
        <p:grpSpPr>
          <a:xfrm rot="4029767">
            <a:off x="12077636" y="-1029567"/>
            <a:ext cx="12346102" cy="12346102"/>
            <a:chOff x="0" y="0"/>
            <a:chExt cx="812800" cy="812800"/>
          </a:xfrm>
        </p:grpSpPr>
        <p:sp>
          <p:nvSpPr>
            <p:cNvPr id="346" name="Google Shape;346;g3d24565a1a3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3062FF"/>
                </a:gs>
                <a:gs pos="100000">
                  <a:srgbClr val="01338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g3d24565a1a3_0_32"/>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997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8" name="Google Shape;348;g3d24565a1a3_0_32"/>
          <p:cNvSpPr txBox="1"/>
          <p:nvPr/>
        </p:nvSpPr>
        <p:spPr>
          <a:xfrm>
            <a:off x="645325" y="1673450"/>
            <a:ext cx="11184300" cy="4779300"/>
          </a:xfrm>
          <a:prstGeom prst="rect">
            <a:avLst/>
          </a:prstGeom>
          <a:noFill/>
          <a:ln>
            <a:noFill/>
          </a:ln>
        </p:spPr>
        <p:txBody>
          <a:bodyPr anchorCtr="0" anchor="t" bIns="0" lIns="0" spcFirstLastPara="1" rIns="0" wrap="square" tIns="0">
            <a:spAutoFit/>
          </a:bodyPr>
          <a:lstStyle/>
          <a:p>
            <a:pPr indent="-400050" lvl="0" marL="457200" rtl="0" algn="l">
              <a:lnSpc>
                <a:spcPct val="150000"/>
              </a:lnSpc>
              <a:spcBef>
                <a:spcPts val="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Desbalance de muestra:</a:t>
            </a:r>
            <a:endParaRPr sz="2700">
              <a:solidFill>
                <a:schemeClr val="dk1"/>
              </a:solidFill>
              <a:latin typeface="Poppins"/>
              <a:ea typeface="Poppins"/>
              <a:cs typeface="Poppins"/>
              <a:sym typeface="Poppins"/>
            </a:endParaRPr>
          </a:p>
          <a:p>
            <a:pPr indent="-400050" lvl="1" marL="914400" rtl="0" algn="l">
              <a:lnSpc>
                <a:spcPct val="150000"/>
              </a:lnSpc>
              <a:spcBef>
                <a:spcPts val="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Menos de 20% de la muestra tiene dificultad para aprender</a:t>
            </a:r>
            <a:endParaRPr sz="2700">
              <a:solidFill>
                <a:schemeClr val="dk1"/>
              </a:solidFill>
              <a:latin typeface="Poppins"/>
              <a:ea typeface="Poppins"/>
              <a:cs typeface="Poppins"/>
              <a:sym typeface="Poppins"/>
            </a:endParaRPr>
          </a:p>
          <a:p>
            <a:pPr indent="-400050" lvl="0" marL="457200" marR="0" rtl="0" algn="l">
              <a:lnSpc>
                <a:spcPct val="150000"/>
              </a:lnSpc>
              <a:spcBef>
                <a:spcPts val="0"/>
              </a:spcBef>
              <a:spcAft>
                <a:spcPts val="0"/>
              </a:spcAft>
              <a:buSzPts val="2700"/>
              <a:buFont typeface="Poppins"/>
              <a:buChar char="●"/>
            </a:pPr>
            <a:r>
              <a:rPr lang="en-US" sz="2700">
                <a:solidFill>
                  <a:schemeClr val="dk1"/>
                </a:solidFill>
                <a:latin typeface="Poppins"/>
                <a:ea typeface="Poppins"/>
                <a:cs typeface="Poppins"/>
                <a:sym typeface="Poppins"/>
              </a:rPr>
              <a:t>Correlaciones:</a:t>
            </a:r>
            <a:endParaRPr sz="2700">
              <a:solidFill>
                <a:schemeClr val="dk1"/>
              </a:solidFill>
              <a:latin typeface="Poppins"/>
              <a:ea typeface="Poppins"/>
              <a:cs typeface="Poppins"/>
              <a:sym typeface="Poppins"/>
            </a:endParaRPr>
          </a:p>
          <a:p>
            <a:pPr indent="-400050" lvl="1" marL="914400" marR="0" rtl="0" algn="l">
              <a:lnSpc>
                <a:spcPct val="150000"/>
              </a:lnSpc>
              <a:spcBef>
                <a:spcPts val="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Se puede observar una débil correlación entre las variables predictoras y nuestra variable objetivo</a:t>
            </a:r>
            <a:r>
              <a:rPr lang="en-US" sz="1200">
                <a:solidFill>
                  <a:schemeClr val="dk1"/>
                </a:solidFill>
                <a:latin typeface="Times New Roman"/>
                <a:ea typeface="Times New Roman"/>
                <a:cs typeface="Times New Roman"/>
                <a:sym typeface="Times New Roman"/>
              </a:rPr>
              <a:t>,</a:t>
            </a:r>
            <a:endParaRPr sz="1200">
              <a:solidFill>
                <a:schemeClr val="dk1"/>
              </a:solidFill>
              <a:latin typeface="Times New Roman"/>
              <a:ea typeface="Times New Roman"/>
              <a:cs typeface="Times New Roman"/>
              <a:sym typeface="Times New Roman"/>
            </a:endParaRPr>
          </a:p>
          <a:p>
            <a:pPr indent="-400050" lvl="1" marL="914400" marR="0" rtl="0" algn="l">
              <a:lnSpc>
                <a:spcPct val="150000"/>
              </a:lnSpc>
              <a:spcBef>
                <a:spcPts val="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La variable más </a:t>
            </a:r>
            <a:r>
              <a:rPr lang="en-US" sz="2700">
                <a:solidFill>
                  <a:schemeClr val="dk1"/>
                </a:solidFill>
                <a:latin typeface="Poppins"/>
                <a:ea typeface="Poppins"/>
                <a:cs typeface="Poppins"/>
                <a:sym typeface="Poppins"/>
              </a:rPr>
              <a:t>correlacionada</a:t>
            </a:r>
            <a:r>
              <a:rPr lang="en-US" sz="2700">
                <a:solidFill>
                  <a:schemeClr val="dk1"/>
                </a:solidFill>
                <a:latin typeface="Poppins"/>
                <a:ea typeface="Poppins"/>
                <a:cs typeface="Poppins"/>
                <a:sym typeface="Poppins"/>
              </a:rPr>
              <a:t> es “Dificultad de concentración” con valores de .22, .18 y .22 en las  bases de niños de 10 y 11 años, varones y mujeres de 12 a 17 años </a:t>
            </a:r>
            <a:endParaRPr sz="2700">
              <a:solidFill>
                <a:schemeClr val="dk1"/>
              </a:solidFill>
              <a:latin typeface="Poppins"/>
              <a:ea typeface="Poppins"/>
              <a:cs typeface="Poppins"/>
              <a:sym typeface="Poppins"/>
            </a:endParaRPr>
          </a:p>
        </p:txBody>
      </p:sp>
      <p:sp>
        <p:nvSpPr>
          <p:cNvPr id="349" name="Google Shape;349;g3d24565a1a3_0_32"/>
          <p:cNvSpPr txBox="1"/>
          <p:nvPr/>
        </p:nvSpPr>
        <p:spPr>
          <a:xfrm>
            <a:off x="645329" y="428689"/>
            <a:ext cx="9150900" cy="637200"/>
          </a:xfrm>
          <a:prstGeom prst="rect">
            <a:avLst/>
          </a:prstGeom>
          <a:noFill/>
          <a:ln>
            <a:noFill/>
          </a:ln>
        </p:spPr>
        <p:txBody>
          <a:bodyPr anchorCtr="0" anchor="t" bIns="0" lIns="0" spcFirstLastPara="1" rIns="0" wrap="square" tIns="0">
            <a:spAutoFit/>
          </a:bodyPr>
          <a:lstStyle/>
          <a:p>
            <a:pPr indent="0" lvl="0" marL="0" marR="0" rtl="0" algn="l">
              <a:lnSpc>
                <a:spcPct val="123985"/>
              </a:lnSpc>
              <a:spcBef>
                <a:spcPts val="0"/>
              </a:spcBef>
              <a:spcAft>
                <a:spcPts val="0"/>
              </a:spcAft>
              <a:buNone/>
            </a:pPr>
            <a:r>
              <a:rPr b="1" lang="en-US" sz="4140">
                <a:solidFill>
                  <a:srgbClr val="2758E6"/>
                </a:solidFill>
                <a:latin typeface="Poppins"/>
                <a:ea typeface="Poppins"/>
                <a:cs typeface="Poppins"/>
                <a:sym typeface="Poppins"/>
              </a:rPr>
              <a:t>EDA</a:t>
            </a:r>
            <a:endParaRPr/>
          </a:p>
        </p:txBody>
      </p:sp>
      <p:grpSp>
        <p:nvGrpSpPr>
          <p:cNvPr id="350" name="Google Shape;350;g3d24565a1a3_0_32"/>
          <p:cNvGrpSpPr/>
          <p:nvPr/>
        </p:nvGrpSpPr>
        <p:grpSpPr>
          <a:xfrm>
            <a:off x="386313" y="6836924"/>
            <a:ext cx="11702323" cy="2925267"/>
            <a:chOff x="0" y="-19050"/>
            <a:chExt cx="3015130" cy="1123288"/>
          </a:xfrm>
        </p:grpSpPr>
        <p:sp>
          <p:nvSpPr>
            <p:cNvPr id="351" name="Google Shape;351;g3d24565a1a3_0_32"/>
            <p:cNvSpPr/>
            <p:nvPr/>
          </p:nvSpPr>
          <p:spPr>
            <a:xfrm>
              <a:off x="0" y="0"/>
              <a:ext cx="3015130" cy="1104238"/>
            </a:xfrm>
            <a:custGeom>
              <a:rect b="b" l="l" r="r" t="t"/>
              <a:pathLst>
                <a:path extrusionOk="0" h="1104238" w="3015130">
                  <a:moveTo>
                    <a:pt x="20288" y="0"/>
                  </a:moveTo>
                  <a:lnTo>
                    <a:pt x="2994842" y="0"/>
                  </a:lnTo>
                  <a:cubicBezTo>
                    <a:pt x="3000222" y="0"/>
                    <a:pt x="3005383" y="2137"/>
                    <a:pt x="3009187" y="5942"/>
                  </a:cubicBezTo>
                  <a:cubicBezTo>
                    <a:pt x="3012992" y="9747"/>
                    <a:pt x="3015130" y="14907"/>
                    <a:pt x="3015130" y="20288"/>
                  </a:cubicBezTo>
                  <a:lnTo>
                    <a:pt x="3015130" y="1083951"/>
                  </a:lnTo>
                  <a:cubicBezTo>
                    <a:pt x="3015130" y="1089331"/>
                    <a:pt x="3012992" y="1094492"/>
                    <a:pt x="3009187" y="1098296"/>
                  </a:cubicBezTo>
                  <a:cubicBezTo>
                    <a:pt x="3005383" y="1102101"/>
                    <a:pt x="3000222" y="1104238"/>
                    <a:pt x="2994842" y="1104238"/>
                  </a:cubicBezTo>
                  <a:lnTo>
                    <a:pt x="20288" y="1104238"/>
                  </a:lnTo>
                  <a:cubicBezTo>
                    <a:pt x="14907" y="1104238"/>
                    <a:pt x="9747" y="1102101"/>
                    <a:pt x="5942" y="1098296"/>
                  </a:cubicBezTo>
                  <a:cubicBezTo>
                    <a:pt x="2137" y="1094492"/>
                    <a:pt x="0" y="1089331"/>
                    <a:pt x="0" y="1083951"/>
                  </a:cubicBezTo>
                  <a:lnTo>
                    <a:pt x="0" y="20288"/>
                  </a:lnTo>
                  <a:cubicBezTo>
                    <a:pt x="0" y="14907"/>
                    <a:pt x="2137" y="9747"/>
                    <a:pt x="5942" y="5942"/>
                  </a:cubicBezTo>
                  <a:cubicBezTo>
                    <a:pt x="9747" y="2137"/>
                    <a:pt x="14907" y="0"/>
                    <a:pt x="20288" y="0"/>
                  </a:cubicBezTo>
                  <a:close/>
                </a:path>
              </a:pathLst>
            </a:custGeom>
            <a:gradFill>
              <a:gsLst>
                <a:gs pos="0">
                  <a:srgbClr val="3062FF"/>
                </a:gs>
                <a:gs pos="100000">
                  <a:srgbClr val="013388"/>
                </a:gs>
              </a:gsLst>
              <a:lin ang="2700006" scaled="0"/>
            </a:gradFill>
            <a:ln>
              <a:noFill/>
            </a:ln>
          </p:spPr>
          <p:txBody>
            <a:bodyPr anchorCtr="0" anchor="t" bIns="42725" lIns="85500" spcFirstLastPara="1" rIns="85500" wrap="square" tIns="42725">
              <a:noAutofit/>
            </a:bodyPr>
            <a:lstStyle/>
            <a:p>
              <a:pPr indent="0" lvl="0" marL="0" marR="0" rtl="0" algn="l">
                <a:spcBef>
                  <a:spcPts val="0"/>
                </a:spcBef>
                <a:spcAft>
                  <a:spcPts val="0"/>
                </a:spcAft>
                <a:buNone/>
              </a:pPr>
              <a:r>
                <a:t/>
              </a:r>
              <a:endParaRPr sz="1683">
                <a:solidFill>
                  <a:schemeClr val="dk1"/>
                </a:solidFill>
                <a:latin typeface="Calibri"/>
                <a:ea typeface="Calibri"/>
                <a:cs typeface="Calibri"/>
                <a:sym typeface="Calibri"/>
              </a:endParaRPr>
            </a:p>
          </p:txBody>
        </p:sp>
        <p:sp>
          <p:nvSpPr>
            <p:cNvPr id="352" name="Google Shape;352;g3d24565a1a3_0_32"/>
            <p:cNvSpPr txBox="1"/>
            <p:nvPr/>
          </p:nvSpPr>
          <p:spPr>
            <a:xfrm>
              <a:off x="0" y="-19050"/>
              <a:ext cx="3015000" cy="1123200"/>
            </a:xfrm>
            <a:prstGeom prst="rect">
              <a:avLst/>
            </a:prstGeom>
            <a:noFill/>
            <a:ln>
              <a:noFill/>
            </a:ln>
          </p:spPr>
          <p:txBody>
            <a:bodyPr anchorCtr="0" anchor="ctr" bIns="47500" lIns="47500" spcFirstLastPara="1" rIns="47500" wrap="square" tIns="47500">
              <a:noAutofit/>
            </a:bodyPr>
            <a:lstStyle/>
            <a:p>
              <a:pPr indent="0" lvl="0" marL="0" marR="0" rtl="0" algn="ctr">
                <a:lnSpc>
                  <a:spcPct val="158388"/>
                </a:lnSpc>
                <a:spcBef>
                  <a:spcPts val="0"/>
                </a:spcBef>
                <a:spcAft>
                  <a:spcPts val="0"/>
                </a:spcAft>
                <a:buNone/>
              </a:pPr>
              <a:r>
                <a:t/>
              </a:r>
              <a:endParaRPr sz="1683">
                <a:solidFill>
                  <a:schemeClr val="dk1"/>
                </a:solidFill>
                <a:latin typeface="Calibri"/>
                <a:ea typeface="Calibri"/>
                <a:cs typeface="Calibri"/>
                <a:sym typeface="Calibri"/>
              </a:endParaRPr>
            </a:p>
          </p:txBody>
        </p:sp>
      </p:grpSp>
      <p:sp>
        <p:nvSpPr>
          <p:cNvPr id="353" name="Google Shape;353;g3d24565a1a3_0_32"/>
          <p:cNvSpPr txBox="1"/>
          <p:nvPr/>
        </p:nvSpPr>
        <p:spPr>
          <a:xfrm>
            <a:off x="665232" y="6984406"/>
            <a:ext cx="11292300" cy="2602500"/>
          </a:xfrm>
          <a:prstGeom prst="rect">
            <a:avLst/>
          </a:prstGeom>
          <a:noFill/>
          <a:ln>
            <a:noFill/>
          </a:ln>
        </p:spPr>
        <p:txBody>
          <a:bodyPr anchorCtr="0" anchor="t" bIns="0" lIns="0" spcFirstLastPara="1" rIns="0" wrap="square" tIns="0">
            <a:spAutoFit/>
          </a:bodyPr>
          <a:lstStyle/>
          <a:p>
            <a:pPr indent="0" lvl="0" marL="0" marR="0" rtl="0" algn="l">
              <a:lnSpc>
                <a:spcPct val="158019"/>
              </a:lnSpc>
              <a:spcBef>
                <a:spcPts val="0"/>
              </a:spcBef>
              <a:spcAft>
                <a:spcPts val="0"/>
              </a:spcAft>
              <a:buNone/>
            </a:pPr>
            <a:r>
              <a:rPr lang="en-US" sz="2804">
                <a:solidFill>
                  <a:srgbClr val="FFFFFF"/>
                </a:solidFill>
                <a:latin typeface="Poppins"/>
                <a:ea typeface="Poppins"/>
                <a:cs typeface="Poppins"/>
                <a:sym typeface="Poppins"/>
              </a:rPr>
              <a:t>AJUSTE FUTURO</a:t>
            </a:r>
            <a:endParaRPr sz="2804">
              <a:solidFill>
                <a:srgbClr val="FFFFFF"/>
              </a:solidFill>
              <a:latin typeface="Poppins"/>
              <a:ea typeface="Poppins"/>
              <a:cs typeface="Poppins"/>
              <a:sym typeface="Poppins"/>
            </a:endParaRPr>
          </a:p>
          <a:p>
            <a:pPr indent="-419037" lvl="0" marL="457200" rtl="0" algn="l">
              <a:lnSpc>
                <a:spcPct val="158019"/>
              </a:lnSpc>
              <a:spcBef>
                <a:spcPts val="0"/>
              </a:spcBef>
              <a:spcAft>
                <a:spcPts val="0"/>
              </a:spcAft>
              <a:buClr>
                <a:schemeClr val="lt1"/>
              </a:buClr>
              <a:buSzPts val="2999"/>
              <a:buFont typeface="Poppins"/>
              <a:buChar char="●"/>
            </a:pPr>
            <a:r>
              <a:rPr lang="en-US" sz="2999">
                <a:solidFill>
                  <a:schemeClr val="lt1"/>
                </a:solidFill>
                <a:latin typeface="Poppins"/>
                <a:ea typeface="Poppins"/>
                <a:cs typeface="Poppins"/>
                <a:sym typeface="Poppins"/>
              </a:rPr>
              <a:t>Se optó en un inicio por hacer las variables dicotómicas. Para la versión final se considerará mantener las escalas ordinales originales de la encuesta</a:t>
            </a:r>
            <a:endParaRPr sz="2804">
              <a:solidFill>
                <a:srgbClr val="FFFFFF"/>
              </a:solidFill>
              <a:latin typeface="Poppins"/>
              <a:ea typeface="Poppins"/>
              <a:cs typeface="Poppins"/>
              <a:sym typeface="Poppins"/>
            </a:endParaRPr>
          </a:p>
        </p:txBody>
      </p:sp>
      <p:pic>
        <p:nvPicPr>
          <p:cNvPr id="354" name="Google Shape;354;g3d24565a1a3_0_32"/>
          <p:cNvPicPr preferRelativeResize="0"/>
          <p:nvPr/>
        </p:nvPicPr>
        <p:blipFill>
          <a:blip r:embed="rId3">
            <a:alphaModFix/>
          </a:blip>
          <a:stretch>
            <a:fillRect/>
          </a:stretch>
        </p:blipFill>
        <p:spPr>
          <a:xfrm>
            <a:off x="12937294" y="2672450"/>
            <a:ext cx="4936525" cy="45273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8" name="Shape 358"/>
        <p:cNvGrpSpPr/>
        <p:nvPr/>
      </p:nvGrpSpPr>
      <p:grpSpPr>
        <a:xfrm>
          <a:off x="0" y="0"/>
          <a:ext cx="0" cy="0"/>
          <a:chOff x="0" y="0"/>
          <a:chExt cx="0" cy="0"/>
        </a:xfrm>
      </p:grpSpPr>
      <p:grpSp>
        <p:nvGrpSpPr>
          <p:cNvPr id="359" name="Google Shape;359;g3da4ae630d1_5_4"/>
          <p:cNvGrpSpPr/>
          <p:nvPr/>
        </p:nvGrpSpPr>
        <p:grpSpPr>
          <a:xfrm rot="4029767">
            <a:off x="11086258" y="-1029567"/>
            <a:ext cx="12346102" cy="12346102"/>
            <a:chOff x="0" y="0"/>
            <a:chExt cx="812800" cy="812800"/>
          </a:xfrm>
        </p:grpSpPr>
        <p:sp>
          <p:nvSpPr>
            <p:cNvPr id="360" name="Google Shape;360;g3da4ae630d1_5_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3062FF"/>
                </a:gs>
                <a:gs pos="100000">
                  <a:srgbClr val="01338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g3da4ae630d1_5_4"/>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997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362" name="Google Shape;362;g3da4ae630d1_5_4"/>
          <p:cNvPicPr preferRelativeResize="0"/>
          <p:nvPr/>
        </p:nvPicPr>
        <p:blipFill>
          <a:blip r:embed="rId3">
            <a:alphaModFix/>
          </a:blip>
          <a:stretch>
            <a:fillRect/>
          </a:stretch>
        </p:blipFill>
        <p:spPr>
          <a:xfrm>
            <a:off x="488275" y="1517849"/>
            <a:ext cx="10095099" cy="8359675"/>
          </a:xfrm>
          <a:prstGeom prst="rect">
            <a:avLst/>
          </a:prstGeom>
          <a:noFill/>
          <a:ln>
            <a:noFill/>
          </a:ln>
        </p:spPr>
      </p:pic>
      <p:sp>
        <p:nvSpPr>
          <p:cNvPr id="363" name="Google Shape;363;g3da4ae630d1_5_4"/>
          <p:cNvSpPr txBox="1"/>
          <p:nvPr/>
        </p:nvSpPr>
        <p:spPr>
          <a:xfrm>
            <a:off x="645322" y="428700"/>
            <a:ext cx="9724200" cy="637200"/>
          </a:xfrm>
          <a:prstGeom prst="rect">
            <a:avLst/>
          </a:prstGeom>
          <a:noFill/>
          <a:ln>
            <a:noFill/>
          </a:ln>
        </p:spPr>
        <p:txBody>
          <a:bodyPr anchorCtr="0" anchor="t" bIns="0" lIns="0" spcFirstLastPara="1" rIns="0" wrap="square" tIns="0">
            <a:spAutoFit/>
          </a:bodyPr>
          <a:lstStyle/>
          <a:p>
            <a:pPr indent="0" lvl="0" marL="0" marR="0" rtl="0" algn="l">
              <a:lnSpc>
                <a:spcPct val="123985"/>
              </a:lnSpc>
              <a:spcBef>
                <a:spcPts val="0"/>
              </a:spcBef>
              <a:spcAft>
                <a:spcPts val="0"/>
              </a:spcAft>
              <a:buNone/>
            </a:pPr>
            <a:r>
              <a:rPr b="1" lang="en-US" sz="4140">
                <a:solidFill>
                  <a:srgbClr val="2758E6"/>
                </a:solidFill>
                <a:latin typeface="Poppins"/>
                <a:ea typeface="Poppins"/>
                <a:cs typeface="Poppins"/>
                <a:sym typeface="Poppins"/>
              </a:rPr>
              <a:t>CORRELACIÓN 10-11</a:t>
            </a:r>
            <a:endParaRPr b="1" sz="4140">
              <a:solidFill>
                <a:srgbClr val="2758E6"/>
              </a:solidFill>
              <a:latin typeface="Poppins"/>
              <a:ea typeface="Poppins"/>
              <a:cs typeface="Poppins"/>
              <a:sym typeface="Poppins"/>
            </a:endParaRPr>
          </a:p>
        </p:txBody>
      </p:sp>
      <p:sp>
        <p:nvSpPr>
          <p:cNvPr id="364" name="Google Shape;364;g3da4ae630d1_5_4"/>
          <p:cNvSpPr/>
          <p:nvPr/>
        </p:nvSpPr>
        <p:spPr>
          <a:xfrm>
            <a:off x="13258057" y="850093"/>
            <a:ext cx="9580768" cy="8586763"/>
          </a:xfrm>
          <a:custGeom>
            <a:rect b="b" l="l" r="r" t="t"/>
            <a:pathLst>
              <a:path extrusionOk="0" h="8586763" w="9580768">
                <a:moveTo>
                  <a:pt x="0" y="0"/>
                </a:moveTo>
                <a:lnTo>
                  <a:pt x="9580768" y="0"/>
                </a:lnTo>
                <a:lnTo>
                  <a:pt x="9580768" y="8586764"/>
                </a:lnTo>
                <a:lnTo>
                  <a:pt x="0" y="858676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8" name="Shape 368"/>
        <p:cNvGrpSpPr/>
        <p:nvPr/>
      </p:nvGrpSpPr>
      <p:grpSpPr>
        <a:xfrm>
          <a:off x="0" y="0"/>
          <a:ext cx="0" cy="0"/>
          <a:chOff x="0" y="0"/>
          <a:chExt cx="0" cy="0"/>
        </a:xfrm>
      </p:grpSpPr>
      <p:grpSp>
        <p:nvGrpSpPr>
          <p:cNvPr id="369" name="Google Shape;369;g3da4ae630d1_5_12"/>
          <p:cNvGrpSpPr/>
          <p:nvPr/>
        </p:nvGrpSpPr>
        <p:grpSpPr>
          <a:xfrm rot="4029767">
            <a:off x="11086258" y="-1029567"/>
            <a:ext cx="12346102" cy="12346102"/>
            <a:chOff x="0" y="0"/>
            <a:chExt cx="812800" cy="812800"/>
          </a:xfrm>
        </p:grpSpPr>
        <p:sp>
          <p:nvSpPr>
            <p:cNvPr id="370" name="Google Shape;370;g3da4ae630d1_5_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3062FF"/>
                </a:gs>
                <a:gs pos="100000">
                  <a:srgbClr val="01338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g3da4ae630d1_5_12"/>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997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2" name="Google Shape;372;g3da4ae630d1_5_12"/>
          <p:cNvSpPr txBox="1"/>
          <p:nvPr/>
        </p:nvSpPr>
        <p:spPr>
          <a:xfrm>
            <a:off x="645322" y="428700"/>
            <a:ext cx="9724200" cy="637200"/>
          </a:xfrm>
          <a:prstGeom prst="rect">
            <a:avLst/>
          </a:prstGeom>
          <a:noFill/>
          <a:ln>
            <a:noFill/>
          </a:ln>
        </p:spPr>
        <p:txBody>
          <a:bodyPr anchorCtr="0" anchor="t" bIns="0" lIns="0" spcFirstLastPara="1" rIns="0" wrap="square" tIns="0">
            <a:spAutoFit/>
          </a:bodyPr>
          <a:lstStyle/>
          <a:p>
            <a:pPr indent="0" lvl="0" marL="0" marR="0" rtl="0" algn="l">
              <a:lnSpc>
                <a:spcPct val="123985"/>
              </a:lnSpc>
              <a:spcBef>
                <a:spcPts val="0"/>
              </a:spcBef>
              <a:spcAft>
                <a:spcPts val="0"/>
              </a:spcAft>
              <a:buNone/>
            </a:pPr>
            <a:r>
              <a:rPr b="1" lang="en-US" sz="4140">
                <a:solidFill>
                  <a:srgbClr val="2758E6"/>
                </a:solidFill>
                <a:latin typeface="Poppins"/>
                <a:ea typeface="Poppins"/>
                <a:cs typeface="Poppins"/>
                <a:sym typeface="Poppins"/>
              </a:rPr>
              <a:t>CORRELACIÓN VARONES 12-17</a:t>
            </a:r>
            <a:endParaRPr b="1" sz="4140">
              <a:solidFill>
                <a:srgbClr val="2758E6"/>
              </a:solidFill>
              <a:latin typeface="Poppins"/>
              <a:ea typeface="Poppins"/>
              <a:cs typeface="Poppins"/>
              <a:sym typeface="Poppins"/>
            </a:endParaRPr>
          </a:p>
        </p:txBody>
      </p:sp>
      <p:pic>
        <p:nvPicPr>
          <p:cNvPr id="373" name="Google Shape;373;g3da4ae630d1_5_12"/>
          <p:cNvPicPr preferRelativeResize="0"/>
          <p:nvPr/>
        </p:nvPicPr>
        <p:blipFill>
          <a:blip r:embed="rId3">
            <a:alphaModFix/>
          </a:blip>
          <a:stretch>
            <a:fillRect/>
          </a:stretch>
        </p:blipFill>
        <p:spPr>
          <a:xfrm>
            <a:off x="488274" y="1365450"/>
            <a:ext cx="10095099" cy="8799302"/>
          </a:xfrm>
          <a:prstGeom prst="rect">
            <a:avLst/>
          </a:prstGeom>
          <a:noFill/>
          <a:ln>
            <a:noFill/>
          </a:ln>
        </p:spPr>
      </p:pic>
      <p:sp>
        <p:nvSpPr>
          <p:cNvPr id="374" name="Google Shape;374;g3da4ae630d1_5_12"/>
          <p:cNvSpPr/>
          <p:nvPr/>
        </p:nvSpPr>
        <p:spPr>
          <a:xfrm>
            <a:off x="13258057" y="850093"/>
            <a:ext cx="9580768" cy="8586763"/>
          </a:xfrm>
          <a:custGeom>
            <a:rect b="b" l="l" r="r" t="t"/>
            <a:pathLst>
              <a:path extrusionOk="0" h="8586763" w="9580768">
                <a:moveTo>
                  <a:pt x="0" y="0"/>
                </a:moveTo>
                <a:lnTo>
                  <a:pt x="9580768" y="0"/>
                </a:lnTo>
                <a:lnTo>
                  <a:pt x="9580768" y="8586764"/>
                </a:lnTo>
                <a:lnTo>
                  <a:pt x="0" y="858676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8" name="Shape 378"/>
        <p:cNvGrpSpPr/>
        <p:nvPr/>
      </p:nvGrpSpPr>
      <p:grpSpPr>
        <a:xfrm>
          <a:off x="0" y="0"/>
          <a:ext cx="0" cy="0"/>
          <a:chOff x="0" y="0"/>
          <a:chExt cx="0" cy="0"/>
        </a:xfrm>
      </p:grpSpPr>
      <p:grpSp>
        <p:nvGrpSpPr>
          <p:cNvPr id="379" name="Google Shape;379;g3da4ae630d1_5_20"/>
          <p:cNvGrpSpPr/>
          <p:nvPr/>
        </p:nvGrpSpPr>
        <p:grpSpPr>
          <a:xfrm rot="4029767">
            <a:off x="11086258" y="-1029567"/>
            <a:ext cx="12346102" cy="12346102"/>
            <a:chOff x="0" y="0"/>
            <a:chExt cx="812800" cy="812800"/>
          </a:xfrm>
        </p:grpSpPr>
        <p:sp>
          <p:nvSpPr>
            <p:cNvPr id="380" name="Google Shape;380;g3da4ae630d1_5_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3062FF"/>
                </a:gs>
                <a:gs pos="100000">
                  <a:srgbClr val="01338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g3da4ae630d1_5_20"/>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997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2" name="Google Shape;382;g3da4ae630d1_5_20"/>
          <p:cNvSpPr txBox="1"/>
          <p:nvPr/>
        </p:nvSpPr>
        <p:spPr>
          <a:xfrm>
            <a:off x="645322" y="428700"/>
            <a:ext cx="9724200" cy="637200"/>
          </a:xfrm>
          <a:prstGeom prst="rect">
            <a:avLst/>
          </a:prstGeom>
          <a:noFill/>
          <a:ln>
            <a:noFill/>
          </a:ln>
        </p:spPr>
        <p:txBody>
          <a:bodyPr anchorCtr="0" anchor="t" bIns="0" lIns="0" spcFirstLastPara="1" rIns="0" wrap="square" tIns="0">
            <a:spAutoFit/>
          </a:bodyPr>
          <a:lstStyle/>
          <a:p>
            <a:pPr indent="0" lvl="0" marL="0" marR="0" rtl="0" algn="l">
              <a:lnSpc>
                <a:spcPct val="123985"/>
              </a:lnSpc>
              <a:spcBef>
                <a:spcPts val="0"/>
              </a:spcBef>
              <a:spcAft>
                <a:spcPts val="0"/>
              </a:spcAft>
              <a:buNone/>
            </a:pPr>
            <a:r>
              <a:rPr b="1" lang="en-US" sz="4140">
                <a:solidFill>
                  <a:srgbClr val="2758E6"/>
                </a:solidFill>
                <a:latin typeface="Poppins"/>
                <a:ea typeface="Poppins"/>
                <a:cs typeface="Poppins"/>
                <a:sym typeface="Poppins"/>
              </a:rPr>
              <a:t>CORRELACIÓN MUJERES 12-17</a:t>
            </a:r>
            <a:endParaRPr b="1" sz="4140">
              <a:solidFill>
                <a:srgbClr val="2758E6"/>
              </a:solidFill>
              <a:latin typeface="Poppins"/>
              <a:ea typeface="Poppins"/>
              <a:cs typeface="Poppins"/>
              <a:sym typeface="Poppins"/>
            </a:endParaRPr>
          </a:p>
        </p:txBody>
      </p:sp>
      <p:pic>
        <p:nvPicPr>
          <p:cNvPr id="383" name="Google Shape;383;g3da4ae630d1_5_20"/>
          <p:cNvPicPr preferRelativeResize="0"/>
          <p:nvPr/>
        </p:nvPicPr>
        <p:blipFill>
          <a:blip r:embed="rId3">
            <a:alphaModFix/>
          </a:blip>
          <a:stretch>
            <a:fillRect/>
          </a:stretch>
        </p:blipFill>
        <p:spPr>
          <a:xfrm>
            <a:off x="488275" y="1365450"/>
            <a:ext cx="10095099" cy="8799282"/>
          </a:xfrm>
          <a:prstGeom prst="rect">
            <a:avLst/>
          </a:prstGeom>
          <a:noFill/>
          <a:ln>
            <a:noFill/>
          </a:ln>
        </p:spPr>
      </p:pic>
      <p:sp>
        <p:nvSpPr>
          <p:cNvPr id="384" name="Google Shape;384;g3da4ae630d1_5_20"/>
          <p:cNvSpPr/>
          <p:nvPr/>
        </p:nvSpPr>
        <p:spPr>
          <a:xfrm>
            <a:off x="13258057" y="850093"/>
            <a:ext cx="9580768" cy="8586763"/>
          </a:xfrm>
          <a:custGeom>
            <a:rect b="b" l="l" r="r" t="t"/>
            <a:pathLst>
              <a:path extrusionOk="0" h="8586763" w="9580768">
                <a:moveTo>
                  <a:pt x="0" y="0"/>
                </a:moveTo>
                <a:lnTo>
                  <a:pt x="9580768" y="0"/>
                </a:lnTo>
                <a:lnTo>
                  <a:pt x="9580768" y="8586764"/>
                </a:lnTo>
                <a:lnTo>
                  <a:pt x="0" y="858676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8" name="Shape 388"/>
        <p:cNvGrpSpPr/>
        <p:nvPr/>
      </p:nvGrpSpPr>
      <p:grpSpPr>
        <a:xfrm>
          <a:off x="0" y="0"/>
          <a:ext cx="0" cy="0"/>
          <a:chOff x="0" y="0"/>
          <a:chExt cx="0" cy="0"/>
        </a:xfrm>
      </p:grpSpPr>
      <p:sp>
        <p:nvSpPr>
          <p:cNvPr id="389" name="Google Shape;389;g3d24565a1a3_0_41"/>
          <p:cNvSpPr txBox="1"/>
          <p:nvPr/>
        </p:nvSpPr>
        <p:spPr>
          <a:xfrm>
            <a:off x="645323" y="3349850"/>
            <a:ext cx="16093800" cy="1977900"/>
          </a:xfrm>
          <a:prstGeom prst="rect">
            <a:avLst/>
          </a:prstGeom>
          <a:noFill/>
          <a:ln>
            <a:noFill/>
          </a:ln>
        </p:spPr>
        <p:txBody>
          <a:bodyPr anchorCtr="0" anchor="t" bIns="0" lIns="0" spcFirstLastPara="1" rIns="0" wrap="square" tIns="0">
            <a:spAutoFit/>
          </a:bodyPr>
          <a:lstStyle/>
          <a:p>
            <a:pPr indent="-400050" lvl="0" marL="457200" marR="0" rtl="0" algn="l">
              <a:lnSpc>
                <a:spcPct val="150000"/>
              </a:lnSpc>
              <a:spcBef>
                <a:spcPts val="0"/>
              </a:spcBef>
              <a:spcAft>
                <a:spcPts val="0"/>
              </a:spcAft>
              <a:buSzPts val="2700"/>
              <a:buFont typeface="Poppins"/>
              <a:buChar char="●"/>
            </a:pPr>
            <a:r>
              <a:rPr b="1" lang="en-US" sz="2700">
                <a:solidFill>
                  <a:schemeClr val="dk1"/>
                </a:solidFill>
                <a:latin typeface="Poppins"/>
                <a:ea typeface="Poppins"/>
                <a:cs typeface="Poppins"/>
                <a:sym typeface="Poppins"/>
              </a:rPr>
              <a:t>NIÑOS DE 10 Y 11 AÑOS</a:t>
            </a:r>
            <a:r>
              <a:rPr lang="en-US" sz="2700">
                <a:solidFill>
                  <a:schemeClr val="dk1"/>
                </a:solidFill>
                <a:latin typeface="Poppins"/>
                <a:ea typeface="Poppins"/>
                <a:cs typeface="Poppins"/>
                <a:sym typeface="Poppins"/>
              </a:rPr>
              <a:t>:</a:t>
            </a:r>
            <a:endParaRPr sz="2200">
              <a:solidFill>
                <a:schemeClr val="dk1"/>
              </a:solidFill>
              <a:latin typeface="Poppins"/>
              <a:ea typeface="Poppins"/>
              <a:cs typeface="Poppins"/>
              <a:sym typeface="Poppins"/>
            </a:endParaRPr>
          </a:p>
          <a:p>
            <a:pPr indent="-368300" lvl="0" marL="457200" rtl="0" algn="just">
              <a:lnSpc>
                <a:spcPct val="150000"/>
              </a:lnSpc>
              <a:spcBef>
                <a:spcPts val="0"/>
              </a:spcBef>
              <a:spcAft>
                <a:spcPts val="0"/>
              </a:spcAft>
              <a:buClr>
                <a:schemeClr val="dk1"/>
              </a:buClr>
              <a:buSzPts val="2200"/>
              <a:buFont typeface="Poppins"/>
              <a:buChar char="●"/>
            </a:pPr>
            <a:r>
              <a:rPr lang="en-US" sz="2200">
                <a:solidFill>
                  <a:schemeClr val="dk1"/>
                </a:solidFill>
                <a:latin typeface="Poppins"/>
                <a:ea typeface="Poppins"/>
                <a:cs typeface="Poppins"/>
                <a:sym typeface="Poppins"/>
              </a:rPr>
              <a:t>Se observan significativamente mayores niveles de ansiedad, depresión y dificultad de concentración en la muestra con dificultad para aprender</a:t>
            </a:r>
            <a:endParaRPr sz="2200">
              <a:solidFill>
                <a:schemeClr val="dk1"/>
              </a:solidFill>
              <a:latin typeface="Poppins"/>
              <a:ea typeface="Poppins"/>
              <a:cs typeface="Poppins"/>
              <a:sym typeface="Poppins"/>
            </a:endParaRPr>
          </a:p>
          <a:p>
            <a:pPr indent="0" lvl="0" marL="914400" marR="0" rtl="0" algn="l">
              <a:lnSpc>
                <a:spcPct val="150000"/>
              </a:lnSpc>
              <a:spcBef>
                <a:spcPts val="0"/>
              </a:spcBef>
              <a:spcAft>
                <a:spcPts val="0"/>
              </a:spcAft>
              <a:buNone/>
            </a:pPr>
            <a:r>
              <a:t/>
            </a:r>
            <a:endParaRPr sz="2200">
              <a:solidFill>
                <a:schemeClr val="dk1"/>
              </a:solidFill>
              <a:latin typeface="Poppins"/>
              <a:ea typeface="Poppins"/>
              <a:cs typeface="Poppins"/>
              <a:sym typeface="Poppins"/>
            </a:endParaRPr>
          </a:p>
        </p:txBody>
      </p:sp>
      <p:sp>
        <p:nvSpPr>
          <p:cNvPr id="390" name="Google Shape;390;g3d24565a1a3_0_41"/>
          <p:cNvSpPr txBox="1"/>
          <p:nvPr/>
        </p:nvSpPr>
        <p:spPr>
          <a:xfrm>
            <a:off x="645329" y="1724089"/>
            <a:ext cx="9150900" cy="637200"/>
          </a:xfrm>
          <a:prstGeom prst="rect">
            <a:avLst/>
          </a:prstGeom>
          <a:noFill/>
          <a:ln>
            <a:noFill/>
          </a:ln>
        </p:spPr>
        <p:txBody>
          <a:bodyPr anchorCtr="0" anchor="t" bIns="0" lIns="0" spcFirstLastPara="1" rIns="0" wrap="square" tIns="0">
            <a:spAutoFit/>
          </a:bodyPr>
          <a:lstStyle/>
          <a:p>
            <a:pPr indent="0" lvl="0" marL="0" marR="0" rtl="0" algn="l">
              <a:lnSpc>
                <a:spcPct val="123985"/>
              </a:lnSpc>
              <a:spcBef>
                <a:spcPts val="0"/>
              </a:spcBef>
              <a:spcAft>
                <a:spcPts val="0"/>
              </a:spcAft>
              <a:buNone/>
            </a:pPr>
            <a:r>
              <a:rPr b="1" lang="en-US" sz="4140">
                <a:solidFill>
                  <a:srgbClr val="2758E6"/>
                </a:solidFill>
                <a:latin typeface="Poppins"/>
                <a:ea typeface="Poppins"/>
                <a:cs typeface="Poppins"/>
                <a:sym typeface="Poppins"/>
              </a:rPr>
              <a:t>VISUALIZACIONES INTERPRETADAS</a:t>
            </a:r>
            <a:endParaRPr/>
          </a:p>
        </p:txBody>
      </p:sp>
      <p:pic>
        <p:nvPicPr>
          <p:cNvPr id="391" name="Google Shape;391;g3d24565a1a3_0_41"/>
          <p:cNvPicPr preferRelativeResize="0"/>
          <p:nvPr/>
        </p:nvPicPr>
        <p:blipFill>
          <a:blip r:embed="rId3">
            <a:alphaModFix/>
          </a:blip>
          <a:stretch>
            <a:fillRect/>
          </a:stretch>
        </p:blipFill>
        <p:spPr>
          <a:xfrm>
            <a:off x="1097611" y="5327742"/>
            <a:ext cx="16433837" cy="450410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5" name="Shape 395"/>
        <p:cNvGrpSpPr/>
        <p:nvPr/>
      </p:nvGrpSpPr>
      <p:grpSpPr>
        <a:xfrm>
          <a:off x="0" y="0"/>
          <a:ext cx="0" cy="0"/>
          <a:chOff x="0" y="0"/>
          <a:chExt cx="0" cy="0"/>
        </a:xfrm>
      </p:grpSpPr>
      <p:sp>
        <p:nvSpPr>
          <p:cNvPr id="396" name="Google Shape;396;g3d24565a1a3_0_52"/>
          <p:cNvSpPr txBox="1"/>
          <p:nvPr/>
        </p:nvSpPr>
        <p:spPr>
          <a:xfrm>
            <a:off x="645332" y="3349850"/>
            <a:ext cx="16772700" cy="1977900"/>
          </a:xfrm>
          <a:prstGeom prst="rect">
            <a:avLst/>
          </a:prstGeom>
          <a:noFill/>
          <a:ln>
            <a:noFill/>
          </a:ln>
        </p:spPr>
        <p:txBody>
          <a:bodyPr anchorCtr="0" anchor="t" bIns="0" lIns="0" spcFirstLastPara="1" rIns="0" wrap="square" tIns="0">
            <a:spAutoFit/>
          </a:bodyPr>
          <a:lstStyle/>
          <a:p>
            <a:pPr indent="-400050" lvl="0" marL="457200" marR="0" rtl="0" algn="l">
              <a:lnSpc>
                <a:spcPct val="150000"/>
              </a:lnSpc>
              <a:spcBef>
                <a:spcPts val="0"/>
              </a:spcBef>
              <a:spcAft>
                <a:spcPts val="0"/>
              </a:spcAft>
              <a:buSzPts val="2700"/>
              <a:buFont typeface="Poppins"/>
              <a:buChar char="●"/>
            </a:pPr>
            <a:r>
              <a:rPr b="1" lang="en-US" sz="2700">
                <a:solidFill>
                  <a:schemeClr val="dk1"/>
                </a:solidFill>
                <a:latin typeface="Poppins"/>
                <a:ea typeface="Poppins"/>
                <a:cs typeface="Poppins"/>
                <a:sym typeface="Poppins"/>
              </a:rPr>
              <a:t>VARONES 12 A 17 AÑOS:</a:t>
            </a:r>
            <a:endParaRPr sz="2200">
              <a:solidFill>
                <a:schemeClr val="dk1"/>
              </a:solidFill>
              <a:latin typeface="Poppins"/>
              <a:ea typeface="Poppins"/>
              <a:cs typeface="Poppins"/>
              <a:sym typeface="Poppins"/>
            </a:endParaRPr>
          </a:p>
          <a:p>
            <a:pPr indent="-368300" lvl="0" marL="457200" rtl="0" algn="just">
              <a:lnSpc>
                <a:spcPct val="150000"/>
              </a:lnSpc>
              <a:spcBef>
                <a:spcPts val="0"/>
              </a:spcBef>
              <a:spcAft>
                <a:spcPts val="0"/>
              </a:spcAft>
              <a:buClr>
                <a:schemeClr val="dk1"/>
              </a:buClr>
              <a:buSzPts val="2200"/>
              <a:buFont typeface="Poppins"/>
              <a:buChar char="●"/>
            </a:pPr>
            <a:r>
              <a:rPr lang="en-US" sz="2200">
                <a:solidFill>
                  <a:schemeClr val="dk1"/>
                </a:solidFill>
                <a:latin typeface="Poppins"/>
                <a:ea typeface="Poppins"/>
                <a:cs typeface="Poppins"/>
                <a:sym typeface="Poppins"/>
              </a:rPr>
              <a:t>Se observan significativamente mayores niveles de  ansiedad, depresión, dificultad de concentración y accidentes</a:t>
            </a:r>
            <a:r>
              <a:rPr lang="en-US" sz="2200">
                <a:solidFill>
                  <a:schemeClr val="dk1"/>
                </a:solidFill>
                <a:latin typeface="Poppins"/>
                <a:ea typeface="Poppins"/>
                <a:cs typeface="Poppins"/>
                <a:sym typeface="Poppins"/>
              </a:rPr>
              <a:t> en la muestra con dificultad para aprender</a:t>
            </a:r>
            <a:endParaRPr sz="2200">
              <a:solidFill>
                <a:schemeClr val="dk1"/>
              </a:solidFill>
              <a:latin typeface="Poppins"/>
              <a:ea typeface="Poppins"/>
              <a:cs typeface="Poppins"/>
              <a:sym typeface="Poppins"/>
            </a:endParaRPr>
          </a:p>
          <a:p>
            <a:pPr indent="0" lvl="0" marL="914400" marR="0" rtl="0" algn="l">
              <a:lnSpc>
                <a:spcPct val="150000"/>
              </a:lnSpc>
              <a:spcBef>
                <a:spcPts val="0"/>
              </a:spcBef>
              <a:spcAft>
                <a:spcPts val="0"/>
              </a:spcAft>
              <a:buNone/>
            </a:pPr>
            <a:r>
              <a:t/>
            </a:r>
            <a:endParaRPr sz="2200">
              <a:solidFill>
                <a:schemeClr val="dk1"/>
              </a:solidFill>
              <a:latin typeface="Poppins"/>
              <a:ea typeface="Poppins"/>
              <a:cs typeface="Poppins"/>
              <a:sym typeface="Poppins"/>
            </a:endParaRPr>
          </a:p>
        </p:txBody>
      </p:sp>
      <p:sp>
        <p:nvSpPr>
          <p:cNvPr id="397" name="Google Shape;397;g3d24565a1a3_0_52"/>
          <p:cNvSpPr txBox="1"/>
          <p:nvPr/>
        </p:nvSpPr>
        <p:spPr>
          <a:xfrm>
            <a:off x="645329" y="1724089"/>
            <a:ext cx="9150900" cy="637200"/>
          </a:xfrm>
          <a:prstGeom prst="rect">
            <a:avLst/>
          </a:prstGeom>
          <a:noFill/>
          <a:ln>
            <a:noFill/>
          </a:ln>
        </p:spPr>
        <p:txBody>
          <a:bodyPr anchorCtr="0" anchor="t" bIns="0" lIns="0" spcFirstLastPara="1" rIns="0" wrap="square" tIns="0">
            <a:spAutoFit/>
          </a:bodyPr>
          <a:lstStyle/>
          <a:p>
            <a:pPr indent="0" lvl="0" marL="0" marR="0" rtl="0" algn="l">
              <a:lnSpc>
                <a:spcPct val="123985"/>
              </a:lnSpc>
              <a:spcBef>
                <a:spcPts val="0"/>
              </a:spcBef>
              <a:spcAft>
                <a:spcPts val="0"/>
              </a:spcAft>
              <a:buNone/>
            </a:pPr>
            <a:r>
              <a:rPr b="1" lang="en-US" sz="4140">
                <a:solidFill>
                  <a:srgbClr val="2758E6"/>
                </a:solidFill>
                <a:latin typeface="Poppins"/>
                <a:ea typeface="Poppins"/>
                <a:cs typeface="Poppins"/>
                <a:sym typeface="Poppins"/>
              </a:rPr>
              <a:t>VISUALIZACIONES INTERPRETADAS</a:t>
            </a:r>
            <a:endParaRPr/>
          </a:p>
        </p:txBody>
      </p:sp>
      <p:pic>
        <p:nvPicPr>
          <p:cNvPr id="398" name="Google Shape;398;g3d24565a1a3_0_52"/>
          <p:cNvPicPr preferRelativeResize="0"/>
          <p:nvPr/>
        </p:nvPicPr>
        <p:blipFill>
          <a:blip r:embed="rId3">
            <a:alphaModFix/>
          </a:blip>
          <a:stretch>
            <a:fillRect/>
          </a:stretch>
        </p:blipFill>
        <p:spPr>
          <a:xfrm>
            <a:off x="646513" y="5486392"/>
            <a:ext cx="16994975" cy="446933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2" name="Shape 402"/>
        <p:cNvGrpSpPr/>
        <p:nvPr/>
      </p:nvGrpSpPr>
      <p:grpSpPr>
        <a:xfrm>
          <a:off x="0" y="0"/>
          <a:ext cx="0" cy="0"/>
          <a:chOff x="0" y="0"/>
          <a:chExt cx="0" cy="0"/>
        </a:xfrm>
      </p:grpSpPr>
      <p:sp>
        <p:nvSpPr>
          <p:cNvPr id="403" name="Google Shape;403;g3d24565a1a3_0_63"/>
          <p:cNvSpPr txBox="1"/>
          <p:nvPr/>
        </p:nvSpPr>
        <p:spPr>
          <a:xfrm>
            <a:off x="645325" y="3129625"/>
            <a:ext cx="16831800" cy="1977900"/>
          </a:xfrm>
          <a:prstGeom prst="rect">
            <a:avLst/>
          </a:prstGeom>
          <a:noFill/>
          <a:ln>
            <a:noFill/>
          </a:ln>
        </p:spPr>
        <p:txBody>
          <a:bodyPr anchorCtr="0" anchor="t" bIns="0" lIns="0" spcFirstLastPara="1" rIns="0" wrap="square" tIns="0">
            <a:spAutoFit/>
          </a:bodyPr>
          <a:lstStyle/>
          <a:p>
            <a:pPr indent="-400050" lvl="0" marL="457200" marR="0" rtl="0" algn="l">
              <a:lnSpc>
                <a:spcPct val="150000"/>
              </a:lnSpc>
              <a:spcBef>
                <a:spcPts val="0"/>
              </a:spcBef>
              <a:spcAft>
                <a:spcPts val="0"/>
              </a:spcAft>
              <a:buSzPts val="2700"/>
              <a:buFont typeface="Poppins"/>
              <a:buChar char="●"/>
            </a:pPr>
            <a:r>
              <a:rPr b="1" lang="en-US" sz="2700">
                <a:solidFill>
                  <a:schemeClr val="dk1"/>
                </a:solidFill>
                <a:latin typeface="Poppins"/>
                <a:ea typeface="Poppins"/>
                <a:cs typeface="Poppins"/>
                <a:sym typeface="Poppins"/>
              </a:rPr>
              <a:t>MUJERES </a:t>
            </a:r>
            <a:r>
              <a:rPr b="1" lang="en-US" sz="2700">
                <a:solidFill>
                  <a:schemeClr val="dk1"/>
                </a:solidFill>
                <a:latin typeface="Poppins"/>
                <a:ea typeface="Poppins"/>
                <a:cs typeface="Poppins"/>
                <a:sym typeface="Poppins"/>
              </a:rPr>
              <a:t>12 A 17 AÑOS:</a:t>
            </a:r>
            <a:endParaRPr sz="2200">
              <a:solidFill>
                <a:schemeClr val="dk1"/>
              </a:solidFill>
              <a:latin typeface="Poppins"/>
              <a:ea typeface="Poppins"/>
              <a:cs typeface="Poppins"/>
              <a:sym typeface="Poppins"/>
            </a:endParaRPr>
          </a:p>
          <a:p>
            <a:pPr indent="-368300" lvl="0" marL="457200" rtl="0" algn="just">
              <a:lnSpc>
                <a:spcPct val="150000"/>
              </a:lnSpc>
              <a:spcBef>
                <a:spcPts val="0"/>
              </a:spcBef>
              <a:spcAft>
                <a:spcPts val="0"/>
              </a:spcAft>
              <a:buClr>
                <a:schemeClr val="dk1"/>
              </a:buClr>
              <a:buSzPts val="2200"/>
              <a:buFont typeface="Poppins"/>
              <a:buChar char="●"/>
            </a:pPr>
            <a:r>
              <a:rPr lang="en-US" sz="2200">
                <a:solidFill>
                  <a:schemeClr val="dk1"/>
                </a:solidFill>
                <a:latin typeface="Poppins"/>
                <a:ea typeface="Poppins"/>
                <a:cs typeface="Poppins"/>
                <a:sym typeface="Poppins"/>
              </a:rPr>
              <a:t>Se observan significativamente mayores niveles de  ansiedad, </a:t>
            </a:r>
            <a:r>
              <a:rPr lang="en-US" sz="2200">
                <a:solidFill>
                  <a:schemeClr val="dk1"/>
                </a:solidFill>
                <a:latin typeface="Poppins"/>
                <a:ea typeface="Poppins"/>
                <a:cs typeface="Poppins"/>
                <a:sym typeface="Poppins"/>
              </a:rPr>
              <a:t>depresión,  dificultad de concentración, dormir mal, pensamientos suicidas y acoso sexual en</a:t>
            </a:r>
            <a:r>
              <a:rPr lang="en-US" sz="2200">
                <a:solidFill>
                  <a:schemeClr val="dk1"/>
                </a:solidFill>
                <a:latin typeface="Poppins"/>
                <a:ea typeface="Poppins"/>
                <a:cs typeface="Poppins"/>
                <a:sym typeface="Poppins"/>
              </a:rPr>
              <a:t> la muestra con dificultad para aprender</a:t>
            </a:r>
            <a:endParaRPr sz="2200">
              <a:solidFill>
                <a:schemeClr val="dk1"/>
              </a:solidFill>
              <a:latin typeface="Poppins"/>
              <a:ea typeface="Poppins"/>
              <a:cs typeface="Poppins"/>
              <a:sym typeface="Poppins"/>
            </a:endParaRPr>
          </a:p>
          <a:p>
            <a:pPr indent="0" lvl="0" marL="914400" marR="0" rtl="0" algn="l">
              <a:lnSpc>
                <a:spcPct val="150000"/>
              </a:lnSpc>
              <a:spcBef>
                <a:spcPts val="0"/>
              </a:spcBef>
              <a:spcAft>
                <a:spcPts val="0"/>
              </a:spcAft>
              <a:buNone/>
            </a:pPr>
            <a:r>
              <a:t/>
            </a:r>
            <a:endParaRPr sz="2200">
              <a:solidFill>
                <a:schemeClr val="dk1"/>
              </a:solidFill>
              <a:latin typeface="Poppins"/>
              <a:ea typeface="Poppins"/>
              <a:cs typeface="Poppins"/>
              <a:sym typeface="Poppins"/>
            </a:endParaRPr>
          </a:p>
        </p:txBody>
      </p:sp>
      <p:sp>
        <p:nvSpPr>
          <p:cNvPr id="404" name="Google Shape;404;g3d24565a1a3_0_63"/>
          <p:cNvSpPr txBox="1"/>
          <p:nvPr/>
        </p:nvSpPr>
        <p:spPr>
          <a:xfrm>
            <a:off x="645329" y="1724089"/>
            <a:ext cx="9150900" cy="637200"/>
          </a:xfrm>
          <a:prstGeom prst="rect">
            <a:avLst/>
          </a:prstGeom>
          <a:noFill/>
          <a:ln>
            <a:noFill/>
          </a:ln>
        </p:spPr>
        <p:txBody>
          <a:bodyPr anchorCtr="0" anchor="t" bIns="0" lIns="0" spcFirstLastPara="1" rIns="0" wrap="square" tIns="0">
            <a:spAutoFit/>
          </a:bodyPr>
          <a:lstStyle/>
          <a:p>
            <a:pPr indent="0" lvl="0" marL="0" marR="0" rtl="0" algn="l">
              <a:lnSpc>
                <a:spcPct val="123985"/>
              </a:lnSpc>
              <a:spcBef>
                <a:spcPts val="0"/>
              </a:spcBef>
              <a:spcAft>
                <a:spcPts val="0"/>
              </a:spcAft>
              <a:buNone/>
            </a:pPr>
            <a:r>
              <a:rPr b="1" lang="en-US" sz="4140">
                <a:solidFill>
                  <a:srgbClr val="2758E6"/>
                </a:solidFill>
                <a:latin typeface="Poppins"/>
                <a:ea typeface="Poppins"/>
                <a:cs typeface="Poppins"/>
                <a:sym typeface="Poppins"/>
              </a:rPr>
              <a:t>VISUALIZACIONES INTERPRETADAS</a:t>
            </a:r>
            <a:endParaRPr/>
          </a:p>
        </p:txBody>
      </p:sp>
      <p:pic>
        <p:nvPicPr>
          <p:cNvPr id="405" name="Google Shape;405;g3d24565a1a3_0_63"/>
          <p:cNvPicPr preferRelativeResize="0"/>
          <p:nvPr/>
        </p:nvPicPr>
        <p:blipFill>
          <a:blip r:embed="rId3">
            <a:alphaModFix/>
          </a:blip>
          <a:stretch>
            <a:fillRect/>
          </a:stretch>
        </p:blipFill>
        <p:spPr>
          <a:xfrm>
            <a:off x="1032150" y="5506568"/>
            <a:ext cx="16058129" cy="420810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9" name="Shape 409"/>
        <p:cNvGrpSpPr/>
        <p:nvPr/>
      </p:nvGrpSpPr>
      <p:grpSpPr>
        <a:xfrm>
          <a:off x="0" y="0"/>
          <a:ext cx="0" cy="0"/>
          <a:chOff x="0" y="0"/>
          <a:chExt cx="0" cy="0"/>
        </a:xfrm>
      </p:grpSpPr>
      <p:grpSp>
        <p:nvGrpSpPr>
          <p:cNvPr id="410" name="Google Shape;410;g3d24565a1a3_0_60"/>
          <p:cNvGrpSpPr/>
          <p:nvPr/>
        </p:nvGrpSpPr>
        <p:grpSpPr>
          <a:xfrm rot="4029767">
            <a:off x="-7127867" y="-582492"/>
            <a:ext cx="12346102" cy="12346102"/>
            <a:chOff x="0" y="0"/>
            <a:chExt cx="812800" cy="812800"/>
          </a:xfrm>
        </p:grpSpPr>
        <p:sp>
          <p:nvSpPr>
            <p:cNvPr id="411" name="Google Shape;411;g3d24565a1a3_0_6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3062FF"/>
                </a:gs>
                <a:gs pos="100000">
                  <a:srgbClr val="01338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2" name="Google Shape;412;g3d24565a1a3_0_60"/>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997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3" name="Google Shape;413;g3d24565a1a3_0_60"/>
          <p:cNvSpPr/>
          <p:nvPr/>
        </p:nvSpPr>
        <p:spPr>
          <a:xfrm>
            <a:off x="314911" y="3086094"/>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g3d24565a1a3_0_60"/>
          <p:cNvSpPr txBox="1"/>
          <p:nvPr/>
        </p:nvSpPr>
        <p:spPr>
          <a:xfrm>
            <a:off x="6683501" y="1404062"/>
            <a:ext cx="9923700" cy="769500"/>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None/>
            </a:pPr>
            <a:r>
              <a:rPr b="1" lang="en-US" sz="5000">
                <a:solidFill>
                  <a:srgbClr val="2758E6"/>
                </a:solidFill>
                <a:latin typeface="Poppins"/>
                <a:ea typeface="Poppins"/>
                <a:cs typeface="Poppins"/>
                <a:sym typeface="Poppins"/>
              </a:rPr>
              <a:t>SELECCIÓN DE </a:t>
            </a:r>
            <a:r>
              <a:rPr b="1" lang="en-US" sz="5000">
                <a:solidFill>
                  <a:srgbClr val="2758E6"/>
                </a:solidFill>
                <a:latin typeface="Poppins"/>
                <a:ea typeface="Poppins"/>
                <a:cs typeface="Poppins"/>
                <a:sym typeface="Poppins"/>
              </a:rPr>
              <a:t>ALGORITMOS</a:t>
            </a:r>
            <a:endParaRPr/>
          </a:p>
        </p:txBody>
      </p:sp>
      <p:sp>
        <p:nvSpPr>
          <p:cNvPr id="415" name="Google Shape;415;g3d24565a1a3_0_60"/>
          <p:cNvSpPr txBox="1"/>
          <p:nvPr/>
        </p:nvSpPr>
        <p:spPr>
          <a:xfrm>
            <a:off x="6616296" y="2871294"/>
            <a:ext cx="10058100" cy="6487800"/>
          </a:xfrm>
          <a:prstGeom prst="rect">
            <a:avLst/>
          </a:prstGeom>
          <a:noFill/>
          <a:ln>
            <a:noFill/>
          </a:ln>
        </p:spPr>
        <p:txBody>
          <a:bodyPr anchorCtr="0" anchor="t" bIns="0" lIns="0" spcFirstLastPara="1" rIns="0" wrap="square" tIns="0">
            <a:spAutoFit/>
          </a:bodyPr>
          <a:lstStyle/>
          <a:p>
            <a:pPr indent="0" lvl="0" marL="0" marR="0" rtl="0" algn="just">
              <a:lnSpc>
                <a:spcPct val="145000"/>
              </a:lnSpc>
              <a:spcBef>
                <a:spcPts val="0"/>
              </a:spcBef>
              <a:spcAft>
                <a:spcPts val="0"/>
              </a:spcAft>
              <a:buNone/>
            </a:pPr>
            <a:r>
              <a:rPr lang="en-US" sz="3000">
                <a:latin typeface="Poppins"/>
                <a:ea typeface="Poppins"/>
                <a:cs typeface="Poppins"/>
                <a:sym typeface="Poppins"/>
              </a:rPr>
              <a:t>Al tratarse de un problema de clasificación, se optará por entrenar los siguientes </a:t>
            </a:r>
            <a:r>
              <a:rPr lang="en-US" sz="3000">
                <a:latin typeface="Poppins"/>
                <a:ea typeface="Poppins"/>
                <a:cs typeface="Poppins"/>
                <a:sym typeface="Poppins"/>
              </a:rPr>
              <a:t>algoritmos</a:t>
            </a:r>
            <a:r>
              <a:rPr lang="en-US" sz="3000">
                <a:latin typeface="Poppins"/>
                <a:ea typeface="Poppins"/>
                <a:cs typeface="Poppins"/>
                <a:sym typeface="Poppins"/>
              </a:rPr>
              <a:t> </a:t>
            </a:r>
            <a:endParaRPr sz="3000">
              <a:latin typeface="Poppins"/>
              <a:ea typeface="Poppins"/>
              <a:cs typeface="Poppins"/>
              <a:sym typeface="Poppins"/>
            </a:endParaRPr>
          </a:p>
          <a:p>
            <a:pPr indent="-419100" lvl="0" marL="914400" marR="0" rtl="0" algn="just">
              <a:lnSpc>
                <a:spcPct val="145000"/>
              </a:lnSpc>
              <a:spcBef>
                <a:spcPts val="0"/>
              </a:spcBef>
              <a:spcAft>
                <a:spcPts val="0"/>
              </a:spcAft>
              <a:buSzPts val="3000"/>
              <a:buFont typeface="Poppins"/>
              <a:buChar char="●"/>
            </a:pPr>
            <a:r>
              <a:rPr lang="en-US" sz="3000">
                <a:latin typeface="Poppins"/>
                <a:ea typeface="Poppins"/>
                <a:cs typeface="Poppins"/>
                <a:sym typeface="Poppins"/>
              </a:rPr>
              <a:t>Regresión logística</a:t>
            </a:r>
            <a:endParaRPr sz="3000">
              <a:latin typeface="Poppins"/>
              <a:ea typeface="Poppins"/>
              <a:cs typeface="Poppins"/>
              <a:sym typeface="Poppins"/>
            </a:endParaRPr>
          </a:p>
          <a:p>
            <a:pPr indent="-419100" lvl="0" marL="914400" marR="0" rtl="0" algn="just">
              <a:lnSpc>
                <a:spcPct val="145000"/>
              </a:lnSpc>
              <a:spcBef>
                <a:spcPts val="0"/>
              </a:spcBef>
              <a:spcAft>
                <a:spcPts val="0"/>
              </a:spcAft>
              <a:buSzPts val="3000"/>
              <a:buFont typeface="Poppins"/>
              <a:buChar char="●"/>
            </a:pPr>
            <a:r>
              <a:rPr lang="en-US" sz="3000">
                <a:latin typeface="Poppins"/>
                <a:ea typeface="Poppins"/>
                <a:cs typeface="Poppins"/>
                <a:sym typeface="Poppins"/>
              </a:rPr>
              <a:t>Árbol de decisión</a:t>
            </a:r>
            <a:endParaRPr sz="3000">
              <a:latin typeface="Poppins"/>
              <a:ea typeface="Poppins"/>
              <a:cs typeface="Poppins"/>
              <a:sym typeface="Poppins"/>
            </a:endParaRPr>
          </a:p>
          <a:p>
            <a:pPr indent="-419100" lvl="0" marL="914400" marR="0" rtl="0" algn="just">
              <a:lnSpc>
                <a:spcPct val="145000"/>
              </a:lnSpc>
              <a:spcBef>
                <a:spcPts val="0"/>
              </a:spcBef>
              <a:spcAft>
                <a:spcPts val="0"/>
              </a:spcAft>
              <a:buSzPts val="3000"/>
              <a:buFont typeface="Poppins"/>
              <a:buChar char="●"/>
            </a:pPr>
            <a:r>
              <a:rPr lang="en-US" sz="3000">
                <a:latin typeface="Poppins"/>
                <a:ea typeface="Poppins"/>
                <a:cs typeface="Poppins"/>
                <a:sym typeface="Poppins"/>
              </a:rPr>
              <a:t>KNN</a:t>
            </a:r>
            <a:endParaRPr sz="3000">
              <a:latin typeface="Poppins"/>
              <a:ea typeface="Poppins"/>
              <a:cs typeface="Poppins"/>
              <a:sym typeface="Poppins"/>
            </a:endParaRPr>
          </a:p>
          <a:p>
            <a:pPr indent="0" lvl="0" marL="0" marR="0" rtl="0" algn="just">
              <a:lnSpc>
                <a:spcPct val="145000"/>
              </a:lnSpc>
              <a:spcBef>
                <a:spcPts val="0"/>
              </a:spcBef>
              <a:spcAft>
                <a:spcPts val="0"/>
              </a:spcAft>
              <a:buNone/>
            </a:pPr>
            <a:r>
              <a:t/>
            </a:r>
            <a:endParaRPr sz="3000">
              <a:latin typeface="Poppins"/>
              <a:ea typeface="Poppins"/>
              <a:cs typeface="Poppins"/>
              <a:sym typeface="Poppins"/>
            </a:endParaRPr>
          </a:p>
          <a:p>
            <a:pPr indent="0" lvl="0" marL="0" marR="0" rtl="0" algn="just">
              <a:lnSpc>
                <a:spcPct val="145000"/>
              </a:lnSpc>
              <a:spcBef>
                <a:spcPts val="0"/>
              </a:spcBef>
              <a:spcAft>
                <a:spcPts val="0"/>
              </a:spcAft>
              <a:buNone/>
            </a:pPr>
            <a:r>
              <a:rPr lang="en-US" sz="3000">
                <a:latin typeface="Poppins"/>
                <a:ea typeface="Poppins"/>
                <a:cs typeface="Poppins"/>
                <a:sym typeface="Poppins"/>
              </a:rPr>
              <a:t>Adicional a ello, se utilizarán los siguientes </a:t>
            </a:r>
            <a:r>
              <a:rPr lang="en-US" sz="3000">
                <a:latin typeface="Poppins"/>
                <a:ea typeface="Poppins"/>
                <a:cs typeface="Poppins"/>
                <a:sym typeface="Poppins"/>
              </a:rPr>
              <a:t>métodos</a:t>
            </a:r>
            <a:r>
              <a:rPr lang="en-US" sz="3000">
                <a:latin typeface="Poppins"/>
                <a:ea typeface="Poppins"/>
                <a:cs typeface="Poppins"/>
                <a:sym typeface="Poppins"/>
              </a:rPr>
              <a:t> de </a:t>
            </a:r>
            <a:r>
              <a:rPr lang="en-US" sz="3000">
                <a:latin typeface="Poppins"/>
                <a:ea typeface="Poppins"/>
                <a:cs typeface="Poppins"/>
                <a:sym typeface="Poppins"/>
              </a:rPr>
              <a:t>ensamble</a:t>
            </a:r>
            <a:r>
              <a:rPr lang="en-US" sz="3000">
                <a:latin typeface="Poppins"/>
                <a:ea typeface="Poppins"/>
                <a:cs typeface="Poppins"/>
                <a:sym typeface="Poppins"/>
              </a:rPr>
              <a:t> </a:t>
            </a:r>
            <a:endParaRPr sz="3000">
              <a:latin typeface="Poppins"/>
              <a:ea typeface="Poppins"/>
              <a:cs typeface="Poppins"/>
              <a:sym typeface="Poppins"/>
            </a:endParaRPr>
          </a:p>
          <a:p>
            <a:pPr indent="-419100" lvl="0" marL="914400" marR="0" rtl="0" algn="just">
              <a:lnSpc>
                <a:spcPct val="145000"/>
              </a:lnSpc>
              <a:spcBef>
                <a:spcPts val="0"/>
              </a:spcBef>
              <a:spcAft>
                <a:spcPts val="0"/>
              </a:spcAft>
              <a:buSzPts val="3000"/>
              <a:buFont typeface="Poppins"/>
              <a:buChar char="●"/>
            </a:pPr>
            <a:r>
              <a:rPr lang="en-US" sz="3000">
                <a:latin typeface="Poppins"/>
                <a:ea typeface="Poppins"/>
                <a:cs typeface="Poppins"/>
                <a:sym typeface="Poppins"/>
              </a:rPr>
              <a:t>Random forest</a:t>
            </a:r>
            <a:endParaRPr sz="3000">
              <a:latin typeface="Poppins"/>
              <a:ea typeface="Poppins"/>
              <a:cs typeface="Poppins"/>
              <a:sym typeface="Poppins"/>
            </a:endParaRPr>
          </a:p>
          <a:p>
            <a:pPr indent="-419100" lvl="0" marL="914400" marR="0" rtl="0" algn="just">
              <a:lnSpc>
                <a:spcPct val="145000"/>
              </a:lnSpc>
              <a:spcBef>
                <a:spcPts val="0"/>
              </a:spcBef>
              <a:spcAft>
                <a:spcPts val="0"/>
              </a:spcAft>
              <a:buSzPts val="3000"/>
              <a:buFont typeface="Poppins"/>
              <a:buChar char="●"/>
            </a:pPr>
            <a:r>
              <a:rPr lang="en-US" sz="3000">
                <a:latin typeface="Poppins"/>
                <a:ea typeface="Poppins"/>
                <a:cs typeface="Poppins"/>
                <a:sym typeface="Poppins"/>
              </a:rPr>
              <a:t>Gradient boosting</a:t>
            </a:r>
            <a:endParaRPr sz="3100">
              <a:solidFill>
                <a:srgbClr val="000000"/>
              </a:solidFill>
              <a:latin typeface="Poppins"/>
              <a:ea typeface="Poppins"/>
              <a:cs typeface="Poppins"/>
              <a:sym typeface="Poppi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9" name="Shape 419"/>
        <p:cNvGrpSpPr/>
        <p:nvPr/>
      </p:nvGrpSpPr>
      <p:grpSpPr>
        <a:xfrm>
          <a:off x="0" y="0"/>
          <a:ext cx="0" cy="0"/>
          <a:chOff x="0" y="0"/>
          <a:chExt cx="0" cy="0"/>
        </a:xfrm>
      </p:grpSpPr>
      <p:sp>
        <p:nvSpPr>
          <p:cNvPr id="420" name="Google Shape;420;g3da4ae630d1_5_44"/>
          <p:cNvSpPr txBox="1"/>
          <p:nvPr/>
        </p:nvSpPr>
        <p:spPr>
          <a:xfrm>
            <a:off x="762096" y="2890744"/>
            <a:ext cx="10058100" cy="5818200"/>
          </a:xfrm>
          <a:prstGeom prst="rect">
            <a:avLst/>
          </a:prstGeom>
          <a:noFill/>
          <a:ln>
            <a:noFill/>
          </a:ln>
        </p:spPr>
        <p:txBody>
          <a:bodyPr anchorCtr="0" anchor="t" bIns="0" lIns="0" spcFirstLastPara="1" rIns="0" wrap="square" tIns="0">
            <a:spAutoFit/>
          </a:bodyPr>
          <a:lstStyle/>
          <a:p>
            <a:pPr indent="0" lvl="0" marL="0" marR="0" rtl="0" algn="just">
              <a:lnSpc>
                <a:spcPct val="145000"/>
              </a:lnSpc>
              <a:spcBef>
                <a:spcPts val="0"/>
              </a:spcBef>
              <a:spcAft>
                <a:spcPts val="0"/>
              </a:spcAft>
              <a:buNone/>
            </a:pPr>
            <a:r>
              <a:rPr lang="en-US" sz="3000">
                <a:latin typeface="Poppins"/>
                <a:ea typeface="Poppins"/>
                <a:cs typeface="Poppins"/>
                <a:sym typeface="Poppins"/>
              </a:rPr>
              <a:t>Por último, dado el desbalance en nuestra muestra no podemos fiarnos del “Accuracy” para determinar si nuestros modelos son buenos. Es por ello que se evaluarán todos los siguientes criterios</a:t>
            </a:r>
            <a:endParaRPr sz="3000">
              <a:latin typeface="Poppins"/>
              <a:ea typeface="Poppins"/>
              <a:cs typeface="Poppins"/>
              <a:sym typeface="Poppins"/>
            </a:endParaRPr>
          </a:p>
          <a:p>
            <a:pPr indent="-419100" lvl="0" marL="914400" marR="0" rtl="0" algn="just">
              <a:lnSpc>
                <a:spcPct val="145000"/>
              </a:lnSpc>
              <a:spcBef>
                <a:spcPts val="0"/>
              </a:spcBef>
              <a:spcAft>
                <a:spcPts val="0"/>
              </a:spcAft>
              <a:buSzPts val="3000"/>
              <a:buFont typeface="Poppins"/>
              <a:buChar char="●"/>
            </a:pPr>
            <a:r>
              <a:rPr lang="en-US" sz="3000">
                <a:latin typeface="Poppins"/>
                <a:ea typeface="Poppins"/>
                <a:cs typeface="Poppins"/>
                <a:sym typeface="Poppins"/>
              </a:rPr>
              <a:t>Accuracy (cross-validation + train-test)</a:t>
            </a:r>
            <a:endParaRPr sz="3000">
              <a:latin typeface="Poppins"/>
              <a:ea typeface="Poppins"/>
              <a:cs typeface="Poppins"/>
              <a:sym typeface="Poppins"/>
            </a:endParaRPr>
          </a:p>
          <a:p>
            <a:pPr indent="-419100" lvl="0" marL="914400" marR="0" rtl="0" algn="just">
              <a:lnSpc>
                <a:spcPct val="145000"/>
              </a:lnSpc>
              <a:spcBef>
                <a:spcPts val="0"/>
              </a:spcBef>
              <a:spcAft>
                <a:spcPts val="0"/>
              </a:spcAft>
              <a:buSzPts val="3000"/>
              <a:buFont typeface="Poppins"/>
              <a:buChar char="●"/>
            </a:pPr>
            <a:r>
              <a:rPr lang="en-US" sz="3000">
                <a:latin typeface="Poppins"/>
                <a:ea typeface="Poppins"/>
                <a:cs typeface="Poppins"/>
                <a:sym typeface="Poppins"/>
              </a:rPr>
              <a:t>Precision (cross-validation</a:t>
            </a:r>
            <a:r>
              <a:rPr lang="en-US" sz="3000">
                <a:solidFill>
                  <a:schemeClr val="dk1"/>
                </a:solidFill>
                <a:latin typeface="Poppins"/>
                <a:ea typeface="Poppins"/>
                <a:cs typeface="Poppins"/>
                <a:sym typeface="Poppins"/>
              </a:rPr>
              <a:t> + train-test</a:t>
            </a:r>
            <a:r>
              <a:rPr lang="en-US" sz="3000">
                <a:latin typeface="Poppins"/>
                <a:ea typeface="Poppins"/>
                <a:cs typeface="Poppins"/>
                <a:sym typeface="Poppins"/>
              </a:rPr>
              <a:t>)</a:t>
            </a:r>
            <a:endParaRPr sz="3000">
              <a:latin typeface="Poppins"/>
              <a:ea typeface="Poppins"/>
              <a:cs typeface="Poppins"/>
              <a:sym typeface="Poppins"/>
            </a:endParaRPr>
          </a:p>
          <a:p>
            <a:pPr indent="-419100" lvl="0" marL="914400" marR="0" rtl="0" algn="just">
              <a:lnSpc>
                <a:spcPct val="145000"/>
              </a:lnSpc>
              <a:spcBef>
                <a:spcPts val="0"/>
              </a:spcBef>
              <a:spcAft>
                <a:spcPts val="0"/>
              </a:spcAft>
              <a:buSzPts val="3000"/>
              <a:buFont typeface="Poppins"/>
              <a:buChar char="●"/>
            </a:pPr>
            <a:r>
              <a:rPr lang="en-US" sz="3000">
                <a:latin typeface="Poppins"/>
                <a:ea typeface="Poppins"/>
                <a:cs typeface="Poppins"/>
                <a:sym typeface="Poppins"/>
              </a:rPr>
              <a:t>Recall (cross-validation</a:t>
            </a:r>
            <a:r>
              <a:rPr lang="en-US" sz="3000">
                <a:solidFill>
                  <a:schemeClr val="dk1"/>
                </a:solidFill>
                <a:latin typeface="Poppins"/>
                <a:ea typeface="Poppins"/>
                <a:cs typeface="Poppins"/>
                <a:sym typeface="Poppins"/>
              </a:rPr>
              <a:t> + train-test</a:t>
            </a:r>
            <a:r>
              <a:rPr lang="en-US" sz="3000">
                <a:latin typeface="Poppins"/>
                <a:ea typeface="Poppins"/>
                <a:cs typeface="Poppins"/>
                <a:sym typeface="Poppins"/>
              </a:rPr>
              <a:t>)</a:t>
            </a:r>
            <a:endParaRPr sz="3000">
              <a:latin typeface="Poppins"/>
              <a:ea typeface="Poppins"/>
              <a:cs typeface="Poppins"/>
              <a:sym typeface="Poppins"/>
            </a:endParaRPr>
          </a:p>
          <a:p>
            <a:pPr indent="-419100" lvl="0" marL="914400" marR="0" rtl="0" algn="just">
              <a:lnSpc>
                <a:spcPct val="145000"/>
              </a:lnSpc>
              <a:spcBef>
                <a:spcPts val="0"/>
              </a:spcBef>
              <a:spcAft>
                <a:spcPts val="0"/>
              </a:spcAft>
              <a:buSzPts val="3000"/>
              <a:buFont typeface="Poppins"/>
              <a:buChar char="●"/>
            </a:pPr>
            <a:r>
              <a:rPr lang="en-US" sz="3000">
                <a:latin typeface="Poppins"/>
                <a:ea typeface="Poppins"/>
                <a:cs typeface="Poppins"/>
                <a:sym typeface="Poppins"/>
              </a:rPr>
              <a:t>F1 (cross-validation</a:t>
            </a:r>
            <a:r>
              <a:rPr lang="en-US" sz="3000">
                <a:solidFill>
                  <a:schemeClr val="dk1"/>
                </a:solidFill>
                <a:latin typeface="Poppins"/>
                <a:ea typeface="Poppins"/>
                <a:cs typeface="Poppins"/>
                <a:sym typeface="Poppins"/>
              </a:rPr>
              <a:t> + train-test</a:t>
            </a:r>
            <a:r>
              <a:rPr lang="en-US" sz="3000">
                <a:latin typeface="Poppins"/>
                <a:ea typeface="Poppins"/>
                <a:cs typeface="Poppins"/>
                <a:sym typeface="Poppins"/>
              </a:rPr>
              <a:t>)</a:t>
            </a:r>
            <a:endParaRPr sz="3000">
              <a:latin typeface="Poppins"/>
              <a:ea typeface="Poppins"/>
              <a:cs typeface="Poppins"/>
              <a:sym typeface="Poppins"/>
            </a:endParaRPr>
          </a:p>
          <a:p>
            <a:pPr indent="-419100" lvl="0" marL="914400" marR="0" rtl="0" algn="just">
              <a:lnSpc>
                <a:spcPct val="145000"/>
              </a:lnSpc>
              <a:spcBef>
                <a:spcPts val="0"/>
              </a:spcBef>
              <a:spcAft>
                <a:spcPts val="0"/>
              </a:spcAft>
              <a:buSzPts val="3000"/>
              <a:buFont typeface="Poppins"/>
              <a:buChar char="●"/>
            </a:pPr>
            <a:r>
              <a:rPr lang="en-US" sz="3000">
                <a:latin typeface="Poppins"/>
                <a:ea typeface="Poppins"/>
                <a:cs typeface="Poppins"/>
                <a:sym typeface="Poppins"/>
              </a:rPr>
              <a:t>AUC (cross-validation</a:t>
            </a:r>
            <a:r>
              <a:rPr lang="en-US" sz="3000">
                <a:solidFill>
                  <a:schemeClr val="dk1"/>
                </a:solidFill>
                <a:latin typeface="Poppins"/>
                <a:ea typeface="Poppins"/>
                <a:cs typeface="Poppins"/>
                <a:sym typeface="Poppins"/>
              </a:rPr>
              <a:t> + train-test</a:t>
            </a:r>
            <a:r>
              <a:rPr lang="en-US" sz="3000">
                <a:latin typeface="Poppins"/>
                <a:ea typeface="Poppins"/>
                <a:cs typeface="Poppins"/>
                <a:sym typeface="Poppins"/>
              </a:rPr>
              <a:t>)</a:t>
            </a:r>
            <a:endParaRPr sz="3000">
              <a:latin typeface="Poppins"/>
              <a:ea typeface="Poppins"/>
              <a:cs typeface="Poppins"/>
              <a:sym typeface="Poppins"/>
            </a:endParaRPr>
          </a:p>
        </p:txBody>
      </p:sp>
      <p:sp>
        <p:nvSpPr>
          <p:cNvPr id="421" name="Google Shape;421;g3da4ae630d1_5_44"/>
          <p:cNvSpPr txBox="1"/>
          <p:nvPr/>
        </p:nvSpPr>
        <p:spPr>
          <a:xfrm>
            <a:off x="829301" y="1423512"/>
            <a:ext cx="9923700" cy="769500"/>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None/>
            </a:pPr>
            <a:r>
              <a:rPr b="1" lang="en-US" sz="5000">
                <a:solidFill>
                  <a:srgbClr val="2758E6"/>
                </a:solidFill>
                <a:latin typeface="Poppins"/>
                <a:ea typeface="Poppins"/>
                <a:cs typeface="Poppins"/>
                <a:sym typeface="Poppins"/>
              </a:rPr>
              <a:t>CRITERIOS DE EVALUACIÓN</a:t>
            </a:r>
            <a:endParaRPr/>
          </a:p>
        </p:txBody>
      </p:sp>
      <p:grpSp>
        <p:nvGrpSpPr>
          <p:cNvPr id="422" name="Google Shape;422;g3da4ae630d1_5_44"/>
          <p:cNvGrpSpPr/>
          <p:nvPr/>
        </p:nvGrpSpPr>
        <p:grpSpPr>
          <a:xfrm rot="4029767">
            <a:off x="11086258" y="-1029567"/>
            <a:ext cx="12346102" cy="12346102"/>
            <a:chOff x="0" y="0"/>
            <a:chExt cx="812800" cy="812800"/>
          </a:xfrm>
        </p:grpSpPr>
        <p:sp>
          <p:nvSpPr>
            <p:cNvPr id="423" name="Google Shape;423;g3da4ae630d1_5_4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3062FF"/>
                </a:gs>
                <a:gs pos="100000">
                  <a:srgbClr val="01338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g3da4ae630d1_5_44"/>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997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425" name="Google Shape;425;g3da4ae630d1_5_44"/>
          <p:cNvPicPr preferRelativeResize="0"/>
          <p:nvPr/>
        </p:nvPicPr>
        <p:blipFill>
          <a:blip r:embed="rId3">
            <a:alphaModFix/>
          </a:blip>
          <a:stretch>
            <a:fillRect/>
          </a:stretch>
        </p:blipFill>
        <p:spPr>
          <a:xfrm>
            <a:off x="12060475" y="2560025"/>
            <a:ext cx="5122575" cy="49608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